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Font2" Type="http://schemas.openxmlformats.org/officeDocument/2006/relationships/font" Target="fonts/font1.fntdata"/><Relationship Id="rIdFont3" Type="http://schemas.openxmlformats.org/officeDocument/2006/relationships/font" Target="fonts/font2.fntdata"/><Relationship Id="rIdFont4" Type="http://schemas.openxmlformats.org/officeDocument/2006/relationships/font" Target="fonts/font3.fntdata"/><Relationship Id="rIdFont5" Type="http://schemas.openxmlformats.org/officeDocument/2006/relationships/font" Target="fonts/font4.fntdata"/><Relationship Id="rIdFont6"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F2E3B"/>
          </a:solidFill>
          <a:ln/>
        </p:spPr>
      </p:sp>
      <p:sp>
        <p:nvSpPr>
          <p:cNvPr id="3" name="Shape 1"/>
          <p:cNvSpPr/>
          <p:nvPr/>
        </p:nvSpPr>
        <p:spPr>
          <a:xfrm>
            <a:off x="2606040" y="-1188720"/>
            <a:ext cx="2103120" cy="2103120"/>
          </a:xfrm>
          <a:prstGeom prst="ellipse">
            <a:avLst/>
          </a:prstGeom>
          <a:solidFill>
            <a:srgbClr val="15B3A6"/>
          </a:solidFill>
          <a:ln/>
        </p:spPr>
      </p:sp>
      <p:sp>
        <p:nvSpPr>
          <p:cNvPr id="4" name="Shape 2"/>
          <p:cNvSpPr/>
          <p:nvPr/>
        </p:nvSpPr>
        <p:spPr>
          <a:xfrm>
            <a:off x="3154680" y="5669280"/>
            <a:ext cx="1463040" cy="1463040"/>
          </a:xfrm>
          <a:prstGeom prst="ellipse">
            <a:avLst/>
          </a:prstGeom>
          <a:solidFill>
            <a:srgbClr val="0E8F84"/>
          </a:solidFill>
          <a:ln/>
        </p:spPr>
      </p:sp>
      <p:sp>
        <p:nvSpPr>
          <p:cNvPr id="5" name="Shape 3"/>
          <p:cNvSpPr/>
          <p:nvPr/>
        </p:nvSpPr>
        <p:spPr>
          <a:xfrm>
            <a:off x="0" y="0"/>
            <a:ext cx="164592" cy="6858000"/>
          </a:xfrm>
          <a:prstGeom prst="rect">
            <a:avLst/>
          </a:prstGeom>
          <a:solidFill>
            <a:srgbClr val="15B3A6"/>
          </a:solidFill>
          <a:ln/>
        </p:spPr>
      </p:sp>
      <p:sp>
        <p:nvSpPr>
          <p:cNvPr id="6" name="Text 4"/>
          <p:cNvSpPr/>
          <p:nvPr/>
        </p:nvSpPr>
        <p:spPr>
          <a:xfrm>
            <a:off x="548640" y="2286000"/>
            <a:ext cx="3840480" cy="365760"/>
          </a:xfrm>
          <a:prstGeom prst="rect">
            <a:avLst/>
          </a:prstGeom>
          <a:noFill/>
          <a:ln/>
        </p:spPr>
        <p:txBody>
          <a:bodyPr wrap="square" rtlCol="0" anchor="ctr"/>
          <a:lstStyle/>
          <a:p>
            <a:pPr indent="0" marL="0">
              <a:buNone/>
            </a:pPr>
            <a:r>
              <a:rPr lang="en-US" sz="1300" spc="300" kern="0" dirty="0">
                <a:solidFill>
                  <a:srgbClr val="15B3A6"/>
                </a:solidFill>
                <a:latin typeface="Poppins SemiBold" pitchFamily="34" charset="0"/>
                <a:ea typeface="Poppins SemiBold" pitchFamily="34" charset="-122"/>
                <a:cs typeface="Poppins SemiBold" pitchFamily="34" charset="-120"/>
              </a:rPr>
              <a:t>SONARQUBE</a:t>
            </a:r>
            <a:endParaRPr lang="en-US" sz="1300" dirty="0"/>
          </a:p>
        </p:txBody>
      </p:sp>
      <p:sp>
        <p:nvSpPr>
          <p:cNvPr id="7" name="Text 5"/>
          <p:cNvSpPr/>
          <p:nvPr/>
        </p:nvSpPr>
        <p:spPr>
          <a:xfrm>
            <a:off x="512064" y="2606040"/>
            <a:ext cx="3840480" cy="1280160"/>
          </a:xfrm>
          <a:prstGeom prst="rect">
            <a:avLst/>
          </a:prstGeom>
          <a:noFill/>
          <a:ln/>
        </p:spPr>
        <p:txBody>
          <a:bodyPr wrap="square" rtlCol="0" anchor="ctr"/>
          <a:lstStyle/>
          <a:p>
            <a:pPr indent="0" marL="0">
              <a:buNone/>
            </a:pPr>
            <a:r>
              <a:rPr lang="en-US" sz="7200" dirty="0">
                <a:solidFill>
                  <a:srgbClr val="FFFFFF"/>
                </a:solidFill>
                <a:latin typeface="Poppins ExtraBold" pitchFamily="34" charset="0"/>
                <a:ea typeface="Poppins ExtraBold" pitchFamily="34" charset="-122"/>
                <a:cs typeface="Poppins ExtraBold" pitchFamily="34" charset="-120"/>
              </a:rPr>
              <a:t>SAST</a:t>
            </a:r>
            <a:endParaRPr lang="en-US" sz="7200" dirty="0"/>
          </a:p>
        </p:txBody>
      </p:sp>
      <p:sp>
        <p:nvSpPr>
          <p:cNvPr id="8" name="Text 6"/>
          <p:cNvSpPr/>
          <p:nvPr/>
        </p:nvSpPr>
        <p:spPr>
          <a:xfrm>
            <a:off x="548640" y="3886200"/>
            <a:ext cx="3657600" cy="731520"/>
          </a:xfrm>
          <a:prstGeom prst="rect">
            <a:avLst/>
          </a:prstGeom>
          <a:noFill/>
          <a:ln/>
        </p:spPr>
        <p:txBody>
          <a:bodyPr wrap="square" rtlCol="0" anchor="ctr"/>
          <a:lstStyle/>
          <a:p>
            <a:pPr indent="0" marL="0">
              <a:buNone/>
            </a:pPr>
            <a:r>
              <a:rPr lang="en-US" sz="1400" dirty="0">
                <a:solidFill>
                  <a:srgbClr val="B9D4D4"/>
                </a:solidFill>
                <a:latin typeface="Poppins Medium" pitchFamily="34" charset="0"/>
                <a:ea typeface="Poppins Medium" pitchFamily="34" charset="-122"/>
                <a:cs typeface="Poppins Medium" pitchFamily="34" charset="-120"/>
              </a:rPr>
              <a:t>Static Application Security Testing</a:t>
            </a:r>
            <a:endParaRPr lang="en-US" sz="1400" dirty="0"/>
          </a:p>
        </p:txBody>
      </p:sp>
      <p:sp>
        <p:nvSpPr>
          <p:cNvPr id="9" name="Text 7"/>
          <p:cNvSpPr/>
          <p:nvPr/>
        </p:nvSpPr>
        <p:spPr>
          <a:xfrm>
            <a:off x="5120640" y="914400"/>
            <a:ext cx="5486400" cy="274320"/>
          </a:xfrm>
          <a:prstGeom prst="rect">
            <a:avLst/>
          </a:prstGeom>
          <a:noFill/>
          <a:ln/>
        </p:spPr>
        <p:txBody>
          <a:bodyPr wrap="square" rtlCol="0" anchor="ctr"/>
          <a:lstStyle/>
          <a:p>
            <a:pPr indent="0" marL="0">
              <a:buNone/>
            </a:pPr>
            <a:r>
              <a:rPr lang="en-US" sz="1100" spc="100" kern="0" dirty="0">
                <a:solidFill>
                  <a:srgbClr val="0E8F84"/>
                </a:solidFill>
                <a:latin typeface="Poppins SemiBold" pitchFamily="34" charset="0"/>
                <a:ea typeface="Poppins SemiBold" pitchFamily="34" charset="-122"/>
                <a:cs typeface="Poppins SemiBold" pitchFamily="34" charset="-120"/>
              </a:rPr>
              <a:t>UJIAN TENGAH SEMESTER · DEVSECOPS</a:t>
            </a:r>
            <a:endParaRPr lang="en-US" sz="1100" dirty="0"/>
          </a:p>
        </p:txBody>
      </p:sp>
      <p:pic>
        <p:nvPicPr>
          <p:cNvPr id="10" name="Image 0" descr="Logo STT Terpadu Nurul Fikri">    </p:cNvPr>
          <p:cNvPicPr>
            <a:picLocks noChangeAspect="1"/>
          </p:cNvPicPr>
          <p:nvPr/>
        </p:nvPicPr>
        <p:blipFill>
          <a:blip r:embed="rId1"/>
          <a:stretch>
            <a:fillRect/>
          </a:stretch>
        </p:blipFill>
        <p:spPr>
          <a:xfrm>
            <a:off x="10561320" y="731520"/>
            <a:ext cx="914400" cy="914400"/>
          </a:xfrm>
          <a:prstGeom prst="rect">
            <a:avLst/>
          </a:prstGeom>
        </p:spPr>
      </p:pic>
      <p:sp>
        <p:nvSpPr>
          <p:cNvPr id="11" name="Text 8"/>
          <p:cNvSpPr/>
          <p:nvPr/>
        </p:nvSpPr>
        <p:spPr>
          <a:xfrm>
            <a:off x="5102352" y="1371600"/>
            <a:ext cx="6675120" cy="1463040"/>
          </a:xfrm>
          <a:prstGeom prst="rect">
            <a:avLst/>
          </a:prstGeom>
          <a:noFill/>
          <a:ln/>
        </p:spPr>
        <p:txBody>
          <a:bodyPr wrap="square" rtlCol="0" anchor="ctr"/>
          <a:lstStyle/>
          <a:p>
            <a:pPr indent="0" marL="0">
              <a:lnSpc>
                <a:spcPct val="100000"/>
              </a:lnSpc>
              <a:buNone/>
            </a:pPr>
            <a:r>
              <a:rPr lang="en-US" sz="3300" dirty="0">
                <a:solidFill>
                  <a:srgbClr val="1A1E24"/>
                </a:solidFill>
                <a:latin typeface="Poppins ExtraBold" pitchFamily="34" charset="0"/>
                <a:ea typeface="Poppins ExtraBold" pitchFamily="34" charset="-122"/>
                <a:cs typeface="Poppins ExtraBold" pitchFamily="34" charset="-120"/>
              </a:rPr>
              <a:t>Audit Keamanan</a:t>
            </a:r>
            <a:endParaRPr lang="en-US" sz="3300" dirty="0"/>
          </a:p>
          <a:p>
            <a:pPr indent="0" marL="0">
              <a:lnSpc>
                <a:spcPct val="100000"/>
              </a:lnSpc>
              <a:buNone/>
            </a:pPr>
            <a:r>
              <a:rPr lang="en-US" sz="3300" dirty="0">
                <a:solidFill>
                  <a:srgbClr val="1A1E24"/>
                </a:solidFill>
                <a:latin typeface="Poppins ExtraBold" pitchFamily="34" charset="0"/>
                <a:ea typeface="Poppins ExtraBold" pitchFamily="34" charset="-122"/>
                <a:cs typeface="Poppins ExtraBold" pitchFamily="34" charset="-120"/>
              </a:rPr>
              <a:t>STT-NF Blog Platform</a:t>
            </a:r>
            <a:endParaRPr lang="en-US" sz="3300" dirty="0"/>
          </a:p>
        </p:txBody>
      </p:sp>
      <p:sp>
        <p:nvSpPr>
          <p:cNvPr id="12" name="Shape 9"/>
          <p:cNvSpPr/>
          <p:nvPr/>
        </p:nvSpPr>
        <p:spPr>
          <a:xfrm>
            <a:off x="5120640" y="3017520"/>
            <a:ext cx="2011680" cy="347472"/>
          </a:xfrm>
          <a:prstGeom prst="roundRect">
            <a:avLst>
              <a:gd name="adj" fmla="val 50000"/>
            </a:avLst>
          </a:prstGeom>
          <a:solidFill>
            <a:srgbClr val="0F2E3B"/>
          </a:solidFill>
          <a:ln/>
        </p:spPr>
      </p:sp>
      <p:sp>
        <p:nvSpPr>
          <p:cNvPr id="13" name="Text 10"/>
          <p:cNvSpPr/>
          <p:nvPr/>
        </p:nvSpPr>
        <p:spPr>
          <a:xfrm>
            <a:off x="5120640" y="3008376"/>
            <a:ext cx="2011680" cy="347472"/>
          </a:xfrm>
          <a:prstGeom prst="rect">
            <a:avLst/>
          </a:prstGeom>
          <a:noFill/>
          <a:ln/>
        </p:spPr>
        <p:txBody>
          <a:bodyPr wrap="square" rtlCol="0" anchor="ctr"/>
          <a:lstStyle/>
          <a:p>
            <a:pPr algn="ctr" indent="0" marL="0">
              <a:buNone/>
            </a:pPr>
            <a:r>
              <a:rPr lang="en-US" sz="1000" spc="100" kern="0" dirty="0">
                <a:solidFill>
                  <a:srgbClr val="FFFFFF"/>
                </a:solidFill>
                <a:latin typeface="Poppins SemiBold" pitchFamily="34" charset="0"/>
                <a:ea typeface="Poppins SemiBold" pitchFamily="34" charset="-122"/>
                <a:cs typeface="Poppins SemiBold" pitchFamily="34" charset="-120"/>
              </a:rPr>
              <a:t>PHP / LARAVEL</a:t>
            </a:r>
            <a:endParaRPr lang="en-US" sz="1000" dirty="0"/>
          </a:p>
        </p:txBody>
      </p:sp>
      <p:sp>
        <p:nvSpPr>
          <p:cNvPr id="14" name="Shape 11"/>
          <p:cNvSpPr/>
          <p:nvPr/>
        </p:nvSpPr>
        <p:spPr>
          <a:xfrm>
            <a:off x="7269480" y="3017520"/>
            <a:ext cx="3840480" cy="347472"/>
          </a:xfrm>
          <a:prstGeom prst="roundRect">
            <a:avLst>
              <a:gd name="adj" fmla="val 50000"/>
            </a:avLst>
          </a:prstGeom>
          <a:solidFill>
            <a:srgbClr val="15B3A6"/>
          </a:solidFill>
          <a:ln/>
        </p:spPr>
      </p:sp>
      <p:sp>
        <p:nvSpPr>
          <p:cNvPr id="15" name="Text 12"/>
          <p:cNvSpPr/>
          <p:nvPr/>
        </p:nvSpPr>
        <p:spPr>
          <a:xfrm>
            <a:off x="7269480" y="3008376"/>
            <a:ext cx="3840480" cy="347472"/>
          </a:xfrm>
          <a:prstGeom prst="rect">
            <a:avLst/>
          </a:prstGeom>
          <a:noFill/>
          <a:ln/>
        </p:spPr>
        <p:txBody>
          <a:bodyPr wrap="square" rtlCol="0" anchor="ctr"/>
          <a:lstStyle/>
          <a:p>
            <a:pPr algn="ctr" indent="0" marL="0">
              <a:buNone/>
            </a:pPr>
            <a:r>
              <a:rPr lang="en-US" sz="1000" spc="100" kern="0" dirty="0">
                <a:solidFill>
                  <a:srgbClr val="FFFFFF"/>
                </a:solidFill>
                <a:latin typeface="Poppins SemiBold" pitchFamily="34" charset="0"/>
                <a:ea typeface="Poppins SemiBold" pitchFamily="34" charset="-122"/>
                <a:cs typeface="Poppins SemiBold" pitchFamily="34" charset="-120"/>
              </a:rPr>
              <a:t>SONARQUBE COMMUNITY BUILD 26.9</a:t>
            </a:r>
            <a:endParaRPr lang="en-US" sz="1000" dirty="0"/>
          </a:p>
        </p:txBody>
      </p:sp>
      <p:sp>
        <p:nvSpPr>
          <p:cNvPr id="16" name="Text 13"/>
          <p:cNvSpPr/>
          <p:nvPr/>
        </p:nvSpPr>
        <p:spPr>
          <a:xfrm>
            <a:off x="5120640" y="3703320"/>
            <a:ext cx="6400800"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KELOMPOK 6</a:t>
            </a:r>
            <a:endParaRPr lang="en-US" sz="1100" dirty="0"/>
          </a:p>
        </p:txBody>
      </p:sp>
      <p:sp>
        <p:nvSpPr>
          <p:cNvPr id="17" name="Text 14"/>
          <p:cNvSpPr/>
          <p:nvPr/>
        </p:nvSpPr>
        <p:spPr>
          <a:xfrm>
            <a:off x="5120640" y="4023360"/>
            <a:ext cx="3474720" cy="1463040"/>
          </a:xfrm>
          <a:prstGeom prst="rect">
            <a:avLst/>
          </a:prstGeom>
          <a:noFill/>
          <a:ln/>
        </p:spPr>
        <p:txBody>
          <a:bodyPr wrap="square" rtlCol="0" anchor="t"/>
          <a:lstStyle/>
          <a:p>
            <a:pPr indent="0" marL="0">
              <a:spcAft>
                <a:spcPts val="600"/>
              </a:spcAft>
              <a:buNone/>
            </a:pPr>
            <a:r>
              <a:rPr lang="en-US" sz="1050" dirty="0">
                <a:solidFill>
                  <a:srgbClr val="1A1E24"/>
                </a:solidFill>
                <a:latin typeface="Poppins" pitchFamily="34" charset="0"/>
                <a:ea typeface="Poppins" pitchFamily="34" charset="-122"/>
                <a:cs typeface="Poppins" pitchFamily="34" charset="-120"/>
              </a:rPr>
              <a:t>Firmansyah Dzakwan Arifien · 0110223282</a:t>
            </a:r>
            <a:endParaRPr lang="en-US" sz="1050" dirty="0"/>
          </a:p>
          <a:p>
            <a:pPr indent="0" marL="0">
              <a:spcAft>
                <a:spcPts val="600"/>
              </a:spcAft>
              <a:buNone/>
            </a:pPr>
            <a:r>
              <a:rPr lang="en-US" sz="1050" dirty="0">
                <a:solidFill>
                  <a:srgbClr val="1A1E24"/>
                </a:solidFill>
                <a:latin typeface="Poppins" pitchFamily="34" charset="0"/>
                <a:ea typeface="Poppins" pitchFamily="34" charset="-122"/>
                <a:cs typeface="Poppins" pitchFamily="34" charset="-120"/>
              </a:rPr>
              <a:t>Azzam Fikri · 0110225110</a:t>
            </a:r>
            <a:endParaRPr lang="en-US" sz="1050" dirty="0"/>
          </a:p>
          <a:p>
            <a:pPr indent="0" marL="0">
              <a:spcAft>
                <a:spcPts val="600"/>
              </a:spcAft>
              <a:buNone/>
            </a:pPr>
            <a:r>
              <a:rPr lang="en-US" sz="1050" dirty="0">
                <a:solidFill>
                  <a:srgbClr val="1A1E24"/>
                </a:solidFill>
                <a:latin typeface="Poppins" pitchFamily="34" charset="0"/>
                <a:ea typeface="Poppins" pitchFamily="34" charset="-122"/>
                <a:cs typeface="Poppins" pitchFamily="34" charset="-120"/>
              </a:rPr>
              <a:t>Dhiya Nailah Rizqya · 0110225095</a:t>
            </a:r>
            <a:endParaRPr lang="en-US" sz="1050" dirty="0"/>
          </a:p>
          <a:p>
            <a:pPr indent="0" marL="0">
              <a:spcAft>
                <a:spcPts val="600"/>
              </a:spcAft>
              <a:buNone/>
            </a:pPr>
            <a:r>
              <a:rPr lang="en-US" sz="1050" dirty="0">
                <a:solidFill>
                  <a:srgbClr val="1A1E24"/>
                </a:solidFill>
                <a:latin typeface="Poppins" pitchFamily="34" charset="0"/>
                <a:ea typeface="Poppins" pitchFamily="34" charset="-122"/>
                <a:cs typeface="Poppins" pitchFamily="34" charset="-120"/>
              </a:rPr>
              <a:t>Ghifana Adzkia Ahmad · 0110225044</a:t>
            </a:r>
            <a:endParaRPr lang="en-US" sz="1050" dirty="0"/>
          </a:p>
        </p:txBody>
      </p:sp>
      <p:sp>
        <p:nvSpPr>
          <p:cNvPr id="18" name="Text 15"/>
          <p:cNvSpPr/>
          <p:nvPr/>
        </p:nvSpPr>
        <p:spPr>
          <a:xfrm>
            <a:off x="8686800" y="4023360"/>
            <a:ext cx="3108960" cy="1463040"/>
          </a:xfrm>
          <a:prstGeom prst="rect">
            <a:avLst/>
          </a:prstGeom>
          <a:noFill/>
          <a:ln/>
        </p:spPr>
        <p:txBody>
          <a:bodyPr wrap="square" rtlCol="0" anchor="t"/>
          <a:lstStyle/>
          <a:p>
            <a:pPr indent="0" marL="0">
              <a:spcAft>
                <a:spcPts val="600"/>
              </a:spcAft>
              <a:buNone/>
            </a:pPr>
            <a:r>
              <a:rPr lang="en-US" sz="1050" dirty="0">
                <a:solidFill>
                  <a:srgbClr val="1A1E24"/>
                </a:solidFill>
                <a:latin typeface="Poppins" pitchFamily="34" charset="0"/>
                <a:ea typeface="Poppins" pitchFamily="34" charset="-122"/>
                <a:cs typeface="Poppins" pitchFamily="34" charset="-120"/>
              </a:rPr>
              <a:t>Rizky Putri · 0110225064</a:t>
            </a:r>
            <a:endParaRPr lang="en-US" sz="1050" dirty="0"/>
          </a:p>
          <a:p>
            <a:pPr indent="0" marL="0">
              <a:spcAft>
                <a:spcPts val="600"/>
              </a:spcAft>
              <a:buNone/>
            </a:pPr>
            <a:r>
              <a:rPr lang="en-US" sz="1050" dirty="0">
                <a:solidFill>
                  <a:srgbClr val="1A1E24"/>
                </a:solidFill>
                <a:latin typeface="Poppins" pitchFamily="34" charset="0"/>
                <a:ea typeface="Poppins" pitchFamily="34" charset="-122"/>
                <a:cs typeface="Poppins" pitchFamily="34" charset="-120"/>
              </a:rPr>
              <a:t>Muhammad Fathir Lubis · 0110225005</a:t>
            </a:r>
            <a:endParaRPr lang="en-US" sz="1050" dirty="0"/>
          </a:p>
          <a:p>
            <a:pPr indent="0" marL="0">
              <a:spcAft>
                <a:spcPts val="600"/>
              </a:spcAft>
              <a:buNone/>
            </a:pPr>
            <a:r>
              <a:rPr lang="en-US" sz="1050" dirty="0">
                <a:solidFill>
                  <a:srgbClr val="1A1E24"/>
                </a:solidFill>
                <a:latin typeface="Poppins" pitchFamily="34" charset="0"/>
                <a:ea typeface="Poppins" pitchFamily="34" charset="-122"/>
                <a:cs typeface="Poppins" pitchFamily="34" charset="-120"/>
              </a:rPr>
              <a:t>Muhammad Bintang Siregar · 0110225058</a:t>
            </a:r>
            <a:endParaRPr lang="en-US" sz="1050" dirty="0"/>
          </a:p>
        </p:txBody>
      </p:sp>
      <p:sp>
        <p:nvSpPr>
          <p:cNvPr id="19" name="Text 16"/>
          <p:cNvSpPr/>
          <p:nvPr/>
        </p:nvSpPr>
        <p:spPr>
          <a:xfrm>
            <a:off x="5120640" y="6035040"/>
            <a:ext cx="6675120" cy="274320"/>
          </a:xfrm>
          <a:prstGeom prst="rect">
            <a:avLst/>
          </a:prstGeom>
          <a:noFill/>
          <a:ln/>
        </p:spPr>
        <p:txBody>
          <a:bodyPr wrap="square" rtlCol="0" anchor="ctr"/>
          <a:lstStyle/>
          <a:p>
            <a:pPr indent="0" marL="0">
              <a:buNone/>
            </a:pPr>
            <a:r>
              <a:rPr lang="en-US" sz="950" dirty="0">
                <a:solidFill>
                  <a:srgbClr val="6A7177"/>
                </a:solidFill>
                <a:latin typeface="Poppins" pitchFamily="34" charset="0"/>
                <a:ea typeface="Poppins" pitchFamily="34" charset="-122"/>
                <a:cs typeface="Poppins" pitchFamily="34" charset="-120"/>
              </a:rPr>
              <a:t>Teknik Informatika · STT Terpadu Nurul Fikri · Dosen: April Rustianto, S.Komp., M.T., CCIE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PENDAHULUAN</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SAST dan SonarQube</a:t>
            </a:r>
            <a:endParaRPr lang="en-US" sz="2700" dirty="0"/>
          </a:p>
        </p:txBody>
      </p:sp>
      <p:sp>
        <p:nvSpPr>
          <p:cNvPr id="5" name="Shape 3"/>
          <p:cNvSpPr/>
          <p:nvPr/>
        </p:nvSpPr>
        <p:spPr>
          <a:xfrm>
            <a:off x="731520" y="1783080"/>
            <a:ext cx="5181448" cy="2468880"/>
          </a:xfrm>
          <a:prstGeom prst="roundRect">
            <a:avLst>
              <a:gd name="adj" fmla="val 3704"/>
            </a:avLst>
          </a:prstGeom>
          <a:solidFill>
            <a:srgbClr val="FFFFFF"/>
          </a:solidFill>
          <a:ln w="12700">
            <a:solidFill>
              <a:srgbClr val="E3E8E9"/>
            </a:solidFill>
            <a:prstDash val="solid"/>
          </a:ln>
        </p:spPr>
      </p:sp>
      <p:sp>
        <p:nvSpPr>
          <p:cNvPr id="6" name="Text 4"/>
          <p:cNvSpPr/>
          <p:nvPr/>
        </p:nvSpPr>
        <p:spPr>
          <a:xfrm>
            <a:off x="1051560" y="1965960"/>
            <a:ext cx="4541368" cy="457200"/>
          </a:xfrm>
          <a:prstGeom prst="rect">
            <a:avLst/>
          </a:prstGeom>
          <a:noFill/>
          <a:ln/>
        </p:spPr>
        <p:txBody>
          <a:bodyPr wrap="square" rtlCol="0" anchor="ctr"/>
          <a:lstStyle/>
          <a:p>
            <a:pPr indent="0" marL="0">
              <a:buNone/>
            </a:pPr>
            <a:r>
              <a:rPr lang="en-US" sz="1700" dirty="0">
                <a:solidFill>
                  <a:srgbClr val="1A1E24"/>
                </a:solidFill>
                <a:latin typeface="Poppins SemiBold" pitchFamily="34" charset="0"/>
                <a:ea typeface="Poppins SemiBold" pitchFamily="34" charset="-122"/>
                <a:cs typeface="Poppins SemiBold" pitchFamily="34" charset="-120"/>
              </a:rPr>
              <a:t>Apa itu SAST?</a:t>
            </a:r>
            <a:endParaRPr lang="en-US" sz="1700" dirty="0"/>
          </a:p>
        </p:txBody>
      </p:sp>
      <p:sp>
        <p:nvSpPr>
          <p:cNvPr id="7" name="Text 5"/>
          <p:cNvSpPr/>
          <p:nvPr/>
        </p:nvSpPr>
        <p:spPr>
          <a:xfrm>
            <a:off x="1051560" y="2468880"/>
            <a:ext cx="4541368" cy="1691640"/>
          </a:xfrm>
          <a:prstGeom prst="rect">
            <a:avLst/>
          </a:prstGeom>
          <a:noFill/>
          <a:ln/>
        </p:spPr>
        <p:txBody>
          <a:bodyPr wrap="square" rtlCol="0" anchor="t"/>
          <a:lstStyle/>
          <a:p>
            <a:pPr indent="0" marL="0">
              <a:lnSpc>
                <a:spcPct val="120000"/>
              </a:lnSpc>
              <a:buNone/>
            </a:pPr>
            <a:r>
              <a:rPr lang="en-US" sz="1250" dirty="0">
                <a:solidFill>
                  <a:srgbClr val="1A1E24"/>
                </a:solidFill>
                <a:latin typeface="Poppins" pitchFamily="34" charset="0"/>
                <a:ea typeface="Poppins" pitchFamily="34" charset="-122"/>
                <a:cs typeface="Poppins" pitchFamily="34" charset="-120"/>
              </a:rPr>
              <a:t>Pengujian keamanan dengan menganalisis source code tanpa menjalankan aplikasi (white-box). Kode di-parse lalu dicocokkan dengan rule pola kode tidak aman. Cepat, bisa diotomasi di CI/CD, dan menemukan masalah sejak tahap development (shift left).</a:t>
            </a:r>
            <a:endParaRPr lang="en-US" sz="1250" dirty="0"/>
          </a:p>
        </p:txBody>
      </p:sp>
      <p:sp>
        <p:nvSpPr>
          <p:cNvPr id="8" name="Shape 6"/>
          <p:cNvSpPr/>
          <p:nvPr/>
        </p:nvSpPr>
        <p:spPr>
          <a:xfrm>
            <a:off x="6278728" y="1783080"/>
            <a:ext cx="5181448" cy="2468880"/>
          </a:xfrm>
          <a:prstGeom prst="roundRect">
            <a:avLst>
              <a:gd name="adj" fmla="val 3704"/>
            </a:avLst>
          </a:prstGeom>
          <a:solidFill>
            <a:srgbClr val="FFFFFF"/>
          </a:solidFill>
          <a:ln w="12700">
            <a:solidFill>
              <a:srgbClr val="E3E8E9"/>
            </a:solidFill>
            <a:prstDash val="solid"/>
          </a:ln>
        </p:spPr>
      </p:sp>
      <p:sp>
        <p:nvSpPr>
          <p:cNvPr id="9" name="Text 7"/>
          <p:cNvSpPr/>
          <p:nvPr/>
        </p:nvSpPr>
        <p:spPr>
          <a:xfrm>
            <a:off x="6598768" y="1965960"/>
            <a:ext cx="4541368" cy="457200"/>
          </a:xfrm>
          <a:prstGeom prst="rect">
            <a:avLst/>
          </a:prstGeom>
          <a:noFill/>
          <a:ln/>
        </p:spPr>
        <p:txBody>
          <a:bodyPr wrap="square" rtlCol="0" anchor="ctr"/>
          <a:lstStyle/>
          <a:p>
            <a:pPr indent="0" marL="0">
              <a:buNone/>
            </a:pPr>
            <a:r>
              <a:rPr lang="en-US" sz="1700" dirty="0">
                <a:solidFill>
                  <a:srgbClr val="1A1E24"/>
                </a:solidFill>
                <a:latin typeface="Poppins SemiBold" pitchFamily="34" charset="0"/>
                <a:ea typeface="Poppins SemiBold" pitchFamily="34" charset="-122"/>
                <a:cs typeface="Poppins SemiBold" pitchFamily="34" charset="-120"/>
              </a:rPr>
              <a:t>Apa itu SonarQube?</a:t>
            </a:r>
            <a:endParaRPr lang="en-US" sz="1700" dirty="0"/>
          </a:p>
        </p:txBody>
      </p:sp>
      <p:sp>
        <p:nvSpPr>
          <p:cNvPr id="10" name="Text 8"/>
          <p:cNvSpPr/>
          <p:nvPr/>
        </p:nvSpPr>
        <p:spPr>
          <a:xfrm>
            <a:off x="6598768" y="2468880"/>
            <a:ext cx="4541368" cy="1691640"/>
          </a:xfrm>
          <a:prstGeom prst="rect">
            <a:avLst/>
          </a:prstGeom>
          <a:noFill/>
          <a:ln/>
        </p:spPr>
        <p:txBody>
          <a:bodyPr wrap="square" rtlCol="0" anchor="t"/>
          <a:lstStyle/>
          <a:p>
            <a:pPr indent="0" marL="0">
              <a:lnSpc>
                <a:spcPct val="120000"/>
              </a:lnSpc>
              <a:buNone/>
            </a:pPr>
            <a:r>
              <a:rPr lang="en-US" sz="1250" dirty="0">
                <a:solidFill>
                  <a:srgbClr val="1A1E24"/>
                </a:solidFill>
                <a:latin typeface="Poppins" pitchFamily="34" charset="0"/>
                <a:ea typeface="Poppins" pitchFamily="34" charset="-122"/>
                <a:cs typeface="Poppins" pitchFamily="34" charset="-120"/>
              </a:rPr>
              <a:t>Platform inspeksi kualitas dan keamanan kode. SonarScanner menganalisis kode lalu mengirim hasil ke server. Issue dikelompokkan per software quality (Security, Reliability, Maintainability) dengan severity Blocker sampai Info, dipetakan ke OWASP dan CWE, dan dinilai oleh Quality Gate.</a:t>
            </a:r>
            <a:endParaRPr lang="en-US" sz="1250" dirty="0"/>
          </a:p>
        </p:txBody>
      </p:sp>
      <p:sp>
        <p:nvSpPr>
          <p:cNvPr id="11" name="Shape 9"/>
          <p:cNvSpPr/>
          <p:nvPr/>
        </p:nvSpPr>
        <p:spPr>
          <a:xfrm>
            <a:off x="731520" y="4526280"/>
            <a:ext cx="10728655" cy="1325880"/>
          </a:xfrm>
          <a:prstGeom prst="roundRect">
            <a:avLst>
              <a:gd name="adj" fmla="val 6897"/>
            </a:avLst>
          </a:prstGeom>
          <a:solidFill>
            <a:srgbClr val="EEF3F4"/>
          </a:solidFill>
          <a:ln/>
        </p:spPr>
      </p:sp>
      <p:sp>
        <p:nvSpPr>
          <p:cNvPr id="12" name="Shape 10"/>
          <p:cNvSpPr/>
          <p:nvPr/>
        </p:nvSpPr>
        <p:spPr>
          <a:xfrm>
            <a:off x="731520" y="4526280"/>
            <a:ext cx="91440" cy="1325880"/>
          </a:xfrm>
          <a:prstGeom prst="roundRect">
            <a:avLst>
              <a:gd name="adj" fmla="val 50000"/>
            </a:avLst>
          </a:prstGeom>
          <a:solidFill>
            <a:srgbClr val="15B3A6"/>
          </a:solidFill>
          <a:ln/>
        </p:spPr>
      </p:sp>
      <p:sp>
        <p:nvSpPr>
          <p:cNvPr id="13" name="Text 11"/>
          <p:cNvSpPr/>
          <p:nvPr/>
        </p:nvSpPr>
        <p:spPr>
          <a:xfrm>
            <a:off x="1051560" y="4672584"/>
            <a:ext cx="10271455" cy="274320"/>
          </a:xfrm>
          <a:prstGeom prst="rect">
            <a:avLst/>
          </a:prstGeom>
          <a:noFill/>
          <a:ln/>
        </p:spPr>
        <p:txBody>
          <a:bodyPr wrap="square" rtlCol="0" anchor="ctr"/>
          <a:lstStyle/>
          <a:p>
            <a:pPr indent="0" marL="0">
              <a:buNone/>
            </a:pPr>
            <a:r>
              <a:rPr lang="en-US" sz="1000" spc="100" kern="0" dirty="0">
                <a:solidFill>
                  <a:srgbClr val="0E8F84"/>
                </a:solidFill>
                <a:latin typeface="Poppins SemiBold" pitchFamily="34" charset="0"/>
                <a:ea typeface="Poppins SemiBold" pitchFamily="34" charset="-122"/>
                <a:cs typeface="Poppins SemiBold" pitchFamily="34" charset="-120"/>
              </a:rPr>
              <a:t>STUDI KASUS</a:t>
            </a:r>
            <a:endParaRPr lang="en-US" sz="1000" dirty="0"/>
          </a:p>
        </p:txBody>
      </p:sp>
      <p:sp>
        <p:nvSpPr>
          <p:cNvPr id="14" name="Text 12"/>
          <p:cNvSpPr/>
          <p:nvPr/>
        </p:nvSpPr>
        <p:spPr>
          <a:xfrm>
            <a:off x="1051560" y="4946904"/>
            <a:ext cx="10225735" cy="813816"/>
          </a:xfrm>
          <a:prstGeom prst="rect">
            <a:avLst/>
          </a:prstGeom>
          <a:noFill/>
          <a:ln/>
        </p:spPr>
        <p:txBody>
          <a:bodyPr wrap="square" rtlCol="0" anchor="t"/>
          <a:lstStyle/>
          <a:p>
            <a:pPr indent="0" marL="0">
              <a:lnSpc>
                <a:spcPct val="115000"/>
              </a:lnSpc>
              <a:buNone/>
            </a:pPr>
            <a:r>
              <a:rPr lang="en-US" sz="1200" dirty="0">
                <a:solidFill>
                  <a:srgbClr val="1A1E24"/>
                </a:solidFill>
                <a:latin typeface="Poppins" pitchFamily="34" charset="0"/>
                <a:ea typeface="Poppins" pitchFamily="34" charset="-122"/>
                <a:cs typeface="Poppins" pitchFamily="34" charset="-120"/>
              </a:rPr>
              <a:t>STT-NF Blog Platform (kelompok-A-blog-platform): aplikasi blog Laravel dengan 4 controller, 2 model, middleware CSRF, dan konfigurasi database. 140 baris kode PHP.</a:t>
            </a:r>
            <a:endParaRPr lang="en-US" sz="1200" dirty="0"/>
          </a:p>
        </p:txBody>
      </p:sp>
      <p:sp>
        <p:nvSpPr>
          <p:cNvPr id="15" name="Text 13"/>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16" name="Text 14"/>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METODOLOGI</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Alur Audit: Scan, Analisis, Perbaiki, Re-scan</a:t>
            </a:r>
            <a:endParaRPr lang="en-US" sz="2700" dirty="0"/>
          </a:p>
        </p:txBody>
      </p:sp>
      <p:sp>
        <p:nvSpPr>
          <p:cNvPr id="5" name="Shape 3"/>
          <p:cNvSpPr/>
          <p:nvPr/>
        </p:nvSpPr>
        <p:spPr>
          <a:xfrm>
            <a:off x="731520" y="1783080"/>
            <a:ext cx="2442134" cy="2103120"/>
          </a:xfrm>
          <a:prstGeom prst="roundRect">
            <a:avLst>
              <a:gd name="adj" fmla="val 4348"/>
            </a:avLst>
          </a:prstGeom>
          <a:solidFill>
            <a:srgbClr val="FFFFFF"/>
          </a:solidFill>
          <a:ln w="12700">
            <a:solidFill>
              <a:srgbClr val="E3E8E9"/>
            </a:solidFill>
            <a:prstDash val="solid"/>
          </a:ln>
        </p:spPr>
      </p:sp>
      <p:sp>
        <p:nvSpPr>
          <p:cNvPr id="6" name="Text 4"/>
          <p:cNvSpPr/>
          <p:nvPr/>
        </p:nvSpPr>
        <p:spPr>
          <a:xfrm>
            <a:off x="1005840" y="1920240"/>
            <a:ext cx="914400" cy="548640"/>
          </a:xfrm>
          <a:prstGeom prst="rect">
            <a:avLst/>
          </a:prstGeom>
          <a:noFill/>
          <a:ln/>
        </p:spPr>
        <p:txBody>
          <a:bodyPr wrap="square" rtlCol="0" anchor="ctr"/>
          <a:lstStyle/>
          <a:p>
            <a:pPr indent="0" marL="0">
              <a:buNone/>
            </a:pPr>
            <a:r>
              <a:rPr lang="en-US" sz="2600" dirty="0">
                <a:solidFill>
                  <a:srgbClr val="15B3A6"/>
                </a:solidFill>
                <a:latin typeface="Poppins ExtraBold" pitchFamily="34" charset="0"/>
                <a:ea typeface="Poppins ExtraBold" pitchFamily="34" charset="-122"/>
                <a:cs typeface="Poppins ExtraBold" pitchFamily="34" charset="-120"/>
              </a:rPr>
              <a:t>01</a:t>
            </a:r>
            <a:endParaRPr lang="en-US" sz="2600" dirty="0"/>
          </a:p>
        </p:txBody>
      </p:sp>
      <p:sp>
        <p:nvSpPr>
          <p:cNvPr id="7" name="Text 5"/>
          <p:cNvSpPr/>
          <p:nvPr/>
        </p:nvSpPr>
        <p:spPr>
          <a:xfrm>
            <a:off x="1005840" y="2487168"/>
            <a:ext cx="1984934" cy="365760"/>
          </a:xfrm>
          <a:prstGeom prst="rect">
            <a:avLst/>
          </a:prstGeom>
          <a:noFill/>
          <a:ln/>
        </p:spPr>
        <p:txBody>
          <a:bodyPr wrap="square" rtlCol="0" anchor="ctr"/>
          <a:lstStyle/>
          <a:p>
            <a:pPr indent="0" marL="0">
              <a:buNone/>
            </a:pPr>
            <a:r>
              <a:rPr lang="en-US" sz="1500" dirty="0">
                <a:solidFill>
                  <a:srgbClr val="1A1E24"/>
                </a:solidFill>
                <a:latin typeface="Poppins SemiBold" pitchFamily="34" charset="0"/>
                <a:ea typeface="Poppins SemiBold" pitchFamily="34" charset="-122"/>
                <a:cs typeface="Poppins SemiBold" pitchFamily="34" charset="-120"/>
              </a:rPr>
              <a:t>Scan awal</a:t>
            </a:r>
            <a:endParaRPr lang="en-US" sz="1500" dirty="0"/>
          </a:p>
        </p:txBody>
      </p:sp>
      <p:sp>
        <p:nvSpPr>
          <p:cNvPr id="8" name="Text 6"/>
          <p:cNvSpPr/>
          <p:nvPr/>
        </p:nvSpPr>
        <p:spPr>
          <a:xfrm>
            <a:off x="1005840" y="2852928"/>
            <a:ext cx="1984934" cy="914400"/>
          </a:xfrm>
          <a:prstGeom prst="rect">
            <a:avLst/>
          </a:prstGeom>
          <a:noFill/>
          <a:ln/>
        </p:spPr>
        <p:txBody>
          <a:bodyPr wrap="square" rtlCol="0" anchor="t"/>
          <a:lstStyle/>
          <a:p>
            <a:pPr indent="0" marL="0">
              <a:buNone/>
            </a:pPr>
            <a:r>
              <a:rPr lang="en-US" sz="1100" dirty="0">
                <a:solidFill>
                  <a:srgbClr val="6A7177"/>
                </a:solidFill>
                <a:latin typeface="Poppins" pitchFamily="34" charset="0"/>
                <a:ea typeface="Poppins" pitchFamily="34" charset="-122"/>
                <a:cs typeface="Poppins" pitchFamily="34" charset="-120"/>
              </a:rPr>
              <a:t>Source asli di-scan ke project uts-kelompok6-blog-sebelum</a:t>
            </a:r>
            <a:endParaRPr lang="en-US" sz="1100" dirty="0"/>
          </a:p>
        </p:txBody>
      </p:sp>
      <p:sp>
        <p:nvSpPr>
          <p:cNvPr id="9" name="Shape 7"/>
          <p:cNvSpPr/>
          <p:nvPr/>
        </p:nvSpPr>
        <p:spPr>
          <a:xfrm>
            <a:off x="3493694" y="1783080"/>
            <a:ext cx="2442134" cy="2103120"/>
          </a:xfrm>
          <a:prstGeom prst="roundRect">
            <a:avLst>
              <a:gd name="adj" fmla="val 4348"/>
            </a:avLst>
          </a:prstGeom>
          <a:solidFill>
            <a:srgbClr val="FFFFFF"/>
          </a:solidFill>
          <a:ln w="12700">
            <a:solidFill>
              <a:srgbClr val="E3E8E9"/>
            </a:solidFill>
            <a:prstDash val="solid"/>
          </a:ln>
        </p:spPr>
      </p:sp>
      <p:sp>
        <p:nvSpPr>
          <p:cNvPr id="10" name="Text 8"/>
          <p:cNvSpPr/>
          <p:nvPr/>
        </p:nvSpPr>
        <p:spPr>
          <a:xfrm>
            <a:off x="3768014" y="1920240"/>
            <a:ext cx="914400" cy="548640"/>
          </a:xfrm>
          <a:prstGeom prst="rect">
            <a:avLst/>
          </a:prstGeom>
          <a:noFill/>
          <a:ln/>
        </p:spPr>
        <p:txBody>
          <a:bodyPr wrap="square" rtlCol="0" anchor="ctr"/>
          <a:lstStyle/>
          <a:p>
            <a:pPr indent="0" marL="0">
              <a:buNone/>
            </a:pPr>
            <a:r>
              <a:rPr lang="en-US" sz="2600" dirty="0">
                <a:solidFill>
                  <a:srgbClr val="15B3A6"/>
                </a:solidFill>
                <a:latin typeface="Poppins ExtraBold" pitchFamily="34" charset="0"/>
                <a:ea typeface="Poppins ExtraBold" pitchFamily="34" charset="-122"/>
                <a:cs typeface="Poppins ExtraBold" pitchFamily="34" charset="-120"/>
              </a:rPr>
              <a:t>02</a:t>
            </a:r>
            <a:endParaRPr lang="en-US" sz="2600" dirty="0"/>
          </a:p>
        </p:txBody>
      </p:sp>
      <p:sp>
        <p:nvSpPr>
          <p:cNvPr id="11" name="Text 9"/>
          <p:cNvSpPr/>
          <p:nvPr/>
        </p:nvSpPr>
        <p:spPr>
          <a:xfrm>
            <a:off x="3768014" y="2487168"/>
            <a:ext cx="1984934" cy="365760"/>
          </a:xfrm>
          <a:prstGeom prst="rect">
            <a:avLst/>
          </a:prstGeom>
          <a:noFill/>
          <a:ln/>
        </p:spPr>
        <p:txBody>
          <a:bodyPr wrap="square" rtlCol="0" anchor="ctr"/>
          <a:lstStyle/>
          <a:p>
            <a:pPr indent="0" marL="0">
              <a:buNone/>
            </a:pPr>
            <a:r>
              <a:rPr lang="en-US" sz="1500" dirty="0">
                <a:solidFill>
                  <a:srgbClr val="1A1E24"/>
                </a:solidFill>
                <a:latin typeface="Poppins SemiBold" pitchFamily="34" charset="0"/>
                <a:ea typeface="Poppins SemiBold" pitchFamily="34" charset="-122"/>
                <a:cs typeface="Poppins SemiBold" pitchFamily="34" charset="-120"/>
              </a:rPr>
              <a:t>Analisis</a:t>
            </a:r>
            <a:endParaRPr lang="en-US" sz="1500" dirty="0"/>
          </a:p>
        </p:txBody>
      </p:sp>
      <p:sp>
        <p:nvSpPr>
          <p:cNvPr id="12" name="Text 10"/>
          <p:cNvSpPr/>
          <p:nvPr/>
        </p:nvSpPr>
        <p:spPr>
          <a:xfrm>
            <a:off x="3768014" y="2852928"/>
            <a:ext cx="1984934" cy="914400"/>
          </a:xfrm>
          <a:prstGeom prst="rect">
            <a:avLst/>
          </a:prstGeom>
          <a:noFill/>
          <a:ln/>
        </p:spPr>
        <p:txBody>
          <a:bodyPr wrap="square" rtlCol="0" anchor="t"/>
          <a:lstStyle/>
          <a:p>
            <a:pPr indent="0" marL="0">
              <a:buNone/>
            </a:pPr>
            <a:r>
              <a:rPr lang="en-US" sz="1100" dirty="0">
                <a:solidFill>
                  <a:srgbClr val="6A7177"/>
                </a:solidFill>
                <a:latin typeface="Poppins" pitchFamily="34" charset="0"/>
                <a:ea typeface="Poppins" pitchFamily="34" charset="-122"/>
                <a:cs typeface="Poppins" pitchFamily="34" charset="-120"/>
              </a:rPr>
              <a:t>Setiap issue: severity, file &amp; baris, OWASP, dampak + review manual</a:t>
            </a:r>
            <a:endParaRPr lang="en-US" sz="1100" dirty="0"/>
          </a:p>
        </p:txBody>
      </p:sp>
      <p:sp>
        <p:nvSpPr>
          <p:cNvPr id="13" name="Shape 11"/>
          <p:cNvSpPr/>
          <p:nvPr/>
        </p:nvSpPr>
        <p:spPr>
          <a:xfrm>
            <a:off x="6255868" y="1783080"/>
            <a:ext cx="2442134" cy="2103120"/>
          </a:xfrm>
          <a:prstGeom prst="roundRect">
            <a:avLst>
              <a:gd name="adj" fmla="val 4348"/>
            </a:avLst>
          </a:prstGeom>
          <a:solidFill>
            <a:srgbClr val="FFFFFF"/>
          </a:solidFill>
          <a:ln w="12700">
            <a:solidFill>
              <a:srgbClr val="E3E8E9"/>
            </a:solidFill>
            <a:prstDash val="solid"/>
          </a:ln>
        </p:spPr>
      </p:sp>
      <p:sp>
        <p:nvSpPr>
          <p:cNvPr id="14" name="Text 12"/>
          <p:cNvSpPr/>
          <p:nvPr/>
        </p:nvSpPr>
        <p:spPr>
          <a:xfrm>
            <a:off x="6530188" y="1920240"/>
            <a:ext cx="914400" cy="548640"/>
          </a:xfrm>
          <a:prstGeom prst="rect">
            <a:avLst/>
          </a:prstGeom>
          <a:noFill/>
          <a:ln/>
        </p:spPr>
        <p:txBody>
          <a:bodyPr wrap="square" rtlCol="0" anchor="ctr"/>
          <a:lstStyle/>
          <a:p>
            <a:pPr indent="0" marL="0">
              <a:buNone/>
            </a:pPr>
            <a:r>
              <a:rPr lang="en-US" sz="2600" dirty="0">
                <a:solidFill>
                  <a:srgbClr val="15B3A6"/>
                </a:solidFill>
                <a:latin typeface="Poppins ExtraBold" pitchFamily="34" charset="0"/>
                <a:ea typeface="Poppins ExtraBold" pitchFamily="34" charset="-122"/>
                <a:cs typeface="Poppins ExtraBold" pitchFamily="34" charset="-120"/>
              </a:rPr>
              <a:t>03</a:t>
            </a:r>
            <a:endParaRPr lang="en-US" sz="2600" dirty="0"/>
          </a:p>
        </p:txBody>
      </p:sp>
      <p:sp>
        <p:nvSpPr>
          <p:cNvPr id="15" name="Text 13"/>
          <p:cNvSpPr/>
          <p:nvPr/>
        </p:nvSpPr>
        <p:spPr>
          <a:xfrm>
            <a:off x="6530188" y="2487168"/>
            <a:ext cx="1984934" cy="365760"/>
          </a:xfrm>
          <a:prstGeom prst="rect">
            <a:avLst/>
          </a:prstGeom>
          <a:noFill/>
          <a:ln/>
        </p:spPr>
        <p:txBody>
          <a:bodyPr wrap="square" rtlCol="0" anchor="ctr"/>
          <a:lstStyle/>
          <a:p>
            <a:pPr indent="0" marL="0">
              <a:buNone/>
            </a:pPr>
            <a:r>
              <a:rPr lang="en-US" sz="1500" dirty="0">
                <a:solidFill>
                  <a:srgbClr val="1A1E24"/>
                </a:solidFill>
                <a:latin typeface="Poppins SemiBold" pitchFamily="34" charset="0"/>
                <a:ea typeface="Poppins SemiBold" pitchFamily="34" charset="-122"/>
                <a:cs typeface="Poppins SemiBold" pitchFamily="34" charset="-120"/>
              </a:rPr>
              <a:t>Perbaikan</a:t>
            </a:r>
            <a:endParaRPr lang="en-US" sz="1500" dirty="0"/>
          </a:p>
        </p:txBody>
      </p:sp>
      <p:sp>
        <p:nvSpPr>
          <p:cNvPr id="16" name="Text 14"/>
          <p:cNvSpPr/>
          <p:nvPr/>
        </p:nvSpPr>
        <p:spPr>
          <a:xfrm>
            <a:off x="6530188" y="2852928"/>
            <a:ext cx="1984934" cy="914400"/>
          </a:xfrm>
          <a:prstGeom prst="rect">
            <a:avLst/>
          </a:prstGeom>
          <a:noFill/>
          <a:ln/>
        </p:spPr>
        <p:txBody>
          <a:bodyPr wrap="square" rtlCol="0" anchor="t"/>
          <a:lstStyle/>
          <a:p>
            <a:pPr indent="0" marL="0">
              <a:buNone/>
            </a:pPr>
            <a:r>
              <a:rPr lang="en-US" sz="1100" dirty="0">
                <a:solidFill>
                  <a:srgbClr val="6A7177"/>
                </a:solidFill>
                <a:latin typeface="Poppins" pitchFamily="34" charset="0"/>
                <a:ea typeface="Poppins" pitchFamily="34" charset="-122"/>
                <a:cs typeface="Poppins" pitchFamily="34" charset="-120"/>
              </a:rPr>
              <a:t>Kode diperbaiki, tiap perbaikan jadi commit git terpisah</a:t>
            </a:r>
            <a:endParaRPr lang="en-US" sz="1100" dirty="0"/>
          </a:p>
        </p:txBody>
      </p:sp>
      <p:sp>
        <p:nvSpPr>
          <p:cNvPr id="17" name="Shape 15"/>
          <p:cNvSpPr/>
          <p:nvPr/>
        </p:nvSpPr>
        <p:spPr>
          <a:xfrm>
            <a:off x="9018041" y="1783080"/>
            <a:ext cx="2442134" cy="2103120"/>
          </a:xfrm>
          <a:prstGeom prst="roundRect">
            <a:avLst>
              <a:gd name="adj" fmla="val 4348"/>
            </a:avLst>
          </a:prstGeom>
          <a:solidFill>
            <a:srgbClr val="0F2E3B"/>
          </a:solidFill>
          <a:ln w="12700">
            <a:solidFill>
              <a:srgbClr val="0F2E3B"/>
            </a:solidFill>
            <a:prstDash val="solid"/>
          </a:ln>
        </p:spPr>
      </p:sp>
      <p:sp>
        <p:nvSpPr>
          <p:cNvPr id="18" name="Text 16"/>
          <p:cNvSpPr/>
          <p:nvPr/>
        </p:nvSpPr>
        <p:spPr>
          <a:xfrm>
            <a:off x="9292361" y="1920240"/>
            <a:ext cx="914400" cy="548640"/>
          </a:xfrm>
          <a:prstGeom prst="rect">
            <a:avLst/>
          </a:prstGeom>
          <a:noFill/>
          <a:ln/>
        </p:spPr>
        <p:txBody>
          <a:bodyPr wrap="square" rtlCol="0" anchor="ctr"/>
          <a:lstStyle/>
          <a:p>
            <a:pPr indent="0" marL="0">
              <a:buNone/>
            </a:pPr>
            <a:r>
              <a:rPr lang="en-US" sz="2600" dirty="0">
                <a:solidFill>
                  <a:srgbClr val="15B3A6"/>
                </a:solidFill>
                <a:latin typeface="Poppins ExtraBold" pitchFamily="34" charset="0"/>
                <a:ea typeface="Poppins ExtraBold" pitchFamily="34" charset="-122"/>
                <a:cs typeface="Poppins ExtraBold" pitchFamily="34" charset="-120"/>
              </a:rPr>
              <a:t>04</a:t>
            </a:r>
            <a:endParaRPr lang="en-US" sz="2600" dirty="0"/>
          </a:p>
        </p:txBody>
      </p:sp>
      <p:sp>
        <p:nvSpPr>
          <p:cNvPr id="19" name="Text 17"/>
          <p:cNvSpPr/>
          <p:nvPr/>
        </p:nvSpPr>
        <p:spPr>
          <a:xfrm>
            <a:off x="9292361" y="2487168"/>
            <a:ext cx="1984934" cy="365760"/>
          </a:xfrm>
          <a:prstGeom prst="rect">
            <a:avLst/>
          </a:prstGeom>
          <a:noFill/>
          <a:ln/>
        </p:spPr>
        <p:txBody>
          <a:bodyPr wrap="square" rtlCol="0" anchor="ctr"/>
          <a:lstStyle/>
          <a:p>
            <a:pPr indent="0" marL="0">
              <a:buNone/>
            </a:pPr>
            <a:r>
              <a:rPr lang="en-US" sz="1500" dirty="0">
                <a:solidFill>
                  <a:srgbClr val="FFFFFF"/>
                </a:solidFill>
                <a:latin typeface="Poppins SemiBold" pitchFamily="34" charset="0"/>
                <a:ea typeface="Poppins SemiBold" pitchFamily="34" charset="-122"/>
                <a:cs typeface="Poppins SemiBold" pitchFamily="34" charset="-120"/>
              </a:rPr>
              <a:t>Re-scan</a:t>
            </a:r>
            <a:endParaRPr lang="en-US" sz="1500" dirty="0"/>
          </a:p>
        </p:txBody>
      </p:sp>
      <p:sp>
        <p:nvSpPr>
          <p:cNvPr id="20" name="Text 18"/>
          <p:cNvSpPr/>
          <p:nvPr/>
        </p:nvSpPr>
        <p:spPr>
          <a:xfrm>
            <a:off x="9292361" y="2852928"/>
            <a:ext cx="1984934" cy="914400"/>
          </a:xfrm>
          <a:prstGeom prst="rect">
            <a:avLst/>
          </a:prstGeom>
          <a:noFill/>
          <a:ln/>
        </p:spPr>
        <p:txBody>
          <a:bodyPr wrap="square" rtlCol="0" anchor="t"/>
          <a:lstStyle/>
          <a:p>
            <a:pPr indent="0" marL="0">
              <a:buNone/>
            </a:pPr>
            <a:r>
              <a:rPr lang="en-US" sz="1100" dirty="0">
                <a:solidFill>
                  <a:srgbClr val="B9D4D4"/>
                </a:solidFill>
                <a:latin typeface="Poppins" pitchFamily="34" charset="0"/>
                <a:ea typeface="Poppins" pitchFamily="34" charset="-122"/>
                <a:cs typeface="Poppins" pitchFamily="34" charset="-120"/>
              </a:rPr>
              <a:t>Kode hasil perbaikan di-scan ke project uts-kelompok6-blog-sesudah</a:t>
            </a:r>
            <a:endParaRPr lang="en-US" sz="1100" dirty="0"/>
          </a:p>
        </p:txBody>
      </p:sp>
      <p:sp>
        <p:nvSpPr>
          <p:cNvPr id="21" name="Text 19"/>
          <p:cNvSpPr/>
          <p:nvPr/>
        </p:nvSpPr>
        <p:spPr>
          <a:xfrm>
            <a:off x="731520" y="4206240"/>
            <a:ext cx="5669280" cy="237744"/>
          </a:xfrm>
          <a:prstGeom prst="rect">
            <a:avLst/>
          </a:prstGeom>
          <a:noFill/>
          <a:ln/>
        </p:spPr>
        <p:txBody>
          <a:bodyPr wrap="square" rtlCol="0" anchor="ctr"/>
          <a:lstStyle/>
          <a:p>
            <a:pPr indent="0" marL="0">
              <a:buNone/>
            </a:pPr>
            <a:r>
              <a:rPr lang="en-US" sz="950" spc="100" kern="0" dirty="0">
                <a:solidFill>
                  <a:srgbClr val="0E8F84"/>
                </a:solidFill>
                <a:latin typeface="Poppins SemiBold" pitchFamily="34" charset="0"/>
                <a:ea typeface="Poppins SemiBold" pitchFamily="34" charset="-122"/>
                <a:cs typeface="Poppins SemiBold" pitchFamily="34" charset="-120"/>
              </a:rPr>
              <a:t>SERVER</a:t>
            </a:r>
            <a:endParaRPr lang="en-US" sz="950" dirty="0"/>
          </a:p>
        </p:txBody>
      </p:sp>
      <p:sp>
        <p:nvSpPr>
          <p:cNvPr id="22" name="Text 20"/>
          <p:cNvSpPr/>
          <p:nvPr/>
        </p:nvSpPr>
        <p:spPr>
          <a:xfrm>
            <a:off x="731520" y="4425696"/>
            <a:ext cx="5669280" cy="365760"/>
          </a:xfrm>
          <a:prstGeom prst="rect">
            <a:avLst/>
          </a:prstGeom>
          <a:noFill/>
          <a:ln/>
        </p:spPr>
        <p:txBody>
          <a:bodyPr wrap="square" rtlCol="0" anchor="ctr"/>
          <a:lstStyle/>
          <a:p>
            <a:pPr indent="0" marL="0">
              <a:buNone/>
            </a:pPr>
            <a:r>
              <a:rPr lang="en-US" sz="1250" dirty="0">
                <a:solidFill>
                  <a:srgbClr val="1A1E24"/>
                </a:solidFill>
                <a:latin typeface="Poppins Medium" pitchFamily="34" charset="0"/>
                <a:ea typeface="Poppins Medium" pitchFamily="34" charset="-122"/>
                <a:cs typeface="Poppins Medium" pitchFamily="34" charset="-120"/>
              </a:rPr>
              <a:t>sonarqube.cyphera.my.id · Community Build v26.9.0</a:t>
            </a:r>
            <a:endParaRPr lang="en-US" sz="1250" dirty="0"/>
          </a:p>
        </p:txBody>
      </p:sp>
      <p:sp>
        <p:nvSpPr>
          <p:cNvPr id="23" name="Shape 21"/>
          <p:cNvSpPr/>
          <p:nvPr/>
        </p:nvSpPr>
        <p:spPr>
          <a:xfrm>
            <a:off x="731520" y="4809744"/>
            <a:ext cx="5669280" cy="7315"/>
          </a:xfrm>
          <a:prstGeom prst="rect">
            <a:avLst/>
          </a:prstGeom>
          <a:solidFill>
            <a:srgbClr val="E3E8E9"/>
          </a:solidFill>
          <a:ln/>
        </p:spPr>
      </p:sp>
      <p:sp>
        <p:nvSpPr>
          <p:cNvPr id="24" name="Text 22"/>
          <p:cNvSpPr/>
          <p:nvPr/>
        </p:nvSpPr>
        <p:spPr>
          <a:xfrm>
            <a:off x="731520" y="4864608"/>
            <a:ext cx="5669280" cy="237744"/>
          </a:xfrm>
          <a:prstGeom prst="rect">
            <a:avLst/>
          </a:prstGeom>
          <a:noFill/>
          <a:ln/>
        </p:spPr>
        <p:txBody>
          <a:bodyPr wrap="square" rtlCol="0" anchor="ctr"/>
          <a:lstStyle/>
          <a:p>
            <a:pPr indent="0" marL="0">
              <a:buNone/>
            </a:pPr>
            <a:r>
              <a:rPr lang="en-US" sz="950" spc="100" kern="0" dirty="0">
                <a:solidFill>
                  <a:srgbClr val="0E8F84"/>
                </a:solidFill>
                <a:latin typeface="Poppins SemiBold" pitchFamily="34" charset="0"/>
                <a:ea typeface="Poppins SemiBold" pitchFamily="34" charset="-122"/>
                <a:cs typeface="Poppins SemiBold" pitchFamily="34" charset="-120"/>
              </a:rPr>
              <a:t>SCANNER</a:t>
            </a:r>
            <a:endParaRPr lang="en-US" sz="950" dirty="0"/>
          </a:p>
        </p:txBody>
      </p:sp>
      <p:sp>
        <p:nvSpPr>
          <p:cNvPr id="25" name="Text 23"/>
          <p:cNvSpPr/>
          <p:nvPr/>
        </p:nvSpPr>
        <p:spPr>
          <a:xfrm>
            <a:off x="731520" y="5084064"/>
            <a:ext cx="5669280" cy="365760"/>
          </a:xfrm>
          <a:prstGeom prst="rect">
            <a:avLst/>
          </a:prstGeom>
          <a:noFill/>
          <a:ln/>
        </p:spPr>
        <p:txBody>
          <a:bodyPr wrap="square" rtlCol="0" anchor="ctr"/>
          <a:lstStyle/>
          <a:p>
            <a:pPr indent="0" marL="0">
              <a:buNone/>
            </a:pPr>
            <a:r>
              <a:rPr lang="en-US" sz="1250" dirty="0">
                <a:solidFill>
                  <a:srgbClr val="1A1E24"/>
                </a:solidFill>
                <a:latin typeface="Poppins Medium" pitchFamily="34" charset="0"/>
                <a:ea typeface="Poppins Medium" pitchFamily="34" charset="-122"/>
                <a:cs typeface="Poppins Medium" pitchFamily="34" charset="-120"/>
              </a:rPr>
              <a:t>SonarScanner CLI 7.2.0 · Profile &amp; Gate "Sonar way"</a:t>
            </a:r>
            <a:endParaRPr lang="en-US" sz="1250" dirty="0"/>
          </a:p>
        </p:txBody>
      </p:sp>
      <p:sp>
        <p:nvSpPr>
          <p:cNvPr id="26" name="Shape 24"/>
          <p:cNvSpPr/>
          <p:nvPr/>
        </p:nvSpPr>
        <p:spPr>
          <a:xfrm>
            <a:off x="731520" y="5468112"/>
            <a:ext cx="5669280" cy="7315"/>
          </a:xfrm>
          <a:prstGeom prst="rect">
            <a:avLst/>
          </a:prstGeom>
          <a:solidFill>
            <a:srgbClr val="E3E8E9"/>
          </a:solidFill>
          <a:ln/>
        </p:spPr>
      </p:sp>
      <p:sp>
        <p:nvSpPr>
          <p:cNvPr id="27" name="Shape 25"/>
          <p:cNvSpPr/>
          <p:nvPr/>
        </p:nvSpPr>
        <p:spPr>
          <a:xfrm>
            <a:off x="6766560" y="4206240"/>
            <a:ext cx="4693615" cy="1783080"/>
          </a:xfrm>
          <a:prstGeom prst="roundRect">
            <a:avLst>
              <a:gd name="adj" fmla="val 3077"/>
            </a:avLst>
          </a:prstGeom>
          <a:solidFill>
            <a:srgbClr val="0E2A32"/>
          </a:solidFill>
          <a:ln/>
        </p:spPr>
      </p:sp>
      <p:sp>
        <p:nvSpPr>
          <p:cNvPr id="28" name="Shape 26"/>
          <p:cNvSpPr/>
          <p:nvPr/>
        </p:nvSpPr>
        <p:spPr>
          <a:xfrm>
            <a:off x="6766560" y="4334256"/>
            <a:ext cx="64008" cy="1527048"/>
          </a:xfrm>
          <a:prstGeom prst="rect">
            <a:avLst/>
          </a:prstGeom>
          <a:solidFill>
            <a:srgbClr val="15B3A6"/>
          </a:solidFill>
          <a:ln/>
        </p:spPr>
      </p:sp>
      <p:sp>
        <p:nvSpPr>
          <p:cNvPr id="29" name="Text 27"/>
          <p:cNvSpPr/>
          <p:nvPr/>
        </p:nvSpPr>
        <p:spPr>
          <a:xfrm>
            <a:off x="7040880" y="4352544"/>
            <a:ext cx="4236415" cy="1490472"/>
          </a:xfrm>
          <a:prstGeom prst="rect">
            <a:avLst/>
          </a:prstGeom>
          <a:noFill/>
          <a:ln/>
        </p:spPr>
        <p:txBody>
          <a:bodyPr wrap="square" rtlCol="0" anchor="t"/>
          <a:lstStyle/>
          <a:p>
            <a:pPr indent="0" marL="0">
              <a:lnSpc>
                <a:spcPct val="114000"/>
              </a:lnSpc>
              <a:buNone/>
            </a:pPr>
            <a:r>
              <a:rPr lang="en-US" sz="1050" dirty="0">
                <a:solidFill>
                  <a:srgbClr val="CFE6E6"/>
                </a:solidFill>
                <a:latin typeface="Consolas" pitchFamily="34" charset="0"/>
                <a:ea typeface="Consolas" pitchFamily="34" charset="-122"/>
                <a:cs typeface="Consolas" pitchFamily="34" charset="-120"/>
              </a:rPr>
              <a:t>sonar-scanner \</a:t>
            </a:r>
            <a:endParaRPr lang="en-US" sz="1050" dirty="0"/>
          </a:p>
          <a:p>
            <a:pPr indent="0" marL="0">
              <a:lnSpc>
                <a:spcPct val="114000"/>
              </a:lnSpc>
              <a:buNone/>
            </a:pPr>
            <a:r>
              <a:rPr lang="en-US" sz="1050" dirty="0">
                <a:solidFill>
                  <a:srgbClr val="CFE6E6"/>
                </a:solidFill>
                <a:latin typeface="Consolas" pitchFamily="34" charset="0"/>
                <a:ea typeface="Consolas" pitchFamily="34" charset="-122"/>
                <a:cs typeface="Consolas" pitchFamily="34" charset="-120"/>
              </a:rPr>
              <a:t>  -Dsonar.host.url=https://sonarqube.cyphera.my.id \</a:t>
            </a:r>
            <a:endParaRPr lang="en-US" sz="1050" dirty="0"/>
          </a:p>
          <a:p>
            <a:pPr indent="0" marL="0">
              <a:lnSpc>
                <a:spcPct val="114000"/>
              </a:lnSpc>
              <a:buNone/>
            </a:pPr>
            <a:r>
              <a:rPr lang="en-US" sz="1050" dirty="0">
                <a:solidFill>
                  <a:srgbClr val="CFE6E6"/>
                </a:solidFill>
                <a:latin typeface="Consolas" pitchFamily="34" charset="0"/>
                <a:ea typeface="Consolas" pitchFamily="34" charset="-122"/>
                <a:cs typeface="Consolas" pitchFamily="34" charset="-120"/>
              </a:rPr>
              <a:t>  -Dsonar.token=&lt;ANALYSIS_TOKEN&gt; \</a:t>
            </a:r>
            <a:endParaRPr lang="en-US" sz="1050" dirty="0"/>
          </a:p>
          <a:p>
            <a:pPr indent="0" marL="0">
              <a:lnSpc>
                <a:spcPct val="114000"/>
              </a:lnSpc>
              <a:buNone/>
            </a:pPr>
            <a:r>
              <a:rPr lang="en-US" sz="1050" dirty="0">
                <a:solidFill>
                  <a:srgbClr val="CFE6E6"/>
                </a:solidFill>
                <a:latin typeface="Consolas" pitchFamily="34" charset="0"/>
                <a:ea typeface="Consolas" pitchFamily="34" charset="-122"/>
                <a:cs typeface="Consolas" pitchFamily="34" charset="-120"/>
              </a:rPr>
              <a:t>  -Dsonar.projectKey=uts-kelompok6-blog-sebelum \</a:t>
            </a:r>
            <a:endParaRPr lang="en-US" sz="1050" dirty="0"/>
          </a:p>
          <a:p>
            <a:pPr indent="0" marL="0">
              <a:lnSpc>
                <a:spcPct val="114000"/>
              </a:lnSpc>
              <a:buNone/>
            </a:pPr>
            <a:r>
              <a:rPr lang="en-US" sz="1050" dirty="0">
                <a:solidFill>
                  <a:srgbClr val="CFE6E6"/>
                </a:solidFill>
                <a:latin typeface="Consolas" pitchFamily="34" charset="0"/>
                <a:ea typeface="Consolas" pitchFamily="34" charset="-122"/>
                <a:cs typeface="Consolas" pitchFamily="34" charset="-120"/>
              </a:rPr>
              <a:t>  -Dsonar.sources=app,routes,config</a:t>
            </a:r>
            <a:endParaRPr lang="en-US" sz="1050" dirty="0"/>
          </a:p>
        </p:txBody>
      </p:sp>
      <p:sp>
        <p:nvSpPr>
          <p:cNvPr id="30" name="Text 28"/>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31" name="Text 29"/>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HASIL SCANNING</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Dashboard Sebelum Perbaikan</a:t>
            </a:r>
            <a:endParaRPr lang="en-US" sz="2700" dirty="0"/>
          </a:p>
        </p:txBody>
      </p:sp>
      <p:sp>
        <p:nvSpPr>
          <p:cNvPr id="5" name="Shape 3"/>
          <p:cNvSpPr/>
          <p:nvPr/>
        </p:nvSpPr>
        <p:spPr>
          <a:xfrm>
            <a:off x="941304" y="1636776"/>
            <a:ext cx="5889791" cy="4453128"/>
          </a:xfrm>
          <a:prstGeom prst="roundRect">
            <a:avLst>
              <a:gd name="adj" fmla="val 1232"/>
            </a:avLst>
          </a:prstGeom>
          <a:solidFill>
            <a:srgbClr val="FFFFFF"/>
          </a:solidFill>
          <a:ln w="12700">
            <a:solidFill>
              <a:srgbClr val="E3E8E9"/>
            </a:solidFill>
            <a:prstDash val="solid"/>
          </a:ln>
        </p:spPr>
      </p:sp>
      <p:pic>
        <p:nvPicPr>
          <p:cNvPr id="6" name="Image 0" descr="Screenshot SonarQube">    </p:cNvPr>
          <p:cNvPicPr>
            <a:picLocks noChangeAspect="1"/>
          </p:cNvPicPr>
          <p:nvPr/>
        </p:nvPicPr>
        <p:blipFill>
          <a:blip r:embed="rId1"/>
          <a:stretch>
            <a:fillRect/>
          </a:stretch>
        </p:blipFill>
        <p:spPr>
          <a:xfrm>
            <a:off x="996168" y="1691640"/>
            <a:ext cx="5780063" cy="4343400"/>
          </a:xfrm>
          <a:prstGeom prst="rect">
            <a:avLst/>
          </a:prstGeom>
        </p:spPr>
      </p:pic>
      <p:sp>
        <p:nvSpPr>
          <p:cNvPr id="7" name="Text 4"/>
          <p:cNvSpPr/>
          <p:nvPr/>
        </p:nvSpPr>
        <p:spPr>
          <a:xfrm>
            <a:off x="996168" y="6126480"/>
            <a:ext cx="5780063" cy="274320"/>
          </a:xfrm>
          <a:prstGeom prst="rect">
            <a:avLst/>
          </a:prstGeom>
          <a:noFill/>
          <a:ln/>
        </p:spPr>
        <p:txBody>
          <a:bodyPr wrap="square" rtlCol="0" anchor="ctr"/>
          <a:lstStyle/>
          <a:p>
            <a:pPr algn="ctr" indent="0" marL="0">
              <a:buNone/>
            </a:pPr>
            <a:r>
              <a:rPr lang="en-US" sz="950" i="1" dirty="0">
                <a:solidFill>
                  <a:srgbClr val="6A7177"/>
                </a:solidFill>
                <a:latin typeface="Poppins" pitchFamily="34" charset="0"/>
                <a:ea typeface="Poppins" pitchFamily="34" charset="-122"/>
                <a:cs typeface="Poppins" pitchFamily="34" charset="-120"/>
              </a:rPr>
              <a:t>Dashboard project uts-kelompok6-blog-sebelum</a:t>
            </a:r>
            <a:endParaRPr lang="en-US" sz="950" dirty="0"/>
          </a:p>
        </p:txBody>
      </p:sp>
      <p:sp>
        <p:nvSpPr>
          <p:cNvPr id="8" name="Shape 5"/>
          <p:cNvSpPr/>
          <p:nvPr/>
        </p:nvSpPr>
        <p:spPr>
          <a:xfrm>
            <a:off x="7406640" y="1737360"/>
            <a:ext cx="4053535" cy="914400"/>
          </a:xfrm>
          <a:prstGeom prst="roundRect">
            <a:avLst>
              <a:gd name="adj" fmla="val 10000"/>
            </a:avLst>
          </a:prstGeom>
          <a:solidFill>
            <a:srgbClr val="FFFFFF"/>
          </a:solidFill>
          <a:ln w="12700">
            <a:solidFill>
              <a:srgbClr val="E3E8E9"/>
            </a:solidFill>
            <a:prstDash val="solid"/>
          </a:ln>
        </p:spPr>
      </p:sp>
      <p:sp>
        <p:nvSpPr>
          <p:cNvPr id="9" name="Text 6"/>
          <p:cNvSpPr/>
          <p:nvPr/>
        </p:nvSpPr>
        <p:spPr>
          <a:xfrm>
            <a:off x="7635240" y="1737360"/>
            <a:ext cx="1188720" cy="914400"/>
          </a:xfrm>
          <a:prstGeom prst="rect">
            <a:avLst/>
          </a:prstGeom>
          <a:noFill/>
          <a:ln/>
        </p:spPr>
        <p:txBody>
          <a:bodyPr wrap="square" rtlCol="0" anchor="ctr"/>
          <a:lstStyle/>
          <a:p>
            <a:pPr indent="0" marL="0">
              <a:buNone/>
            </a:pPr>
            <a:r>
              <a:rPr lang="en-US" sz="3800" dirty="0">
                <a:solidFill>
                  <a:srgbClr val="1A1E24"/>
                </a:solidFill>
                <a:latin typeface="Poppins ExtraBold" pitchFamily="34" charset="0"/>
                <a:ea typeface="Poppins ExtraBold" pitchFamily="34" charset="-122"/>
                <a:cs typeface="Poppins ExtraBold" pitchFamily="34" charset="-120"/>
              </a:rPr>
              <a:t>8</a:t>
            </a:r>
            <a:endParaRPr lang="en-US" sz="3800" dirty="0"/>
          </a:p>
        </p:txBody>
      </p:sp>
      <p:sp>
        <p:nvSpPr>
          <p:cNvPr id="10" name="Text 7"/>
          <p:cNvSpPr/>
          <p:nvPr/>
        </p:nvSpPr>
        <p:spPr>
          <a:xfrm>
            <a:off x="8869680" y="1737360"/>
            <a:ext cx="2407615" cy="914400"/>
          </a:xfrm>
          <a:prstGeom prst="rect">
            <a:avLst/>
          </a:prstGeom>
          <a:noFill/>
          <a:ln/>
        </p:spPr>
        <p:txBody>
          <a:bodyPr wrap="square" rtlCol="0" anchor="ctr"/>
          <a:lstStyle/>
          <a:p>
            <a:pPr indent="0" marL="0">
              <a:buNone/>
            </a:pPr>
            <a:r>
              <a:rPr lang="en-US" sz="1200" spc="100" kern="0" dirty="0">
                <a:solidFill>
                  <a:srgbClr val="6A7177"/>
                </a:solidFill>
                <a:latin typeface="Poppins SemiBold" pitchFamily="34" charset="0"/>
                <a:ea typeface="Poppins SemiBold" pitchFamily="34" charset="-122"/>
                <a:cs typeface="Poppins SemiBold" pitchFamily="34" charset="-120"/>
              </a:rPr>
              <a:t>TOTAL ISSUE</a:t>
            </a:r>
            <a:endParaRPr lang="en-US" sz="1200" dirty="0"/>
          </a:p>
        </p:txBody>
      </p:sp>
      <p:sp>
        <p:nvSpPr>
          <p:cNvPr id="11" name="Shape 8"/>
          <p:cNvSpPr/>
          <p:nvPr/>
        </p:nvSpPr>
        <p:spPr>
          <a:xfrm>
            <a:off x="7406640" y="2834640"/>
            <a:ext cx="4053535" cy="914400"/>
          </a:xfrm>
          <a:prstGeom prst="roundRect">
            <a:avLst>
              <a:gd name="adj" fmla="val 10000"/>
            </a:avLst>
          </a:prstGeom>
          <a:solidFill>
            <a:srgbClr val="FFFFFF"/>
          </a:solidFill>
          <a:ln w="12700">
            <a:solidFill>
              <a:srgbClr val="E3E8E9"/>
            </a:solidFill>
            <a:prstDash val="solid"/>
          </a:ln>
        </p:spPr>
      </p:sp>
      <p:sp>
        <p:nvSpPr>
          <p:cNvPr id="12" name="Text 9"/>
          <p:cNvSpPr/>
          <p:nvPr/>
        </p:nvSpPr>
        <p:spPr>
          <a:xfrm>
            <a:off x="7635240" y="2834640"/>
            <a:ext cx="1188720" cy="914400"/>
          </a:xfrm>
          <a:prstGeom prst="rect">
            <a:avLst/>
          </a:prstGeom>
          <a:noFill/>
          <a:ln/>
        </p:spPr>
        <p:txBody>
          <a:bodyPr wrap="square" rtlCol="0" anchor="ctr"/>
          <a:lstStyle/>
          <a:p>
            <a:pPr indent="0" marL="0">
              <a:buNone/>
            </a:pPr>
            <a:r>
              <a:rPr lang="en-US" sz="3800" dirty="0">
                <a:solidFill>
                  <a:srgbClr val="DB4A4A"/>
                </a:solidFill>
                <a:latin typeface="Poppins ExtraBold" pitchFamily="34" charset="0"/>
                <a:ea typeface="Poppins ExtraBold" pitchFamily="34" charset="-122"/>
                <a:cs typeface="Poppins ExtraBold" pitchFamily="34" charset="-120"/>
              </a:rPr>
              <a:t>5</a:t>
            </a:r>
            <a:endParaRPr lang="en-US" sz="3800" dirty="0"/>
          </a:p>
        </p:txBody>
      </p:sp>
      <p:sp>
        <p:nvSpPr>
          <p:cNvPr id="13" name="Text 10"/>
          <p:cNvSpPr/>
          <p:nvPr/>
        </p:nvSpPr>
        <p:spPr>
          <a:xfrm>
            <a:off x="8869680" y="2834640"/>
            <a:ext cx="2407615" cy="914400"/>
          </a:xfrm>
          <a:prstGeom prst="rect">
            <a:avLst/>
          </a:prstGeom>
          <a:noFill/>
          <a:ln/>
        </p:spPr>
        <p:txBody>
          <a:bodyPr wrap="square" rtlCol="0" anchor="ctr"/>
          <a:lstStyle/>
          <a:p>
            <a:pPr indent="0" marL="0">
              <a:buNone/>
            </a:pPr>
            <a:r>
              <a:rPr lang="en-US" sz="1200" spc="100" kern="0" dirty="0">
                <a:solidFill>
                  <a:srgbClr val="6A7177"/>
                </a:solidFill>
                <a:latin typeface="Poppins SemiBold" pitchFamily="34" charset="0"/>
                <a:ea typeface="Poppins SemiBold" pitchFamily="34" charset="-122"/>
                <a:cs typeface="Poppins SemiBold" pitchFamily="34" charset="-120"/>
              </a:rPr>
              <a:t>SECURITY</a:t>
            </a:r>
            <a:endParaRPr lang="en-US" sz="1200" dirty="0"/>
          </a:p>
        </p:txBody>
      </p:sp>
      <p:sp>
        <p:nvSpPr>
          <p:cNvPr id="14" name="Shape 11"/>
          <p:cNvSpPr/>
          <p:nvPr/>
        </p:nvSpPr>
        <p:spPr>
          <a:xfrm>
            <a:off x="7406640" y="3931920"/>
            <a:ext cx="4053535" cy="914400"/>
          </a:xfrm>
          <a:prstGeom prst="roundRect">
            <a:avLst>
              <a:gd name="adj" fmla="val 10000"/>
            </a:avLst>
          </a:prstGeom>
          <a:solidFill>
            <a:srgbClr val="FFFFFF"/>
          </a:solidFill>
          <a:ln w="12700">
            <a:solidFill>
              <a:srgbClr val="E3E8E9"/>
            </a:solidFill>
            <a:prstDash val="solid"/>
          </a:ln>
        </p:spPr>
      </p:sp>
      <p:sp>
        <p:nvSpPr>
          <p:cNvPr id="15" name="Text 12"/>
          <p:cNvSpPr/>
          <p:nvPr/>
        </p:nvSpPr>
        <p:spPr>
          <a:xfrm>
            <a:off x="7635240" y="3931920"/>
            <a:ext cx="1188720" cy="914400"/>
          </a:xfrm>
          <a:prstGeom prst="rect">
            <a:avLst/>
          </a:prstGeom>
          <a:noFill/>
          <a:ln/>
        </p:spPr>
        <p:txBody>
          <a:bodyPr wrap="square" rtlCol="0" anchor="ctr"/>
          <a:lstStyle/>
          <a:p>
            <a:pPr indent="0" marL="0">
              <a:buNone/>
            </a:pPr>
            <a:r>
              <a:rPr lang="en-US" sz="3800" dirty="0">
                <a:solidFill>
                  <a:srgbClr val="B71C1C"/>
                </a:solidFill>
                <a:latin typeface="Poppins ExtraBold" pitchFamily="34" charset="0"/>
                <a:ea typeface="Poppins ExtraBold" pitchFamily="34" charset="-122"/>
                <a:cs typeface="Poppins ExtraBold" pitchFamily="34" charset="-120"/>
              </a:rPr>
              <a:t>E</a:t>
            </a:r>
            <a:endParaRPr lang="en-US" sz="3800" dirty="0"/>
          </a:p>
        </p:txBody>
      </p:sp>
      <p:sp>
        <p:nvSpPr>
          <p:cNvPr id="16" name="Text 13"/>
          <p:cNvSpPr/>
          <p:nvPr/>
        </p:nvSpPr>
        <p:spPr>
          <a:xfrm>
            <a:off x="8869680" y="3931920"/>
            <a:ext cx="2407615" cy="914400"/>
          </a:xfrm>
          <a:prstGeom prst="rect">
            <a:avLst/>
          </a:prstGeom>
          <a:noFill/>
          <a:ln/>
        </p:spPr>
        <p:txBody>
          <a:bodyPr wrap="square" rtlCol="0" anchor="ctr"/>
          <a:lstStyle/>
          <a:p>
            <a:pPr indent="0" marL="0">
              <a:buNone/>
            </a:pPr>
            <a:r>
              <a:rPr lang="en-US" sz="1200" spc="100" kern="0" dirty="0">
                <a:solidFill>
                  <a:srgbClr val="6A7177"/>
                </a:solidFill>
                <a:latin typeface="Poppins SemiBold" pitchFamily="34" charset="0"/>
                <a:ea typeface="Poppins SemiBold" pitchFamily="34" charset="-122"/>
                <a:cs typeface="Poppins SemiBold" pitchFamily="34" charset="-120"/>
              </a:rPr>
              <a:t>SECURITY RATING</a:t>
            </a:r>
            <a:endParaRPr lang="en-US" sz="1200" dirty="0"/>
          </a:p>
        </p:txBody>
      </p:sp>
      <p:sp>
        <p:nvSpPr>
          <p:cNvPr id="17" name="Shape 14"/>
          <p:cNvSpPr/>
          <p:nvPr/>
        </p:nvSpPr>
        <p:spPr>
          <a:xfrm>
            <a:off x="7406640" y="5074920"/>
            <a:ext cx="4053535" cy="1051560"/>
          </a:xfrm>
          <a:prstGeom prst="roundRect">
            <a:avLst>
              <a:gd name="adj" fmla="val 8696"/>
            </a:avLst>
          </a:prstGeom>
          <a:solidFill>
            <a:srgbClr val="EEF3F4"/>
          </a:solidFill>
          <a:ln/>
        </p:spPr>
      </p:sp>
      <p:sp>
        <p:nvSpPr>
          <p:cNvPr id="18" name="Shape 15"/>
          <p:cNvSpPr/>
          <p:nvPr/>
        </p:nvSpPr>
        <p:spPr>
          <a:xfrm>
            <a:off x="7406640" y="5074920"/>
            <a:ext cx="91440" cy="1051560"/>
          </a:xfrm>
          <a:prstGeom prst="roundRect">
            <a:avLst>
              <a:gd name="adj" fmla="val 50000"/>
            </a:avLst>
          </a:prstGeom>
          <a:solidFill>
            <a:srgbClr val="15B3A6"/>
          </a:solidFill>
          <a:ln/>
        </p:spPr>
      </p:sp>
      <p:sp>
        <p:nvSpPr>
          <p:cNvPr id="19" name="Text 16"/>
          <p:cNvSpPr/>
          <p:nvPr/>
        </p:nvSpPr>
        <p:spPr>
          <a:xfrm>
            <a:off x="7726680" y="5221224"/>
            <a:ext cx="3596335" cy="274320"/>
          </a:xfrm>
          <a:prstGeom prst="rect">
            <a:avLst/>
          </a:prstGeom>
          <a:noFill/>
          <a:ln/>
        </p:spPr>
        <p:txBody>
          <a:bodyPr wrap="square" rtlCol="0" anchor="ctr"/>
          <a:lstStyle/>
          <a:p>
            <a:pPr indent="0" marL="0">
              <a:buNone/>
            </a:pPr>
            <a:r>
              <a:rPr lang="en-US" sz="1000" spc="100" kern="0" dirty="0">
                <a:solidFill>
                  <a:srgbClr val="0E8F84"/>
                </a:solidFill>
                <a:latin typeface="Poppins SemiBold" pitchFamily="34" charset="0"/>
                <a:ea typeface="Poppins SemiBold" pitchFamily="34" charset="-122"/>
                <a:cs typeface="Poppins SemiBold" pitchFamily="34" charset="-120"/>
              </a:rPr>
              <a:t>LIMITED SECURITY ANALYSIS</a:t>
            </a:r>
            <a:endParaRPr lang="en-US" sz="1000" dirty="0"/>
          </a:p>
        </p:txBody>
      </p:sp>
      <p:sp>
        <p:nvSpPr>
          <p:cNvPr id="20" name="Text 17"/>
          <p:cNvSpPr/>
          <p:nvPr/>
        </p:nvSpPr>
        <p:spPr>
          <a:xfrm>
            <a:off x="7726680" y="5495544"/>
            <a:ext cx="3550615" cy="539496"/>
          </a:xfrm>
          <a:prstGeom prst="rect">
            <a:avLst/>
          </a:prstGeom>
          <a:noFill/>
          <a:ln/>
        </p:spPr>
        <p:txBody>
          <a:bodyPr wrap="square" rtlCol="0" anchor="t"/>
          <a:lstStyle/>
          <a:p>
            <a:pPr indent="0" marL="0">
              <a:lnSpc>
                <a:spcPct val="115000"/>
              </a:lnSpc>
              <a:buNone/>
            </a:pPr>
            <a:r>
              <a:rPr lang="en-US" sz="1200" dirty="0">
                <a:solidFill>
                  <a:srgbClr val="1A1E24"/>
                </a:solidFill>
                <a:latin typeface="Poppins" pitchFamily="34" charset="0"/>
                <a:ea typeface="Poppins" pitchFamily="34" charset="-122"/>
                <a:cs typeface="Poppins" pitchFamily="34" charset="-120"/>
              </a:rPr>
              <a:t>Community Build tidak menjalankan taint analysis, jadi SQL Injection dan sejenisnya tidak dilaporkan.</a:t>
            </a:r>
            <a:endParaRPr lang="en-US" sz="1200" dirty="0"/>
          </a:p>
        </p:txBody>
      </p:sp>
      <p:sp>
        <p:nvSpPr>
          <p:cNvPr id="21" name="Text 18"/>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22" name="Text 19"/>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RINGKASAN TEMUAN</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Jumlah per Kategori per Severity</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783080"/>
          <a:ext cx="6766560" cy="914400"/>
        </p:xfrm>
        <a:graphic>
          <a:graphicData uri="http://schemas.openxmlformats.org/drawingml/2006/table">
            <a:tbl>
              <a:tblPr/>
              <a:tblGrid>
                <a:gridCol w="1737360"/>
                <a:gridCol w="822960"/>
                <a:gridCol w="777240"/>
                <a:gridCol w="960120"/>
                <a:gridCol w="777240"/>
                <a:gridCol w="777240"/>
                <a:gridCol w="914400"/>
              </a:tblGrid>
              <a:tr h="502920">
                <a:tc>
                  <a:txBody>
                    <a:bodyPr/>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Kategori</a:t>
                      </a:r>
                      <a:endParaRPr lang="en-US" sz="11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0F2E3B"/>
                    </a:solidFill>
                  </a:tcPr>
                </a:tc>
                <a:tc>
                  <a:txBody>
                    <a:bodyPr/>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Blocker</a:t>
                      </a:r>
                      <a:endParaRPr lang="en-US" sz="11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B71C1C"/>
                    </a:solidFill>
                  </a:tcPr>
                </a:tc>
                <a:tc>
                  <a:txBody>
                    <a:bodyPr/>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High</a:t>
                      </a:r>
                      <a:endParaRPr lang="en-US" sz="11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DB4A4A"/>
                    </a:solidFill>
                  </a:tcPr>
                </a:tc>
                <a:tc>
                  <a:txBody>
                    <a:bodyPr/>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Medium</a:t>
                      </a:r>
                      <a:endParaRPr lang="en-US" sz="11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C9A3C"/>
                    </a:solidFill>
                  </a:tcPr>
                </a:tc>
                <a:tc>
                  <a:txBody>
                    <a:bodyPr/>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Low</a:t>
                      </a:r>
                      <a:endParaRPr lang="en-US" sz="11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CDA93C"/>
                    </a:solidFill>
                  </a:tcPr>
                </a:tc>
                <a:tc>
                  <a:txBody>
                    <a:bodyPr/>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Info</a:t>
                      </a:r>
                      <a:endParaRPr lang="en-US" sz="11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4C8FB8"/>
                    </a:solidFill>
                  </a:tcPr>
                </a:tc>
                <a:tc>
                  <a:txBody>
                    <a:bodyPr/>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Total</a:t>
                      </a:r>
                      <a:endParaRPr lang="en-US" sz="11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0F2E3B"/>
                    </a:solidFill>
                  </a:tcPr>
                </a:tc>
              </a:tr>
              <a:tr h="502920">
                <a:tc>
                  <a:txBody>
                    <a:bodyPr/>
                    <a:lstStyle/>
                    <a:p>
                      <a:pPr algn="l" indent="0" marL="0">
                        <a:buNone/>
                      </a:pPr>
                      <a:r>
                        <a:rPr lang="en-US" sz="1400" dirty="0">
                          <a:solidFill>
                            <a:srgbClr val="1A1E24"/>
                          </a:solidFill>
                          <a:latin typeface="Poppins SemiBold" pitchFamily="34" charset="0"/>
                          <a:ea typeface="Poppins SemiBold" pitchFamily="34" charset="-122"/>
                          <a:cs typeface="Poppins SemiBold" pitchFamily="34" charset="-120"/>
                        </a:rPr>
                        <a:t>Security</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E24"/>
                          </a:solidFill>
                          <a:latin typeface="Poppins" pitchFamily="34" charset="0"/>
                          <a:ea typeface="Poppins" pitchFamily="34" charset="-122"/>
                          <a:cs typeface="Poppins" pitchFamily="34" charset="-120"/>
                        </a:rPr>
                        <a:t>1</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E24"/>
                          </a:solidFill>
                          <a:latin typeface="Poppins" pitchFamily="34" charset="0"/>
                          <a:ea typeface="Poppins" pitchFamily="34" charset="-122"/>
                          <a:cs typeface="Poppins" pitchFamily="34" charset="-120"/>
                        </a:rPr>
                        <a:t>3</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E24"/>
                          </a:solidFill>
                          <a:latin typeface="Poppins" pitchFamily="34" charset="0"/>
                          <a:ea typeface="Poppins" pitchFamily="34" charset="-122"/>
                          <a:cs typeface="Poppins" pitchFamily="34" charset="-120"/>
                        </a:rPr>
                        <a:t>1</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E24"/>
                          </a:solidFill>
                          <a:latin typeface="Poppins SemiBold" pitchFamily="34" charset="0"/>
                          <a:ea typeface="Poppins SemiBold" pitchFamily="34" charset="-122"/>
                          <a:cs typeface="Poppins SemiBold" pitchFamily="34" charset="-120"/>
                        </a:rPr>
                        <a:t>5</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A1E24"/>
                          </a:solidFill>
                          <a:latin typeface="Poppins SemiBold" pitchFamily="34" charset="0"/>
                          <a:ea typeface="Poppins SemiBold" pitchFamily="34" charset="-122"/>
                          <a:cs typeface="Poppins SemiBold" pitchFamily="34" charset="-120"/>
                        </a:rPr>
                        <a:t>Reliability</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SemiBold" pitchFamily="34" charset="0"/>
                          <a:ea typeface="Poppins SemiBold" pitchFamily="34" charset="-122"/>
                          <a:cs typeface="Poppins SemiBold" pitchFamily="34" charset="-120"/>
                        </a:rPr>
                        <a:t>0</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A1E24"/>
                          </a:solidFill>
                          <a:latin typeface="Poppins SemiBold" pitchFamily="34" charset="0"/>
                          <a:ea typeface="Poppins SemiBold" pitchFamily="34" charset="-122"/>
                          <a:cs typeface="Poppins SemiBold" pitchFamily="34" charset="-120"/>
                        </a:rPr>
                        <a:t>Maintainability</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E24"/>
                          </a:solidFill>
                          <a:latin typeface="Poppins" pitchFamily="34" charset="0"/>
                          <a:ea typeface="Poppins" pitchFamily="34" charset="-122"/>
                          <a:cs typeface="Poppins" pitchFamily="34" charset="-120"/>
                        </a:rPr>
                        <a:t>2</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0B6BA"/>
                          </a:solidFill>
                          <a:latin typeface="Poppins" pitchFamily="34" charset="0"/>
                          <a:ea typeface="Poppins" pitchFamily="34" charset="-122"/>
                          <a:cs typeface="Poppins" pitchFamily="34" charset="-120"/>
                        </a:rPr>
                        <a:t>0</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E24"/>
                          </a:solidFill>
                          <a:latin typeface="Poppins" pitchFamily="34" charset="0"/>
                          <a:ea typeface="Poppins" pitchFamily="34" charset="-122"/>
                          <a:cs typeface="Poppins" pitchFamily="34" charset="-120"/>
                        </a:rPr>
                        <a:t>1</a:t>
                      </a:r>
                      <a:endParaRPr lang="en-US" sz="14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E24"/>
                          </a:solidFill>
                          <a:latin typeface="Poppins SemiBold" pitchFamily="34" charset="0"/>
                          <a:ea typeface="Poppins SemiBold" pitchFamily="34" charset="-122"/>
                          <a:cs typeface="Poppins SemiBold" pitchFamily="34" charset="-120"/>
                        </a:rPr>
                        <a:t>3</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A1E24"/>
                          </a:solidFill>
                          <a:latin typeface="Poppins SemiBold" pitchFamily="34" charset="0"/>
                          <a:ea typeface="Poppins SemiBold" pitchFamily="34" charset="-122"/>
                          <a:cs typeface="Poppins SemiBold" pitchFamily="34" charset="-120"/>
                        </a:rPr>
                        <a:t>Total</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A1E24"/>
                          </a:solidFill>
                          <a:latin typeface="Poppins SemiBold" pitchFamily="34" charset="0"/>
                          <a:ea typeface="Poppins SemiBold" pitchFamily="34" charset="-122"/>
                          <a:cs typeface="Poppins SemiBold" pitchFamily="34" charset="-120"/>
                        </a:rPr>
                        <a:t>1</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A1E24"/>
                          </a:solidFill>
                          <a:latin typeface="Poppins SemiBold" pitchFamily="34" charset="0"/>
                          <a:ea typeface="Poppins SemiBold" pitchFamily="34" charset="-122"/>
                          <a:cs typeface="Poppins SemiBold" pitchFamily="34" charset="-120"/>
                        </a:rPr>
                        <a:t>3</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A1E24"/>
                          </a:solidFill>
                          <a:latin typeface="Poppins SemiBold" pitchFamily="34" charset="0"/>
                          <a:ea typeface="Poppins SemiBold" pitchFamily="34" charset="-122"/>
                          <a:cs typeface="Poppins SemiBold" pitchFamily="34" charset="-120"/>
                        </a:rPr>
                        <a:t>2</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A1E24"/>
                          </a:solidFill>
                          <a:latin typeface="Poppins SemiBold" pitchFamily="34" charset="0"/>
                          <a:ea typeface="Poppins SemiBold" pitchFamily="34" charset="-122"/>
                          <a:cs typeface="Poppins SemiBold" pitchFamily="34" charset="-120"/>
                        </a:rPr>
                        <a:t>1</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A1E24"/>
                          </a:solidFill>
                          <a:latin typeface="Poppins SemiBold" pitchFamily="34" charset="0"/>
                          <a:ea typeface="Poppins SemiBold" pitchFamily="34" charset="-122"/>
                          <a:cs typeface="Poppins SemiBold" pitchFamily="34" charset="-120"/>
                        </a:rPr>
                        <a:t>1</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400" dirty="0">
                          <a:solidFill>
                            <a:srgbClr val="1A1E24"/>
                          </a:solidFill>
                          <a:latin typeface="Poppins SemiBold" pitchFamily="34" charset="0"/>
                          <a:ea typeface="Poppins SemiBold" pitchFamily="34" charset="-122"/>
                          <a:cs typeface="Poppins SemiBold" pitchFamily="34" charset="-120"/>
                        </a:rPr>
                        <a:t>8</a:t>
                      </a:r>
                      <a:endParaRPr lang="en-US" sz="14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r>
            </a:tbl>
          </a:graphicData>
        </a:graphic>
      </p:graphicFrame>
      <p:sp>
        <p:nvSpPr>
          <p:cNvPr id="6" name="Text 3"/>
          <p:cNvSpPr/>
          <p:nvPr/>
        </p:nvSpPr>
        <p:spPr>
          <a:xfrm>
            <a:off x="731520" y="4434840"/>
            <a:ext cx="6766560" cy="548640"/>
          </a:xfrm>
          <a:prstGeom prst="rect">
            <a:avLst/>
          </a:prstGeom>
          <a:noFill/>
          <a:ln/>
        </p:spPr>
        <p:txBody>
          <a:bodyPr wrap="square" rtlCol="0" anchor="ctr"/>
          <a:lstStyle/>
          <a:p>
            <a:pPr indent="0" marL="0">
              <a:buNone/>
            </a:pPr>
            <a:r>
              <a:rPr lang="en-US" sz="1100" dirty="0">
                <a:solidFill>
                  <a:srgbClr val="6A7177"/>
                </a:solidFill>
                <a:latin typeface="Poppins" pitchFamily="34" charset="0"/>
                <a:ea typeface="Poppins" pitchFamily="34" charset="-122"/>
                <a:cs typeface="Poppins" pitchFamily="34" charset="-120"/>
              </a:rPr>
              <a:t>Klasifikasi lama: 4 Vulnerability (1 Blocker, 3 Critical) · 4 Code Smell · 0 Bug · 0 Security Hotspot</a:t>
            </a:r>
            <a:endParaRPr lang="en-US" sz="1100" dirty="0"/>
          </a:p>
        </p:txBody>
      </p:sp>
      <p:sp>
        <p:nvSpPr>
          <p:cNvPr id="7" name="Text 4"/>
          <p:cNvSpPr/>
          <p:nvPr/>
        </p:nvSpPr>
        <p:spPr>
          <a:xfrm>
            <a:off x="7863840" y="1737360"/>
            <a:ext cx="3596335" cy="274320"/>
          </a:xfrm>
          <a:prstGeom prst="rect">
            <a:avLst/>
          </a:prstGeom>
          <a:noFill/>
          <a:ln/>
        </p:spPr>
        <p:txBody>
          <a:bodyPr wrap="square" rtlCol="0" anchor="ctr"/>
          <a:lstStyle/>
          <a:p>
            <a:pPr indent="0" marL="0">
              <a:buNone/>
            </a:pPr>
            <a:r>
              <a:rPr lang="en-US" sz="1050" spc="100" kern="0" dirty="0">
                <a:solidFill>
                  <a:srgbClr val="0E8F84"/>
                </a:solidFill>
                <a:latin typeface="Poppins SemiBold" pitchFamily="34" charset="0"/>
                <a:ea typeface="Poppins SemiBold" pitchFamily="34" charset="-122"/>
                <a:cs typeface="Poppins SemiBold" pitchFamily="34" charset="-120"/>
              </a:rPr>
              <a:t>4 TEMUAN SECURITY UTAMA</a:t>
            </a:r>
            <a:endParaRPr lang="en-US" sz="1050" dirty="0"/>
          </a:p>
        </p:txBody>
      </p:sp>
      <p:sp>
        <p:nvSpPr>
          <p:cNvPr id="8" name="Shape 5"/>
          <p:cNvSpPr/>
          <p:nvPr/>
        </p:nvSpPr>
        <p:spPr>
          <a:xfrm>
            <a:off x="7863840" y="2148840"/>
            <a:ext cx="1051560" cy="292608"/>
          </a:xfrm>
          <a:prstGeom prst="roundRect">
            <a:avLst>
              <a:gd name="adj" fmla="val 50000"/>
            </a:avLst>
          </a:prstGeom>
          <a:solidFill>
            <a:srgbClr val="B71C1C"/>
          </a:solidFill>
          <a:ln/>
        </p:spPr>
      </p:sp>
      <p:sp>
        <p:nvSpPr>
          <p:cNvPr id="9" name="Text 6"/>
          <p:cNvSpPr/>
          <p:nvPr/>
        </p:nvSpPr>
        <p:spPr>
          <a:xfrm>
            <a:off x="7863840" y="2139696"/>
            <a:ext cx="1051560" cy="292608"/>
          </a:xfrm>
          <a:prstGeom prst="rect">
            <a:avLst/>
          </a:prstGeom>
          <a:noFill/>
          <a:ln/>
        </p:spPr>
        <p:txBody>
          <a:bodyPr wrap="square" rtlCol="0" anchor="ctr"/>
          <a:lstStyle/>
          <a:p>
            <a:pPr algn="ctr" indent="0" marL="0">
              <a:buNone/>
            </a:pPr>
            <a:r>
              <a:rPr lang="en-US" sz="900" spc="100" kern="0" dirty="0">
                <a:solidFill>
                  <a:srgbClr val="FFFFFF"/>
                </a:solidFill>
                <a:latin typeface="Poppins SemiBold" pitchFamily="34" charset="0"/>
                <a:ea typeface="Poppins SemiBold" pitchFamily="34" charset="-122"/>
                <a:cs typeface="Poppins SemiBold" pitchFamily="34" charset="-120"/>
              </a:rPr>
              <a:t>BLOCKER</a:t>
            </a:r>
            <a:endParaRPr lang="en-US" sz="900" dirty="0"/>
          </a:p>
        </p:txBody>
      </p:sp>
      <p:sp>
        <p:nvSpPr>
          <p:cNvPr id="10" name="Text 7"/>
          <p:cNvSpPr/>
          <p:nvPr/>
        </p:nvSpPr>
        <p:spPr>
          <a:xfrm>
            <a:off x="9052560" y="2084832"/>
            <a:ext cx="2407615" cy="365760"/>
          </a:xfrm>
          <a:prstGeom prst="rect">
            <a:avLst/>
          </a:prstGeom>
          <a:noFill/>
          <a:ln/>
        </p:spPr>
        <p:txBody>
          <a:bodyPr wrap="square" rtlCol="0" anchor="ctr"/>
          <a:lstStyle/>
          <a:p>
            <a:pPr indent="0" marL="0">
              <a:buNone/>
            </a:pPr>
            <a:r>
              <a:rPr lang="en-US" sz="1300" dirty="0">
                <a:solidFill>
                  <a:srgbClr val="1A1E24"/>
                </a:solidFill>
                <a:latin typeface="Poppins SemiBold" pitchFamily="34" charset="0"/>
                <a:ea typeface="Poppins SemiBold" pitchFamily="34" charset="-122"/>
                <a:cs typeface="Poppins SemiBold" pitchFamily="34" charset="-120"/>
              </a:rPr>
              <a:t>Google API key hardcoded</a:t>
            </a:r>
            <a:endParaRPr lang="en-US" sz="1300" dirty="0"/>
          </a:p>
        </p:txBody>
      </p:sp>
      <p:sp>
        <p:nvSpPr>
          <p:cNvPr id="11" name="Text 8"/>
          <p:cNvSpPr/>
          <p:nvPr/>
        </p:nvSpPr>
        <p:spPr>
          <a:xfrm>
            <a:off x="9052560" y="2432304"/>
            <a:ext cx="2407615" cy="292608"/>
          </a:xfrm>
          <a:prstGeom prst="rect">
            <a:avLst/>
          </a:prstGeom>
          <a:noFill/>
          <a:ln/>
        </p:spPr>
        <p:txBody>
          <a:bodyPr wrap="square" rtlCol="0" anchor="ctr"/>
          <a:lstStyle/>
          <a:p>
            <a:pPr indent="0" marL="0">
              <a:buNone/>
            </a:pPr>
            <a:r>
              <a:rPr lang="en-US" sz="1050" dirty="0">
                <a:solidFill>
                  <a:srgbClr val="6A7177"/>
                </a:solidFill>
                <a:latin typeface="Consolas" pitchFamily="34" charset="0"/>
                <a:ea typeface="Consolas" pitchFamily="34" charset="-122"/>
                <a:cs typeface="Consolas" pitchFamily="34" charset="-120"/>
              </a:rPr>
              <a:t>AdminController.php : 9</a:t>
            </a:r>
            <a:endParaRPr lang="en-US" sz="1050" dirty="0"/>
          </a:p>
        </p:txBody>
      </p:sp>
      <p:sp>
        <p:nvSpPr>
          <p:cNvPr id="12" name="Shape 9"/>
          <p:cNvSpPr/>
          <p:nvPr/>
        </p:nvSpPr>
        <p:spPr>
          <a:xfrm>
            <a:off x="7863840" y="3108960"/>
            <a:ext cx="1051560" cy="292608"/>
          </a:xfrm>
          <a:prstGeom prst="roundRect">
            <a:avLst>
              <a:gd name="adj" fmla="val 50000"/>
            </a:avLst>
          </a:prstGeom>
          <a:solidFill>
            <a:srgbClr val="DB4A4A"/>
          </a:solidFill>
          <a:ln/>
        </p:spPr>
      </p:sp>
      <p:sp>
        <p:nvSpPr>
          <p:cNvPr id="13" name="Text 10"/>
          <p:cNvSpPr/>
          <p:nvPr/>
        </p:nvSpPr>
        <p:spPr>
          <a:xfrm>
            <a:off x="7863840" y="3099816"/>
            <a:ext cx="1051560" cy="292608"/>
          </a:xfrm>
          <a:prstGeom prst="rect">
            <a:avLst/>
          </a:prstGeom>
          <a:noFill/>
          <a:ln/>
        </p:spPr>
        <p:txBody>
          <a:bodyPr wrap="square" rtlCol="0" anchor="ctr"/>
          <a:lstStyle/>
          <a:p>
            <a:pPr algn="ctr" indent="0" marL="0">
              <a:buNone/>
            </a:pPr>
            <a:r>
              <a:rPr lang="en-US" sz="900" spc="100" kern="0" dirty="0">
                <a:solidFill>
                  <a:srgbClr val="FFFFFF"/>
                </a:solidFill>
                <a:latin typeface="Poppins SemiBold" pitchFamily="34" charset="0"/>
                <a:ea typeface="Poppins SemiBold" pitchFamily="34" charset="-122"/>
                <a:cs typeface="Poppins SemiBold" pitchFamily="34" charset="-120"/>
              </a:rPr>
              <a:t>HIGH</a:t>
            </a:r>
            <a:endParaRPr lang="en-US" sz="900" dirty="0"/>
          </a:p>
        </p:txBody>
      </p:sp>
      <p:sp>
        <p:nvSpPr>
          <p:cNvPr id="14" name="Text 11"/>
          <p:cNvSpPr/>
          <p:nvPr/>
        </p:nvSpPr>
        <p:spPr>
          <a:xfrm>
            <a:off x="9052560" y="3044952"/>
            <a:ext cx="2407615" cy="365760"/>
          </a:xfrm>
          <a:prstGeom prst="rect">
            <a:avLst/>
          </a:prstGeom>
          <a:noFill/>
          <a:ln/>
        </p:spPr>
        <p:txBody>
          <a:bodyPr wrap="square" rtlCol="0" anchor="ctr"/>
          <a:lstStyle/>
          <a:p>
            <a:pPr indent="0" marL="0">
              <a:buNone/>
            </a:pPr>
            <a:r>
              <a:rPr lang="en-US" sz="1300" dirty="0">
                <a:solidFill>
                  <a:srgbClr val="1A1E24"/>
                </a:solidFill>
                <a:latin typeface="Poppins SemiBold" pitchFamily="34" charset="0"/>
                <a:ea typeface="Poppins SemiBold" pitchFamily="34" charset="-122"/>
                <a:cs typeface="Poppins SemiBold" pitchFamily="34" charset="-120"/>
              </a:rPr>
              <a:t>Weak hash MD5 (2x)</a:t>
            </a:r>
            <a:endParaRPr lang="en-US" sz="1300" dirty="0"/>
          </a:p>
        </p:txBody>
      </p:sp>
      <p:sp>
        <p:nvSpPr>
          <p:cNvPr id="15" name="Text 12"/>
          <p:cNvSpPr/>
          <p:nvPr/>
        </p:nvSpPr>
        <p:spPr>
          <a:xfrm>
            <a:off x="9052560" y="3392424"/>
            <a:ext cx="2407615" cy="292608"/>
          </a:xfrm>
          <a:prstGeom prst="rect">
            <a:avLst/>
          </a:prstGeom>
          <a:noFill/>
          <a:ln/>
        </p:spPr>
        <p:txBody>
          <a:bodyPr wrap="square" rtlCol="0" anchor="ctr"/>
          <a:lstStyle/>
          <a:p>
            <a:pPr indent="0" marL="0">
              <a:buNone/>
            </a:pPr>
            <a:r>
              <a:rPr lang="en-US" sz="1050" dirty="0">
                <a:solidFill>
                  <a:srgbClr val="6A7177"/>
                </a:solidFill>
                <a:latin typeface="Consolas" pitchFamily="34" charset="0"/>
                <a:ea typeface="Consolas" pitchFamily="34" charset="-122"/>
                <a:cs typeface="Consolas" pitchFamily="34" charset="-120"/>
              </a:rPr>
              <a:t>AuthController.php : 12, 25</a:t>
            </a:r>
            <a:endParaRPr lang="en-US" sz="1050" dirty="0"/>
          </a:p>
        </p:txBody>
      </p:sp>
      <p:sp>
        <p:nvSpPr>
          <p:cNvPr id="16" name="Shape 13"/>
          <p:cNvSpPr/>
          <p:nvPr/>
        </p:nvSpPr>
        <p:spPr>
          <a:xfrm>
            <a:off x="7863840" y="4069080"/>
            <a:ext cx="1051560" cy="292608"/>
          </a:xfrm>
          <a:prstGeom prst="roundRect">
            <a:avLst>
              <a:gd name="adj" fmla="val 50000"/>
            </a:avLst>
          </a:prstGeom>
          <a:solidFill>
            <a:srgbClr val="DB4A4A"/>
          </a:solidFill>
          <a:ln/>
        </p:spPr>
      </p:sp>
      <p:sp>
        <p:nvSpPr>
          <p:cNvPr id="17" name="Text 14"/>
          <p:cNvSpPr/>
          <p:nvPr/>
        </p:nvSpPr>
        <p:spPr>
          <a:xfrm>
            <a:off x="7863840" y="4059936"/>
            <a:ext cx="1051560" cy="292608"/>
          </a:xfrm>
          <a:prstGeom prst="rect">
            <a:avLst/>
          </a:prstGeom>
          <a:noFill/>
          <a:ln/>
        </p:spPr>
        <p:txBody>
          <a:bodyPr wrap="square" rtlCol="0" anchor="ctr"/>
          <a:lstStyle/>
          <a:p>
            <a:pPr algn="ctr" indent="0" marL="0">
              <a:buNone/>
            </a:pPr>
            <a:r>
              <a:rPr lang="en-US" sz="900" spc="100" kern="0" dirty="0">
                <a:solidFill>
                  <a:srgbClr val="FFFFFF"/>
                </a:solidFill>
                <a:latin typeface="Poppins SemiBold" pitchFamily="34" charset="0"/>
                <a:ea typeface="Poppins SemiBold" pitchFamily="34" charset="-122"/>
                <a:cs typeface="Poppins SemiBold" pitchFamily="34" charset="-120"/>
              </a:rPr>
              <a:t>HIGH</a:t>
            </a:r>
            <a:endParaRPr lang="en-US" sz="900" dirty="0"/>
          </a:p>
        </p:txBody>
      </p:sp>
      <p:sp>
        <p:nvSpPr>
          <p:cNvPr id="18" name="Text 15"/>
          <p:cNvSpPr/>
          <p:nvPr/>
        </p:nvSpPr>
        <p:spPr>
          <a:xfrm>
            <a:off x="9052560" y="4005072"/>
            <a:ext cx="2407615" cy="365760"/>
          </a:xfrm>
          <a:prstGeom prst="rect">
            <a:avLst/>
          </a:prstGeom>
          <a:noFill/>
          <a:ln/>
        </p:spPr>
        <p:txBody>
          <a:bodyPr wrap="square" rtlCol="0" anchor="ctr"/>
          <a:lstStyle/>
          <a:p>
            <a:pPr indent="0" marL="0">
              <a:buNone/>
            </a:pPr>
            <a:r>
              <a:rPr lang="en-US" sz="1300" dirty="0">
                <a:solidFill>
                  <a:srgbClr val="1A1E24"/>
                </a:solidFill>
                <a:latin typeface="Poppins SemiBold" pitchFamily="34" charset="0"/>
                <a:ea typeface="Poppins SemiBold" pitchFamily="34" charset="-122"/>
                <a:cs typeface="Poppins SemiBold" pitchFamily="34" charset="-120"/>
              </a:rPr>
              <a:t>CSRF dinonaktifkan</a:t>
            </a:r>
            <a:endParaRPr lang="en-US" sz="1300" dirty="0"/>
          </a:p>
        </p:txBody>
      </p:sp>
      <p:sp>
        <p:nvSpPr>
          <p:cNvPr id="19" name="Text 16"/>
          <p:cNvSpPr/>
          <p:nvPr/>
        </p:nvSpPr>
        <p:spPr>
          <a:xfrm>
            <a:off x="9052560" y="4352544"/>
            <a:ext cx="2407615" cy="292608"/>
          </a:xfrm>
          <a:prstGeom prst="rect">
            <a:avLst/>
          </a:prstGeom>
          <a:noFill/>
          <a:ln/>
        </p:spPr>
        <p:txBody>
          <a:bodyPr wrap="square" rtlCol="0" anchor="ctr"/>
          <a:lstStyle/>
          <a:p>
            <a:pPr indent="0" marL="0">
              <a:buNone/>
            </a:pPr>
            <a:r>
              <a:rPr lang="en-US" sz="1050" dirty="0">
                <a:solidFill>
                  <a:srgbClr val="6A7177"/>
                </a:solidFill>
                <a:latin typeface="Consolas" pitchFamily="34" charset="0"/>
                <a:ea typeface="Consolas" pitchFamily="34" charset="-122"/>
                <a:cs typeface="Consolas" pitchFamily="34" charset="-120"/>
              </a:rPr>
              <a:t>VerifyCsrfToken.php : 12</a:t>
            </a:r>
            <a:endParaRPr lang="en-US" sz="1050" dirty="0"/>
          </a:p>
        </p:txBody>
      </p:sp>
      <p:sp>
        <p:nvSpPr>
          <p:cNvPr id="20" name="Shape 17"/>
          <p:cNvSpPr/>
          <p:nvPr/>
        </p:nvSpPr>
        <p:spPr>
          <a:xfrm>
            <a:off x="7863840" y="5029200"/>
            <a:ext cx="1051560" cy="292608"/>
          </a:xfrm>
          <a:prstGeom prst="roundRect">
            <a:avLst>
              <a:gd name="adj" fmla="val 50000"/>
            </a:avLst>
          </a:prstGeom>
          <a:solidFill>
            <a:srgbClr val="CDA93C"/>
          </a:solidFill>
          <a:ln/>
        </p:spPr>
      </p:sp>
      <p:sp>
        <p:nvSpPr>
          <p:cNvPr id="21" name="Text 18"/>
          <p:cNvSpPr/>
          <p:nvPr/>
        </p:nvSpPr>
        <p:spPr>
          <a:xfrm>
            <a:off x="7863840" y="5020056"/>
            <a:ext cx="1051560" cy="292608"/>
          </a:xfrm>
          <a:prstGeom prst="rect">
            <a:avLst/>
          </a:prstGeom>
          <a:noFill/>
          <a:ln/>
        </p:spPr>
        <p:txBody>
          <a:bodyPr wrap="square" rtlCol="0" anchor="ctr"/>
          <a:lstStyle/>
          <a:p>
            <a:pPr algn="ctr" indent="0" marL="0">
              <a:buNone/>
            </a:pPr>
            <a:r>
              <a:rPr lang="en-US" sz="900" spc="100" kern="0" dirty="0">
                <a:solidFill>
                  <a:srgbClr val="FFFFFF"/>
                </a:solidFill>
                <a:latin typeface="Poppins SemiBold" pitchFamily="34" charset="0"/>
                <a:ea typeface="Poppins SemiBold" pitchFamily="34" charset="-122"/>
                <a:cs typeface="Poppins SemiBold" pitchFamily="34" charset="-120"/>
              </a:rPr>
              <a:t>LOW</a:t>
            </a:r>
            <a:endParaRPr lang="en-US" sz="900" dirty="0"/>
          </a:p>
        </p:txBody>
      </p:sp>
      <p:sp>
        <p:nvSpPr>
          <p:cNvPr id="22" name="Text 19"/>
          <p:cNvSpPr/>
          <p:nvPr/>
        </p:nvSpPr>
        <p:spPr>
          <a:xfrm>
            <a:off x="9052560" y="4965192"/>
            <a:ext cx="2407615" cy="365760"/>
          </a:xfrm>
          <a:prstGeom prst="rect">
            <a:avLst/>
          </a:prstGeom>
          <a:noFill/>
          <a:ln/>
        </p:spPr>
        <p:txBody>
          <a:bodyPr wrap="square" rtlCol="0" anchor="ctr"/>
          <a:lstStyle/>
          <a:p>
            <a:pPr indent="0" marL="0">
              <a:buNone/>
            </a:pPr>
            <a:r>
              <a:rPr lang="en-US" sz="1300" dirty="0">
                <a:solidFill>
                  <a:srgbClr val="1A1E24"/>
                </a:solidFill>
                <a:latin typeface="Poppins SemiBold" pitchFamily="34" charset="0"/>
                <a:ea typeface="Poppins SemiBold" pitchFamily="34" charset="-122"/>
                <a:cs typeface="Poppins SemiBold" pitchFamily="34" charset="-120"/>
              </a:rPr>
              <a:t>Hardcoded IP address</a:t>
            </a:r>
            <a:endParaRPr lang="en-US" sz="1300" dirty="0"/>
          </a:p>
        </p:txBody>
      </p:sp>
      <p:sp>
        <p:nvSpPr>
          <p:cNvPr id="23" name="Text 20"/>
          <p:cNvSpPr/>
          <p:nvPr/>
        </p:nvSpPr>
        <p:spPr>
          <a:xfrm>
            <a:off x="9052560" y="5312664"/>
            <a:ext cx="2407615" cy="292608"/>
          </a:xfrm>
          <a:prstGeom prst="rect">
            <a:avLst/>
          </a:prstGeom>
          <a:noFill/>
          <a:ln/>
        </p:spPr>
        <p:txBody>
          <a:bodyPr wrap="square" rtlCol="0" anchor="ctr"/>
          <a:lstStyle/>
          <a:p>
            <a:pPr indent="0" marL="0">
              <a:buNone/>
            </a:pPr>
            <a:r>
              <a:rPr lang="en-US" sz="1050" dirty="0">
                <a:solidFill>
                  <a:srgbClr val="6A7177"/>
                </a:solidFill>
                <a:latin typeface="Consolas" pitchFamily="34" charset="0"/>
                <a:ea typeface="Consolas" pitchFamily="34" charset="-122"/>
                <a:cs typeface="Consolas" pitchFamily="34" charset="-120"/>
              </a:rPr>
              <a:t>config/database.php : 15</a:t>
            </a:r>
            <a:endParaRPr lang="en-US" sz="1050" dirty="0"/>
          </a:p>
        </p:txBody>
      </p:sp>
      <p:sp>
        <p:nvSpPr>
          <p:cNvPr id="24" name="Text 21"/>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25" name="Text 22"/>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ANALISIS 1 · SECRETS:S6334</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Hardcoded Google API Key &amp; Password SMTP</a:t>
            </a:r>
            <a:endParaRPr lang="en-US" sz="2700" dirty="0"/>
          </a:p>
        </p:txBody>
      </p:sp>
      <p:sp>
        <p:nvSpPr>
          <p:cNvPr id="5" name="Shape 3"/>
          <p:cNvSpPr/>
          <p:nvPr/>
        </p:nvSpPr>
        <p:spPr>
          <a:xfrm>
            <a:off x="731520" y="1600200"/>
            <a:ext cx="1188720" cy="310896"/>
          </a:xfrm>
          <a:prstGeom prst="roundRect">
            <a:avLst>
              <a:gd name="adj" fmla="val 50000"/>
            </a:avLst>
          </a:prstGeom>
          <a:solidFill>
            <a:srgbClr val="B71C1C"/>
          </a:solidFill>
          <a:ln/>
        </p:spPr>
      </p:sp>
      <p:sp>
        <p:nvSpPr>
          <p:cNvPr id="6" name="Text 4"/>
          <p:cNvSpPr/>
          <p:nvPr/>
        </p:nvSpPr>
        <p:spPr>
          <a:xfrm>
            <a:off x="731520" y="1591056"/>
            <a:ext cx="1188720" cy="310896"/>
          </a:xfrm>
          <a:prstGeom prst="rect">
            <a:avLst/>
          </a:prstGeom>
          <a:noFill/>
          <a:ln/>
        </p:spPr>
        <p:txBody>
          <a:bodyPr wrap="square" rtlCol="0" anchor="ctr"/>
          <a:lstStyle/>
          <a:p>
            <a:pPr algn="ctr" indent="0" marL="0">
              <a:buNone/>
            </a:pPr>
            <a:r>
              <a:rPr lang="en-US" sz="1000" spc="100" kern="0" dirty="0">
                <a:solidFill>
                  <a:srgbClr val="FFFFFF"/>
                </a:solidFill>
                <a:latin typeface="Poppins SemiBold" pitchFamily="34" charset="0"/>
                <a:ea typeface="Poppins SemiBold" pitchFamily="34" charset="-122"/>
                <a:cs typeface="Poppins SemiBold" pitchFamily="34" charset="-120"/>
              </a:rPr>
              <a:t>BLOCKER</a:t>
            </a:r>
            <a:endParaRPr lang="en-US" sz="1000" dirty="0"/>
          </a:p>
        </p:txBody>
      </p:sp>
      <p:sp>
        <p:nvSpPr>
          <p:cNvPr id="7" name="Text 5"/>
          <p:cNvSpPr/>
          <p:nvPr/>
        </p:nvSpPr>
        <p:spPr>
          <a:xfrm>
            <a:off x="2057400" y="1581912"/>
            <a:ext cx="9357055" cy="347472"/>
          </a:xfrm>
          <a:prstGeom prst="rect">
            <a:avLst/>
          </a:prstGeom>
          <a:noFill/>
          <a:ln/>
        </p:spPr>
        <p:txBody>
          <a:bodyPr wrap="square" rtlCol="0" anchor="ctr"/>
          <a:lstStyle/>
          <a:p>
            <a:pPr indent="0" marL="0">
              <a:buNone/>
            </a:pPr>
            <a:r>
              <a:rPr lang="en-US" sz="1150" dirty="0">
                <a:solidFill>
                  <a:srgbClr val="6A7177"/>
                </a:solidFill>
                <a:latin typeface="Poppins Medium" pitchFamily="34" charset="0"/>
                <a:ea typeface="Poppins Medium" pitchFamily="34" charset="-122"/>
                <a:cs typeface="Poppins Medium" pitchFamily="34" charset="-120"/>
              </a:rPr>
              <a:t>AdminController.php baris 9-10  ·  OWASP A07:2021  ·  CWE-798</a:t>
            </a:r>
            <a:endParaRPr lang="en-US" sz="1150" dirty="0"/>
          </a:p>
        </p:txBody>
      </p:sp>
      <p:sp>
        <p:nvSpPr>
          <p:cNvPr id="8" name="Shape 6"/>
          <p:cNvSpPr/>
          <p:nvPr/>
        </p:nvSpPr>
        <p:spPr>
          <a:xfrm>
            <a:off x="1295650" y="2139696"/>
            <a:ext cx="4632461" cy="3995928"/>
          </a:xfrm>
          <a:prstGeom prst="roundRect">
            <a:avLst>
              <a:gd name="adj" fmla="val 1373"/>
            </a:avLst>
          </a:prstGeom>
          <a:solidFill>
            <a:srgbClr val="FFFFFF"/>
          </a:solidFill>
          <a:ln w="12700">
            <a:solidFill>
              <a:srgbClr val="E3E8E9"/>
            </a:solidFill>
            <a:prstDash val="solid"/>
          </a:ln>
        </p:spPr>
      </p:sp>
      <p:pic>
        <p:nvPicPr>
          <p:cNvPr id="9" name="Image 0" descr="Screenshot SonarQube">    </p:cNvPr>
          <p:cNvPicPr>
            <a:picLocks noChangeAspect="1"/>
          </p:cNvPicPr>
          <p:nvPr/>
        </p:nvPicPr>
        <p:blipFill>
          <a:blip r:embed="rId1"/>
          <a:stretch>
            <a:fillRect/>
          </a:stretch>
        </p:blipFill>
        <p:spPr>
          <a:xfrm>
            <a:off x="1350514" y="2194560"/>
            <a:ext cx="4522733" cy="3886200"/>
          </a:xfrm>
          <a:prstGeom prst="rect">
            <a:avLst/>
          </a:prstGeom>
        </p:spPr>
      </p:pic>
      <p:sp>
        <p:nvSpPr>
          <p:cNvPr id="10" name="Shape 7"/>
          <p:cNvSpPr/>
          <p:nvPr/>
        </p:nvSpPr>
        <p:spPr>
          <a:xfrm>
            <a:off x="6858000" y="2194560"/>
            <a:ext cx="4602175" cy="1600200"/>
          </a:xfrm>
          <a:prstGeom prst="roundRect">
            <a:avLst>
              <a:gd name="adj" fmla="val 3429"/>
            </a:avLst>
          </a:prstGeom>
          <a:solidFill>
            <a:srgbClr val="0E2A32"/>
          </a:solidFill>
          <a:ln/>
        </p:spPr>
      </p:sp>
      <p:sp>
        <p:nvSpPr>
          <p:cNvPr id="11" name="Shape 8"/>
          <p:cNvSpPr/>
          <p:nvPr/>
        </p:nvSpPr>
        <p:spPr>
          <a:xfrm>
            <a:off x="6858000" y="2322576"/>
            <a:ext cx="64008" cy="1344168"/>
          </a:xfrm>
          <a:prstGeom prst="rect">
            <a:avLst/>
          </a:prstGeom>
          <a:solidFill>
            <a:srgbClr val="15B3A6"/>
          </a:solidFill>
          <a:ln/>
        </p:spPr>
      </p:sp>
      <p:sp>
        <p:nvSpPr>
          <p:cNvPr id="12" name="Text 9"/>
          <p:cNvSpPr/>
          <p:nvPr/>
        </p:nvSpPr>
        <p:spPr>
          <a:xfrm>
            <a:off x="7132320" y="2340864"/>
            <a:ext cx="4144975" cy="1307592"/>
          </a:xfrm>
          <a:prstGeom prst="rect">
            <a:avLst/>
          </a:prstGeom>
          <a:noFill/>
          <a:ln/>
        </p:spPr>
        <p:txBody>
          <a:bodyPr wrap="square" rtlCol="0" anchor="t"/>
          <a:lstStyle/>
          <a:p>
            <a:pPr indent="0" marL="0">
              <a:lnSpc>
                <a:spcPct val="114000"/>
              </a:lnSpc>
              <a:buNone/>
            </a:pPr>
            <a:r>
              <a:rPr lang="en-US" sz="1000" dirty="0">
                <a:solidFill>
                  <a:srgbClr val="7F9BA3"/>
                </a:solidFill>
                <a:latin typeface="Consolas" pitchFamily="34" charset="0"/>
                <a:ea typeface="Consolas" pitchFamily="34" charset="-122"/>
                <a:cs typeface="Consolas" pitchFamily="34" charset="-120"/>
              </a:rPr>
              <a:t>// Hardcoded API key for analytics</a:t>
            </a:r>
            <a:endParaRPr lang="en-US" sz="1000" dirty="0"/>
          </a:p>
          <a:p>
            <a:pPr indent="0" marL="0">
              <a:lnSpc>
                <a:spcPct val="114000"/>
              </a:lnSpc>
              <a:buNone/>
            </a:pPr>
            <a:r>
              <a:rPr lang="en-US" sz="1000" dirty="0">
                <a:solidFill>
                  <a:srgbClr val="F28B82"/>
                </a:solidFill>
                <a:latin typeface="Consolas" pitchFamily="34" charset="0"/>
                <a:ea typeface="Consolas" pitchFamily="34" charset="-122"/>
                <a:cs typeface="Consolas" pitchFamily="34" charset="-120"/>
              </a:rPr>
              <a:t>private $analyticsKey = 'AIzaSyD-9tSr****';</a:t>
            </a:r>
            <a:endParaRPr lang="en-US" sz="1000" dirty="0"/>
          </a:p>
          <a:p>
            <a:pPr indent="0" marL="0">
              <a:lnSpc>
                <a:spcPct val="114000"/>
              </a:lnSpc>
              <a:buNone/>
            </a:pPr>
            <a:r>
              <a:rPr lang="en-US" sz="1000" dirty="0">
                <a:solidFill>
                  <a:srgbClr val="F28B82"/>
                </a:solidFill>
                <a:latin typeface="Consolas" pitchFamily="34" charset="0"/>
                <a:ea typeface="Consolas" pitchFamily="34" charset="-122"/>
                <a:cs typeface="Consolas" pitchFamily="34" charset="-120"/>
              </a:rPr>
              <a:t>private $smtpPassword = 'smtp_secret_pass_2024!';</a:t>
            </a:r>
            <a:endParaRPr lang="en-US" sz="1000" dirty="0"/>
          </a:p>
        </p:txBody>
      </p:sp>
      <p:sp>
        <p:nvSpPr>
          <p:cNvPr id="13" name="Text 10"/>
          <p:cNvSpPr/>
          <p:nvPr/>
        </p:nvSpPr>
        <p:spPr>
          <a:xfrm>
            <a:off x="6858000" y="3977640"/>
            <a:ext cx="4572000" cy="274320"/>
          </a:xfrm>
          <a:prstGeom prst="rect">
            <a:avLst/>
          </a:prstGeom>
          <a:noFill/>
          <a:ln/>
        </p:spPr>
        <p:txBody>
          <a:bodyPr wrap="square" rtlCol="0" anchor="ctr"/>
          <a:lstStyle/>
          <a:p>
            <a:pPr indent="0" marL="0">
              <a:buNone/>
            </a:pPr>
            <a:r>
              <a:rPr lang="en-US" sz="1050" spc="100" kern="0" dirty="0">
                <a:solidFill>
                  <a:srgbClr val="0E8F84"/>
                </a:solidFill>
                <a:latin typeface="Poppins SemiBold" pitchFamily="34" charset="0"/>
                <a:ea typeface="Poppins SemiBold" pitchFamily="34" charset="-122"/>
                <a:cs typeface="Poppins SemiBold" pitchFamily="34" charset="-120"/>
              </a:rPr>
              <a:t>MENGAPA BERBAHAYA</a:t>
            </a:r>
            <a:endParaRPr lang="en-US" sz="1050" dirty="0"/>
          </a:p>
        </p:txBody>
      </p:sp>
      <p:sp>
        <p:nvSpPr>
          <p:cNvPr id="14" name="Text 11"/>
          <p:cNvSpPr/>
          <p:nvPr/>
        </p:nvSpPr>
        <p:spPr>
          <a:xfrm>
            <a:off x="6858000" y="4251960"/>
            <a:ext cx="4602175" cy="1874520"/>
          </a:xfrm>
          <a:prstGeom prst="rect">
            <a:avLst/>
          </a:prstGeom>
          <a:noFill/>
          <a:ln/>
        </p:spPr>
        <p:txBody>
          <a:bodyPr wrap="square" rtlCol="0" anchor="t"/>
          <a:lstStyle/>
          <a:p>
            <a:pPr marL="177800" indent="-177800">
              <a:spcAft>
                <a:spcPts val="500"/>
              </a:spcAft>
              <a:buSzPct val="100000"/>
              <a:buChar char="•"/>
            </a:pPr>
            <a:r>
              <a:rPr lang="en-US" sz="1150" dirty="0">
                <a:solidFill>
                  <a:srgbClr val="1A1E24"/>
                </a:solidFill>
                <a:latin typeface="Poppins" pitchFamily="34" charset="0"/>
                <a:ea typeface="Poppins" pitchFamily="34" charset="-122"/>
                <a:cs typeface="Poppins" pitchFamily="34" charset="-120"/>
              </a:rPr>
              <a:t>Siapa pun yang punya akses repositori (termasuk riwayat git) mendapatkan secret.</a:t>
            </a:r>
            <a:endParaRPr lang="en-US" sz="1150" dirty="0"/>
          </a:p>
          <a:p>
            <a:pPr marL="177800" indent="-177800">
              <a:spcAft>
                <a:spcPts val="500"/>
              </a:spcAft>
              <a:buSzPct val="100000"/>
              <a:buChar char="•"/>
            </a:pPr>
            <a:r>
              <a:rPr lang="en-US" sz="1150" dirty="0">
                <a:solidFill>
                  <a:srgbClr val="1A1E24"/>
                </a:solidFill>
                <a:latin typeface="Poppins" pitchFamily="34" charset="0"/>
                <a:ea typeface="Poppins" pitchFamily="34" charset="-122"/>
                <a:cs typeface="Poppins" pitchFamily="34" charset="-120"/>
              </a:rPr>
              <a:t>API key bisa disalahgunakan atas nama perusahaan; SMTP untuk phishing.</a:t>
            </a:r>
            <a:endParaRPr lang="en-US" sz="1150" dirty="0"/>
          </a:p>
          <a:p>
            <a:pPr marL="177800" indent="-177800">
              <a:spcAft>
                <a:spcPts val="500"/>
              </a:spcAft>
              <a:buSzPct val="100000"/>
              <a:buChar char="•"/>
            </a:pPr>
            <a:r>
              <a:rPr lang="en-US" sz="1150" dirty="0">
                <a:solidFill>
                  <a:srgbClr val="1A1E24"/>
                </a:solidFill>
                <a:latin typeface="Poppins" pitchFamily="34" charset="0"/>
                <a:ea typeface="Poppins" pitchFamily="34" charset="-122"/>
                <a:cs typeface="Poppins" pitchFamily="34" charset="-120"/>
              </a:rPr>
              <a:t>Secret yang sudah ter-commit harus dirotasi.</a:t>
            </a:r>
            <a:endParaRPr lang="en-US" sz="1150" dirty="0"/>
          </a:p>
        </p:txBody>
      </p:sp>
      <p:sp>
        <p:nvSpPr>
          <p:cNvPr id="15" name="Text 12"/>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16" name="Text 13"/>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ANALISIS 2 · PHP:S4790</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Password Di-hash dengan MD5</a:t>
            </a:r>
            <a:endParaRPr lang="en-US" sz="2700" dirty="0"/>
          </a:p>
        </p:txBody>
      </p:sp>
      <p:sp>
        <p:nvSpPr>
          <p:cNvPr id="5" name="Shape 3"/>
          <p:cNvSpPr/>
          <p:nvPr/>
        </p:nvSpPr>
        <p:spPr>
          <a:xfrm>
            <a:off x="731520" y="1600200"/>
            <a:ext cx="1188720" cy="310896"/>
          </a:xfrm>
          <a:prstGeom prst="roundRect">
            <a:avLst>
              <a:gd name="adj" fmla="val 50000"/>
            </a:avLst>
          </a:prstGeom>
          <a:solidFill>
            <a:srgbClr val="DB4A4A"/>
          </a:solidFill>
          <a:ln/>
        </p:spPr>
      </p:sp>
      <p:sp>
        <p:nvSpPr>
          <p:cNvPr id="6" name="Text 4"/>
          <p:cNvSpPr/>
          <p:nvPr/>
        </p:nvSpPr>
        <p:spPr>
          <a:xfrm>
            <a:off x="731520" y="1591056"/>
            <a:ext cx="1188720" cy="310896"/>
          </a:xfrm>
          <a:prstGeom prst="rect">
            <a:avLst/>
          </a:prstGeom>
          <a:noFill/>
          <a:ln/>
        </p:spPr>
        <p:txBody>
          <a:bodyPr wrap="square" rtlCol="0" anchor="ctr"/>
          <a:lstStyle/>
          <a:p>
            <a:pPr algn="ctr" indent="0" marL="0">
              <a:buNone/>
            </a:pPr>
            <a:r>
              <a:rPr lang="en-US" sz="1000" spc="100" kern="0" dirty="0">
                <a:solidFill>
                  <a:srgbClr val="FFFFFF"/>
                </a:solidFill>
                <a:latin typeface="Poppins SemiBold" pitchFamily="34" charset="0"/>
                <a:ea typeface="Poppins SemiBold" pitchFamily="34" charset="-122"/>
                <a:cs typeface="Poppins SemiBold" pitchFamily="34" charset="-120"/>
              </a:rPr>
              <a:t>HIGH</a:t>
            </a:r>
            <a:endParaRPr lang="en-US" sz="1000" dirty="0"/>
          </a:p>
        </p:txBody>
      </p:sp>
      <p:sp>
        <p:nvSpPr>
          <p:cNvPr id="7" name="Text 5"/>
          <p:cNvSpPr/>
          <p:nvPr/>
        </p:nvSpPr>
        <p:spPr>
          <a:xfrm>
            <a:off x="2057400" y="1581912"/>
            <a:ext cx="9357055" cy="347472"/>
          </a:xfrm>
          <a:prstGeom prst="rect">
            <a:avLst/>
          </a:prstGeom>
          <a:noFill/>
          <a:ln/>
        </p:spPr>
        <p:txBody>
          <a:bodyPr wrap="square" rtlCol="0" anchor="ctr"/>
          <a:lstStyle/>
          <a:p>
            <a:pPr indent="0" marL="0">
              <a:buNone/>
            </a:pPr>
            <a:r>
              <a:rPr lang="en-US" sz="1150" dirty="0">
                <a:solidFill>
                  <a:srgbClr val="6A7177"/>
                </a:solidFill>
                <a:latin typeface="Poppins Medium" pitchFamily="34" charset="0"/>
                <a:ea typeface="Poppins Medium" pitchFamily="34" charset="-122"/>
                <a:cs typeface="Poppins Medium" pitchFamily="34" charset="-120"/>
              </a:rPr>
              <a:t>AuthController.php baris 12 &amp; 25  ·  OWASP A02:2021  ·  CWE-1240</a:t>
            </a:r>
            <a:endParaRPr lang="en-US" sz="1150" dirty="0"/>
          </a:p>
        </p:txBody>
      </p:sp>
      <p:sp>
        <p:nvSpPr>
          <p:cNvPr id="8" name="Shape 6"/>
          <p:cNvSpPr/>
          <p:nvPr/>
        </p:nvSpPr>
        <p:spPr>
          <a:xfrm>
            <a:off x="1295650" y="2139696"/>
            <a:ext cx="4632461" cy="3995928"/>
          </a:xfrm>
          <a:prstGeom prst="roundRect">
            <a:avLst>
              <a:gd name="adj" fmla="val 1373"/>
            </a:avLst>
          </a:prstGeom>
          <a:solidFill>
            <a:srgbClr val="FFFFFF"/>
          </a:solidFill>
          <a:ln w="12700">
            <a:solidFill>
              <a:srgbClr val="E3E8E9"/>
            </a:solidFill>
            <a:prstDash val="solid"/>
          </a:ln>
        </p:spPr>
      </p:sp>
      <p:pic>
        <p:nvPicPr>
          <p:cNvPr id="9" name="Image 0" descr="Screenshot SonarQube">    </p:cNvPr>
          <p:cNvPicPr>
            <a:picLocks noChangeAspect="1"/>
          </p:cNvPicPr>
          <p:nvPr/>
        </p:nvPicPr>
        <p:blipFill>
          <a:blip r:embed="rId1"/>
          <a:stretch>
            <a:fillRect/>
          </a:stretch>
        </p:blipFill>
        <p:spPr>
          <a:xfrm>
            <a:off x="1350514" y="2194560"/>
            <a:ext cx="4522733" cy="3886200"/>
          </a:xfrm>
          <a:prstGeom prst="rect">
            <a:avLst/>
          </a:prstGeom>
        </p:spPr>
      </p:pic>
      <p:sp>
        <p:nvSpPr>
          <p:cNvPr id="10" name="Shape 7"/>
          <p:cNvSpPr/>
          <p:nvPr/>
        </p:nvSpPr>
        <p:spPr>
          <a:xfrm>
            <a:off x="6858000" y="2194560"/>
            <a:ext cx="4602175" cy="1600200"/>
          </a:xfrm>
          <a:prstGeom prst="roundRect">
            <a:avLst>
              <a:gd name="adj" fmla="val 3429"/>
            </a:avLst>
          </a:prstGeom>
          <a:solidFill>
            <a:srgbClr val="0E2A32"/>
          </a:solidFill>
          <a:ln/>
        </p:spPr>
      </p:sp>
      <p:sp>
        <p:nvSpPr>
          <p:cNvPr id="11" name="Shape 8"/>
          <p:cNvSpPr/>
          <p:nvPr/>
        </p:nvSpPr>
        <p:spPr>
          <a:xfrm>
            <a:off x="6858000" y="2322576"/>
            <a:ext cx="64008" cy="1344168"/>
          </a:xfrm>
          <a:prstGeom prst="rect">
            <a:avLst/>
          </a:prstGeom>
          <a:solidFill>
            <a:srgbClr val="15B3A6"/>
          </a:solidFill>
          <a:ln/>
        </p:spPr>
      </p:sp>
      <p:sp>
        <p:nvSpPr>
          <p:cNvPr id="12" name="Text 9"/>
          <p:cNvSpPr/>
          <p:nvPr/>
        </p:nvSpPr>
        <p:spPr>
          <a:xfrm>
            <a:off x="7132320" y="2340864"/>
            <a:ext cx="4144975" cy="1307592"/>
          </a:xfrm>
          <a:prstGeom prst="rect">
            <a:avLst/>
          </a:prstGeom>
          <a:noFill/>
          <a:ln/>
        </p:spPr>
        <p:txBody>
          <a:bodyPr wrap="square" rtlCol="0" anchor="t"/>
          <a:lstStyle/>
          <a:p>
            <a:pPr indent="0" marL="0">
              <a:lnSpc>
                <a:spcPct val="114000"/>
              </a:lnSpc>
              <a:buNone/>
            </a:pPr>
            <a:r>
              <a:rPr lang="en-US" sz="1000" dirty="0">
                <a:solidFill>
                  <a:srgbClr val="F28B82"/>
                </a:solidFill>
                <a:latin typeface="Consolas" pitchFamily="34" charset="0"/>
                <a:ea typeface="Consolas" pitchFamily="34" charset="-122"/>
                <a:cs typeface="Consolas" pitchFamily="34" charset="-120"/>
              </a:rPr>
              <a:t>$hashedPassword = md5($request-&gt;input('password'));</a:t>
            </a:r>
            <a:endParaRPr lang="en-US" sz="1000" dirty="0"/>
          </a:p>
          <a:p>
            <a:pPr indent="0" marL="0">
              <a:lnSpc>
                <a:spcPct val="114000"/>
              </a:lnSpc>
              <a:buNone/>
            </a:pPr>
            <a:r>
              <a:rPr lang="en-US" sz="1000" dirty="0">
                <a:solidFill>
                  <a:srgbClr val="7F9BA3"/>
                </a:solidFill>
                <a:latin typeface="Consolas" pitchFamily="34" charset="0"/>
                <a:ea typeface="Consolas" pitchFamily="34" charset="-122"/>
                <a:cs typeface="Consolas" pitchFamily="34" charset="-120"/>
              </a:rPr>
              <a:t>...</a:t>
            </a:r>
            <a:endParaRPr lang="en-US" sz="1000" dirty="0"/>
          </a:p>
          <a:p>
            <a:pPr indent="0" marL="0">
              <a:lnSpc>
                <a:spcPct val="114000"/>
              </a:lnSpc>
              <a:buNone/>
            </a:pPr>
            <a:r>
              <a:rPr lang="en-US" sz="1000" dirty="0">
                <a:solidFill>
                  <a:srgbClr val="F28B82"/>
                </a:solidFill>
                <a:latin typeface="Consolas" pitchFamily="34" charset="0"/>
                <a:ea typeface="Consolas" pitchFamily="34" charset="-122"/>
                <a:cs typeface="Consolas" pitchFamily="34" charset="-120"/>
              </a:rPr>
              <a:t>$user = DB::select("SELECT * FROM users</a:t>
            </a:r>
            <a:endParaRPr lang="en-US" sz="1000" dirty="0"/>
          </a:p>
          <a:p>
            <a:pPr indent="0" marL="0">
              <a:lnSpc>
                <a:spcPct val="114000"/>
              </a:lnSpc>
              <a:buNone/>
            </a:pPr>
            <a:r>
              <a:rPr lang="en-US" sz="1000" dirty="0">
                <a:solidFill>
                  <a:srgbClr val="F28B82"/>
                </a:solidFill>
                <a:latin typeface="Consolas" pitchFamily="34" charset="0"/>
                <a:ea typeface="Consolas" pitchFamily="34" charset="-122"/>
                <a:cs typeface="Consolas" pitchFamily="34" charset="-120"/>
              </a:rPr>
              <a:t>  WHERE email='$email' AND password='$password'");</a:t>
            </a:r>
            <a:endParaRPr lang="en-US" sz="1000" dirty="0"/>
          </a:p>
        </p:txBody>
      </p:sp>
      <p:sp>
        <p:nvSpPr>
          <p:cNvPr id="13" name="Text 10"/>
          <p:cNvSpPr/>
          <p:nvPr/>
        </p:nvSpPr>
        <p:spPr>
          <a:xfrm>
            <a:off x="6858000" y="3977640"/>
            <a:ext cx="4572000" cy="274320"/>
          </a:xfrm>
          <a:prstGeom prst="rect">
            <a:avLst/>
          </a:prstGeom>
          <a:noFill/>
          <a:ln/>
        </p:spPr>
        <p:txBody>
          <a:bodyPr wrap="square" rtlCol="0" anchor="ctr"/>
          <a:lstStyle/>
          <a:p>
            <a:pPr indent="0" marL="0">
              <a:buNone/>
            </a:pPr>
            <a:r>
              <a:rPr lang="en-US" sz="1050" spc="100" kern="0" dirty="0">
                <a:solidFill>
                  <a:srgbClr val="0E8F84"/>
                </a:solidFill>
                <a:latin typeface="Poppins SemiBold" pitchFamily="34" charset="0"/>
                <a:ea typeface="Poppins SemiBold" pitchFamily="34" charset="-122"/>
                <a:cs typeface="Poppins SemiBold" pitchFamily="34" charset="-120"/>
              </a:rPr>
              <a:t>MENGAPA BERBAHAYA</a:t>
            </a:r>
            <a:endParaRPr lang="en-US" sz="1050" dirty="0"/>
          </a:p>
        </p:txBody>
      </p:sp>
      <p:sp>
        <p:nvSpPr>
          <p:cNvPr id="14" name="Text 11"/>
          <p:cNvSpPr/>
          <p:nvPr/>
        </p:nvSpPr>
        <p:spPr>
          <a:xfrm>
            <a:off x="6858000" y="4251960"/>
            <a:ext cx="4602175" cy="1874520"/>
          </a:xfrm>
          <a:prstGeom prst="rect">
            <a:avLst/>
          </a:prstGeom>
          <a:noFill/>
          <a:ln/>
        </p:spPr>
        <p:txBody>
          <a:bodyPr wrap="square" rtlCol="0" anchor="t"/>
          <a:lstStyle/>
          <a:p>
            <a:pPr marL="177800" indent="-177800">
              <a:spcAft>
                <a:spcPts val="500"/>
              </a:spcAft>
              <a:buSzPct val="100000"/>
              <a:buChar char="•"/>
            </a:pPr>
            <a:r>
              <a:rPr lang="en-US" sz="1150" dirty="0">
                <a:solidFill>
                  <a:srgbClr val="1A1E24"/>
                </a:solidFill>
                <a:latin typeface="Poppins" pitchFamily="34" charset="0"/>
                <a:ea typeface="Poppins" pitchFamily="34" charset="-122"/>
                <a:cs typeface="Poppins" pitchFamily="34" charset="-120"/>
              </a:rPr>
              <a:t>MD5 cepat dan tanpa salt: hash bocor mudah dipecahkan dengan GPU / rainbow table.</a:t>
            </a:r>
            <a:endParaRPr lang="en-US" sz="1150" dirty="0"/>
          </a:p>
          <a:p>
            <a:pPr marL="177800" indent="-177800">
              <a:spcAft>
                <a:spcPts val="500"/>
              </a:spcAft>
              <a:buSzPct val="100000"/>
              <a:buChar char="•"/>
            </a:pPr>
            <a:r>
              <a:rPr lang="en-US" sz="1150" dirty="0">
                <a:solidFill>
                  <a:srgbClr val="1A1E24"/>
                </a:solidFill>
                <a:latin typeface="Poppins" pitchFamily="34" charset="0"/>
                <a:ea typeface="Poppins" pitchFamily="34" charset="-122"/>
                <a:cs typeface="Poppins" pitchFamily="34" charset="-120"/>
              </a:rPr>
              <a:t>Password sama menghasilkan hash sama.</a:t>
            </a:r>
            <a:endParaRPr lang="en-US" sz="1150" dirty="0"/>
          </a:p>
          <a:p>
            <a:pPr marL="177800" indent="-177800">
              <a:spcAft>
                <a:spcPts val="500"/>
              </a:spcAft>
              <a:buSzPct val="100000"/>
              <a:buChar char="•"/>
            </a:pPr>
            <a:r>
              <a:rPr lang="en-US" sz="1150" dirty="0">
                <a:solidFill>
                  <a:srgbClr val="1A1E24"/>
                </a:solidFill>
                <a:latin typeface="Poppins" pitchFamily="34" charset="0"/>
                <a:ea typeface="Poppins" pitchFamily="34" charset="-122"/>
                <a:cs typeface="Poppins" pitchFamily="34" charset="-120"/>
              </a:rPr>
              <a:t>Query login juga rentan SQL Injection (tidak dilaporkan SonarQube).</a:t>
            </a:r>
            <a:endParaRPr lang="en-US" sz="1150" dirty="0"/>
          </a:p>
        </p:txBody>
      </p:sp>
      <p:sp>
        <p:nvSpPr>
          <p:cNvPr id="15" name="Text 12"/>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16" name="Text 13"/>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ANALISIS 3 · PHP:S4502</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Proteksi CSRF Dimatikan untuk Semua Route</a:t>
            </a:r>
            <a:endParaRPr lang="en-US" sz="2700" dirty="0"/>
          </a:p>
        </p:txBody>
      </p:sp>
      <p:sp>
        <p:nvSpPr>
          <p:cNvPr id="5" name="Shape 3"/>
          <p:cNvSpPr/>
          <p:nvPr/>
        </p:nvSpPr>
        <p:spPr>
          <a:xfrm>
            <a:off x="731520" y="1600200"/>
            <a:ext cx="1188720" cy="310896"/>
          </a:xfrm>
          <a:prstGeom prst="roundRect">
            <a:avLst>
              <a:gd name="adj" fmla="val 50000"/>
            </a:avLst>
          </a:prstGeom>
          <a:solidFill>
            <a:srgbClr val="DB4A4A"/>
          </a:solidFill>
          <a:ln/>
        </p:spPr>
      </p:sp>
      <p:sp>
        <p:nvSpPr>
          <p:cNvPr id="6" name="Text 4"/>
          <p:cNvSpPr/>
          <p:nvPr/>
        </p:nvSpPr>
        <p:spPr>
          <a:xfrm>
            <a:off x="731520" y="1591056"/>
            <a:ext cx="1188720" cy="310896"/>
          </a:xfrm>
          <a:prstGeom prst="rect">
            <a:avLst/>
          </a:prstGeom>
          <a:noFill/>
          <a:ln/>
        </p:spPr>
        <p:txBody>
          <a:bodyPr wrap="square" rtlCol="0" anchor="ctr"/>
          <a:lstStyle/>
          <a:p>
            <a:pPr algn="ctr" indent="0" marL="0">
              <a:buNone/>
            </a:pPr>
            <a:r>
              <a:rPr lang="en-US" sz="1000" spc="100" kern="0" dirty="0">
                <a:solidFill>
                  <a:srgbClr val="FFFFFF"/>
                </a:solidFill>
                <a:latin typeface="Poppins SemiBold" pitchFamily="34" charset="0"/>
                <a:ea typeface="Poppins SemiBold" pitchFamily="34" charset="-122"/>
                <a:cs typeface="Poppins SemiBold" pitchFamily="34" charset="-120"/>
              </a:rPr>
              <a:t>HIGH</a:t>
            </a:r>
            <a:endParaRPr lang="en-US" sz="1000" dirty="0"/>
          </a:p>
        </p:txBody>
      </p:sp>
      <p:sp>
        <p:nvSpPr>
          <p:cNvPr id="7" name="Text 5"/>
          <p:cNvSpPr/>
          <p:nvPr/>
        </p:nvSpPr>
        <p:spPr>
          <a:xfrm>
            <a:off x="2057400" y="1581912"/>
            <a:ext cx="9357055" cy="347472"/>
          </a:xfrm>
          <a:prstGeom prst="rect">
            <a:avLst/>
          </a:prstGeom>
          <a:noFill/>
          <a:ln/>
        </p:spPr>
        <p:txBody>
          <a:bodyPr wrap="square" rtlCol="0" anchor="ctr"/>
          <a:lstStyle/>
          <a:p>
            <a:pPr indent="0" marL="0">
              <a:buNone/>
            </a:pPr>
            <a:r>
              <a:rPr lang="en-US" sz="1150" dirty="0">
                <a:solidFill>
                  <a:srgbClr val="6A7177"/>
                </a:solidFill>
                <a:latin typeface="Poppins Medium" pitchFamily="34" charset="0"/>
                <a:ea typeface="Poppins Medium" pitchFamily="34" charset="-122"/>
                <a:cs typeface="Poppins Medium" pitchFamily="34" charset="-120"/>
              </a:rPr>
              <a:t>VerifyCsrfToken.php baris 12  ·  OWASP A01:2021  ·  CWE-352</a:t>
            </a:r>
            <a:endParaRPr lang="en-US" sz="1150" dirty="0"/>
          </a:p>
        </p:txBody>
      </p:sp>
      <p:sp>
        <p:nvSpPr>
          <p:cNvPr id="8" name="Shape 6"/>
          <p:cNvSpPr/>
          <p:nvPr/>
        </p:nvSpPr>
        <p:spPr>
          <a:xfrm>
            <a:off x="1295650" y="2139696"/>
            <a:ext cx="4632461" cy="3995928"/>
          </a:xfrm>
          <a:prstGeom prst="roundRect">
            <a:avLst>
              <a:gd name="adj" fmla="val 1373"/>
            </a:avLst>
          </a:prstGeom>
          <a:solidFill>
            <a:srgbClr val="FFFFFF"/>
          </a:solidFill>
          <a:ln w="12700">
            <a:solidFill>
              <a:srgbClr val="E3E8E9"/>
            </a:solidFill>
            <a:prstDash val="solid"/>
          </a:ln>
        </p:spPr>
      </p:sp>
      <p:pic>
        <p:nvPicPr>
          <p:cNvPr id="9" name="Image 0" descr="Screenshot SonarQube">    </p:cNvPr>
          <p:cNvPicPr>
            <a:picLocks noChangeAspect="1"/>
          </p:cNvPicPr>
          <p:nvPr/>
        </p:nvPicPr>
        <p:blipFill>
          <a:blip r:embed="rId1"/>
          <a:stretch>
            <a:fillRect/>
          </a:stretch>
        </p:blipFill>
        <p:spPr>
          <a:xfrm>
            <a:off x="1350514" y="2194560"/>
            <a:ext cx="4522733" cy="3886200"/>
          </a:xfrm>
          <a:prstGeom prst="rect">
            <a:avLst/>
          </a:prstGeom>
        </p:spPr>
      </p:pic>
      <p:sp>
        <p:nvSpPr>
          <p:cNvPr id="10" name="Shape 7"/>
          <p:cNvSpPr/>
          <p:nvPr/>
        </p:nvSpPr>
        <p:spPr>
          <a:xfrm>
            <a:off x="6858000" y="2194560"/>
            <a:ext cx="4602175" cy="1600200"/>
          </a:xfrm>
          <a:prstGeom prst="roundRect">
            <a:avLst>
              <a:gd name="adj" fmla="val 3429"/>
            </a:avLst>
          </a:prstGeom>
          <a:solidFill>
            <a:srgbClr val="0E2A32"/>
          </a:solidFill>
          <a:ln/>
        </p:spPr>
      </p:sp>
      <p:sp>
        <p:nvSpPr>
          <p:cNvPr id="11" name="Shape 8"/>
          <p:cNvSpPr/>
          <p:nvPr/>
        </p:nvSpPr>
        <p:spPr>
          <a:xfrm>
            <a:off x="6858000" y="2322576"/>
            <a:ext cx="64008" cy="1344168"/>
          </a:xfrm>
          <a:prstGeom prst="rect">
            <a:avLst/>
          </a:prstGeom>
          <a:solidFill>
            <a:srgbClr val="15B3A6"/>
          </a:solidFill>
          <a:ln/>
        </p:spPr>
      </p:sp>
      <p:sp>
        <p:nvSpPr>
          <p:cNvPr id="12" name="Text 9"/>
          <p:cNvSpPr/>
          <p:nvPr/>
        </p:nvSpPr>
        <p:spPr>
          <a:xfrm>
            <a:off x="7132320" y="2340864"/>
            <a:ext cx="4144975" cy="1307592"/>
          </a:xfrm>
          <a:prstGeom prst="rect">
            <a:avLst/>
          </a:prstGeom>
          <a:noFill/>
          <a:ln/>
        </p:spPr>
        <p:txBody>
          <a:bodyPr wrap="square" rtlCol="0" anchor="t"/>
          <a:lstStyle/>
          <a:p>
            <a:pPr indent="0" marL="0">
              <a:lnSpc>
                <a:spcPct val="114000"/>
              </a:lnSpc>
              <a:buNone/>
            </a:pPr>
            <a:r>
              <a:rPr lang="en-US" sz="1000" dirty="0">
                <a:solidFill>
                  <a:srgbClr val="7F9BA3"/>
                </a:solidFill>
                <a:latin typeface="Consolas" pitchFamily="34" charset="0"/>
                <a:ea typeface="Consolas" pitchFamily="34" charset="-122"/>
                <a:cs typeface="Consolas" pitchFamily="34" charset="-120"/>
              </a:rPr>
              <a:t> * TODO: Remove this before production!</a:t>
            </a:r>
            <a:endParaRPr lang="en-US" sz="1000" dirty="0"/>
          </a:p>
          <a:p>
            <a:pPr indent="0" marL="0">
              <a:lnSpc>
                <a:spcPct val="114000"/>
              </a:lnSpc>
              <a:buNone/>
            </a:pPr>
            <a:r>
              <a:rPr lang="en-US" sz="1000" dirty="0">
                <a:solidFill>
                  <a:srgbClr val="F28B82"/>
                </a:solidFill>
                <a:latin typeface="Consolas" pitchFamily="34" charset="0"/>
                <a:ea typeface="Consolas" pitchFamily="34" charset="-122"/>
                <a:cs typeface="Consolas" pitchFamily="34" charset="-120"/>
              </a:rPr>
              <a:t>protected $except = [</a:t>
            </a:r>
            <a:endParaRPr lang="en-US" sz="1000" dirty="0"/>
          </a:p>
          <a:p>
            <a:pPr indent="0" marL="0">
              <a:lnSpc>
                <a:spcPct val="114000"/>
              </a:lnSpc>
              <a:buNone/>
            </a:pPr>
            <a:r>
              <a:rPr lang="en-US" sz="1000" dirty="0">
                <a:solidFill>
                  <a:srgbClr val="F28B82"/>
                </a:solidFill>
                <a:latin typeface="Consolas" pitchFamily="34" charset="0"/>
                <a:ea typeface="Consolas" pitchFamily="34" charset="-122"/>
                <a:cs typeface="Consolas" pitchFamily="34" charset="-120"/>
              </a:rPr>
              <a:t>    '*',</a:t>
            </a:r>
            <a:endParaRPr lang="en-US" sz="1000" dirty="0"/>
          </a:p>
          <a:p>
            <a:pPr indent="0" marL="0">
              <a:lnSpc>
                <a:spcPct val="114000"/>
              </a:lnSpc>
              <a:buNone/>
            </a:pPr>
            <a:r>
              <a:rPr lang="en-US" sz="1000" dirty="0">
                <a:solidFill>
                  <a:srgbClr val="F28B82"/>
                </a:solidFill>
                <a:latin typeface="Consolas" pitchFamily="34" charset="0"/>
                <a:ea typeface="Consolas" pitchFamily="34" charset="-122"/>
                <a:cs typeface="Consolas" pitchFamily="34" charset="-120"/>
              </a:rPr>
              <a:t>];</a:t>
            </a:r>
            <a:endParaRPr lang="en-US" sz="1000" dirty="0"/>
          </a:p>
        </p:txBody>
      </p:sp>
      <p:sp>
        <p:nvSpPr>
          <p:cNvPr id="13" name="Text 10"/>
          <p:cNvSpPr/>
          <p:nvPr/>
        </p:nvSpPr>
        <p:spPr>
          <a:xfrm>
            <a:off x="6858000" y="3977640"/>
            <a:ext cx="4572000" cy="274320"/>
          </a:xfrm>
          <a:prstGeom prst="rect">
            <a:avLst/>
          </a:prstGeom>
          <a:noFill/>
          <a:ln/>
        </p:spPr>
        <p:txBody>
          <a:bodyPr wrap="square" rtlCol="0" anchor="ctr"/>
          <a:lstStyle/>
          <a:p>
            <a:pPr indent="0" marL="0">
              <a:buNone/>
            </a:pPr>
            <a:r>
              <a:rPr lang="en-US" sz="1050" spc="100" kern="0" dirty="0">
                <a:solidFill>
                  <a:srgbClr val="0E8F84"/>
                </a:solidFill>
                <a:latin typeface="Poppins SemiBold" pitchFamily="34" charset="0"/>
                <a:ea typeface="Poppins SemiBold" pitchFamily="34" charset="-122"/>
                <a:cs typeface="Poppins SemiBold" pitchFamily="34" charset="-120"/>
              </a:rPr>
              <a:t>MENGAPA BERBAHAYA</a:t>
            </a:r>
            <a:endParaRPr lang="en-US" sz="1050" dirty="0"/>
          </a:p>
        </p:txBody>
      </p:sp>
      <p:sp>
        <p:nvSpPr>
          <p:cNvPr id="14" name="Text 11"/>
          <p:cNvSpPr/>
          <p:nvPr/>
        </p:nvSpPr>
        <p:spPr>
          <a:xfrm>
            <a:off x="6858000" y="4251960"/>
            <a:ext cx="4602175" cy="1874520"/>
          </a:xfrm>
          <a:prstGeom prst="rect">
            <a:avLst/>
          </a:prstGeom>
          <a:noFill/>
          <a:ln/>
        </p:spPr>
        <p:txBody>
          <a:bodyPr wrap="square" rtlCol="0" anchor="t"/>
          <a:lstStyle/>
          <a:p>
            <a:pPr marL="177800" indent="-177800">
              <a:spcAft>
                <a:spcPts val="500"/>
              </a:spcAft>
              <a:buSzPct val="100000"/>
              <a:buChar char="•"/>
            </a:pPr>
            <a:r>
              <a:rPr lang="en-US" sz="1150" dirty="0">
                <a:solidFill>
                  <a:srgbClr val="1A1E24"/>
                </a:solidFill>
                <a:latin typeface="Poppins" pitchFamily="34" charset="0"/>
                <a:ea typeface="Poppins" pitchFamily="34" charset="-122"/>
                <a:cs typeface="Poppins" pitchFamily="34" charset="-120"/>
              </a:rPr>
              <a:t>Token CSRF tidak pernah diperiksa di route mana pun.</a:t>
            </a:r>
            <a:endParaRPr lang="en-US" sz="1150" dirty="0"/>
          </a:p>
          <a:p>
            <a:pPr marL="177800" indent="-177800">
              <a:spcAft>
                <a:spcPts val="500"/>
              </a:spcAft>
              <a:buSzPct val="100000"/>
              <a:buChar char="•"/>
            </a:pPr>
            <a:r>
              <a:rPr lang="en-US" sz="1150" dirty="0">
                <a:solidFill>
                  <a:srgbClr val="1A1E24"/>
                </a:solidFill>
                <a:latin typeface="Poppins" pitchFamily="34" charset="0"/>
                <a:ea typeface="Poppins" pitchFamily="34" charset="-122"/>
                <a:cs typeface="Poppins" pitchFamily="34" charset="-120"/>
              </a:rPr>
              <a:t>Halaman jahat bisa mengirim form atas nama korban yang sedang login (hapus post, aksi admin).</a:t>
            </a:r>
            <a:endParaRPr lang="en-US" sz="1150" dirty="0"/>
          </a:p>
          <a:p>
            <a:pPr marL="177800" indent="-177800">
              <a:spcAft>
                <a:spcPts val="500"/>
              </a:spcAft>
              <a:buSzPct val="100000"/>
              <a:buChar char="•"/>
            </a:pPr>
            <a:r>
              <a:rPr lang="en-US" sz="1150" dirty="0">
                <a:solidFill>
                  <a:srgbClr val="1A1E24"/>
                </a:solidFill>
                <a:latin typeface="Poppins" pitchFamily="34" charset="0"/>
                <a:ea typeface="Poppins" pitchFamily="34" charset="-122"/>
                <a:cs typeface="Poppins" pitchFamily="34" charset="-120"/>
              </a:rPr>
              <a:t>Konfigurasi "sementara" yang terbawa ke production.</a:t>
            </a:r>
            <a:endParaRPr lang="en-US" sz="1150" dirty="0"/>
          </a:p>
        </p:txBody>
      </p:sp>
      <p:sp>
        <p:nvSpPr>
          <p:cNvPr id="15" name="Text 12"/>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16" name="Text 13"/>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ANALISIS 4 · PHP:S1313 + REVIEW MANUAL</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Yang Tidak Terlihat oleh SonarQube</a:t>
            </a:r>
            <a:endParaRPr lang="en-US" sz="2700" dirty="0"/>
          </a:p>
        </p:txBody>
      </p:sp>
      <p:sp>
        <p:nvSpPr>
          <p:cNvPr id="5" name="Shape 3"/>
          <p:cNvSpPr/>
          <p:nvPr/>
        </p:nvSpPr>
        <p:spPr>
          <a:xfrm>
            <a:off x="731520" y="1600200"/>
            <a:ext cx="914400" cy="310896"/>
          </a:xfrm>
          <a:prstGeom prst="roundRect">
            <a:avLst>
              <a:gd name="adj" fmla="val 50000"/>
            </a:avLst>
          </a:prstGeom>
          <a:solidFill>
            <a:srgbClr val="CDA93C"/>
          </a:solidFill>
          <a:ln/>
        </p:spPr>
      </p:sp>
      <p:sp>
        <p:nvSpPr>
          <p:cNvPr id="6" name="Text 4"/>
          <p:cNvSpPr/>
          <p:nvPr/>
        </p:nvSpPr>
        <p:spPr>
          <a:xfrm>
            <a:off x="731520" y="1591056"/>
            <a:ext cx="914400" cy="310896"/>
          </a:xfrm>
          <a:prstGeom prst="rect">
            <a:avLst/>
          </a:prstGeom>
          <a:noFill/>
          <a:ln/>
        </p:spPr>
        <p:txBody>
          <a:bodyPr wrap="square" rtlCol="0" anchor="ctr"/>
          <a:lstStyle/>
          <a:p>
            <a:pPr algn="ctr" indent="0" marL="0">
              <a:buNone/>
            </a:pPr>
            <a:r>
              <a:rPr lang="en-US" sz="1000" spc="100" kern="0" dirty="0">
                <a:solidFill>
                  <a:srgbClr val="FFFFFF"/>
                </a:solidFill>
                <a:latin typeface="Poppins SemiBold" pitchFamily="34" charset="0"/>
                <a:ea typeface="Poppins SemiBold" pitchFamily="34" charset="-122"/>
                <a:cs typeface="Poppins SemiBold" pitchFamily="34" charset="-120"/>
              </a:rPr>
              <a:t>LOW</a:t>
            </a:r>
            <a:endParaRPr lang="en-US" sz="1000" dirty="0"/>
          </a:p>
        </p:txBody>
      </p:sp>
      <p:sp>
        <p:nvSpPr>
          <p:cNvPr id="7" name="Text 5"/>
          <p:cNvSpPr/>
          <p:nvPr/>
        </p:nvSpPr>
        <p:spPr>
          <a:xfrm>
            <a:off x="1783080" y="1554480"/>
            <a:ext cx="9631375" cy="457200"/>
          </a:xfrm>
          <a:prstGeom prst="rect">
            <a:avLst/>
          </a:prstGeom>
          <a:noFill/>
          <a:ln/>
        </p:spPr>
        <p:txBody>
          <a:bodyPr wrap="square" rtlCol="0" anchor="ctr"/>
          <a:lstStyle/>
          <a:p>
            <a:pPr indent="0" marL="0">
              <a:buNone/>
            </a:pPr>
            <a:r>
              <a:rPr lang="en-US" sz="1150" dirty="0">
                <a:solidFill>
                  <a:srgbClr val="1A1E24"/>
                </a:solidFill>
                <a:latin typeface="Poppins Medium" pitchFamily="34" charset="0"/>
                <a:ea typeface="Poppins Medium" pitchFamily="34" charset="-122"/>
                <a:cs typeface="Poppins Medium" pitchFamily="34" charset="-120"/>
              </a:rPr>
              <a:t>config/database.php:15, IP 10.0.0.5 hardcoded. Password DB di file yang sama tidak dilaporkan.</a:t>
            </a:r>
            <a:endParaRPr lang="en-US" sz="1150" dirty="0"/>
          </a:p>
        </p:txBody>
      </p:sp>
      <p:sp>
        <p:nvSpPr>
          <p:cNvPr id="8" name="Text 6"/>
          <p:cNvSpPr/>
          <p:nvPr/>
        </p:nvSpPr>
        <p:spPr>
          <a:xfrm>
            <a:off x="731520" y="2240280"/>
            <a:ext cx="10728655" cy="274320"/>
          </a:xfrm>
          <a:prstGeom prst="rect">
            <a:avLst/>
          </a:prstGeom>
          <a:noFill/>
          <a:ln/>
        </p:spPr>
        <p:txBody>
          <a:bodyPr wrap="square" rtlCol="0" anchor="ctr"/>
          <a:lstStyle/>
          <a:p>
            <a:pPr indent="0" marL="0">
              <a:buNone/>
            </a:pPr>
            <a:r>
              <a:rPr lang="en-US" sz="1050" spc="100" kern="0" dirty="0">
                <a:solidFill>
                  <a:srgbClr val="0E8F84"/>
                </a:solidFill>
                <a:latin typeface="Poppins SemiBold" pitchFamily="34" charset="0"/>
                <a:ea typeface="Poppins SemiBold" pitchFamily="34" charset="-122"/>
                <a:cs typeface="Poppins SemiBold" pitchFamily="34" charset="-120"/>
              </a:rPr>
              <a:t>TEMUAN REVIEW MANUAL (TIDAK TERDETEKSI COMMUNITY BUILD)</a:t>
            </a:r>
            <a:endParaRPr lang="en-US" sz="1050" dirty="0"/>
          </a:p>
        </p:txBody>
      </p:sp>
      <p:sp>
        <p:nvSpPr>
          <p:cNvPr id="9" name="Shape 7"/>
          <p:cNvSpPr/>
          <p:nvPr/>
        </p:nvSpPr>
        <p:spPr>
          <a:xfrm>
            <a:off x="731520" y="2606040"/>
            <a:ext cx="10728655" cy="457200"/>
          </a:xfrm>
          <a:prstGeom prst="roundRect">
            <a:avLst>
              <a:gd name="adj" fmla="val 16000"/>
            </a:avLst>
          </a:prstGeom>
          <a:solidFill>
            <a:srgbClr val="EEF3F4"/>
          </a:solidFill>
          <a:ln w="9525">
            <a:solidFill>
              <a:srgbClr val="E3E8E9"/>
            </a:solidFill>
            <a:prstDash val="solid"/>
          </a:ln>
        </p:spPr>
      </p:sp>
      <p:sp>
        <p:nvSpPr>
          <p:cNvPr id="10" name="Text 8"/>
          <p:cNvSpPr/>
          <p:nvPr/>
        </p:nvSpPr>
        <p:spPr>
          <a:xfrm>
            <a:off x="960120" y="2606040"/>
            <a:ext cx="2743200" cy="457200"/>
          </a:xfrm>
          <a:prstGeom prst="rect">
            <a:avLst/>
          </a:prstGeom>
          <a:noFill/>
          <a:ln/>
        </p:spPr>
        <p:txBody>
          <a:bodyPr wrap="square" rtlCol="0" anchor="ctr"/>
          <a:lstStyle/>
          <a:p>
            <a:pPr indent="0" marL="0">
              <a:buNone/>
            </a:pPr>
            <a:r>
              <a:rPr lang="en-US" sz="1250" dirty="0">
                <a:solidFill>
                  <a:srgbClr val="1A1E24"/>
                </a:solidFill>
                <a:latin typeface="Poppins SemiBold" pitchFamily="34" charset="0"/>
                <a:ea typeface="Poppins SemiBold" pitchFamily="34" charset="-122"/>
                <a:cs typeface="Poppins SemiBold" pitchFamily="34" charset="-120"/>
              </a:rPr>
              <a:t>SQL Injection</a:t>
            </a:r>
            <a:endParaRPr lang="en-US" sz="1250" dirty="0"/>
          </a:p>
        </p:txBody>
      </p:sp>
      <p:sp>
        <p:nvSpPr>
          <p:cNvPr id="11" name="Text 9"/>
          <p:cNvSpPr/>
          <p:nvPr/>
        </p:nvSpPr>
        <p:spPr>
          <a:xfrm>
            <a:off x="3749040" y="2606040"/>
            <a:ext cx="6217920" cy="457200"/>
          </a:xfrm>
          <a:prstGeom prst="rect">
            <a:avLst/>
          </a:prstGeom>
          <a:noFill/>
          <a:ln/>
        </p:spPr>
        <p:txBody>
          <a:bodyPr wrap="square" rtlCol="0" anchor="ctr"/>
          <a:lstStyle/>
          <a:p>
            <a:pPr indent="0" marL="0">
              <a:buNone/>
            </a:pPr>
            <a:r>
              <a:rPr lang="en-US" sz="1150" dirty="0">
                <a:solidFill>
                  <a:srgbClr val="6A7177"/>
                </a:solidFill>
                <a:latin typeface="Poppins" pitchFamily="34" charset="0"/>
                <a:ea typeface="Poppins" pitchFamily="34" charset="-122"/>
                <a:cs typeface="Poppins" pitchFamily="34" charset="-120"/>
              </a:rPr>
              <a:t>ArticleController 14, 24 · AuthController 26</a:t>
            </a:r>
            <a:endParaRPr lang="en-US" sz="1150" dirty="0"/>
          </a:p>
        </p:txBody>
      </p:sp>
      <p:sp>
        <p:nvSpPr>
          <p:cNvPr id="12" name="Shape 10"/>
          <p:cNvSpPr/>
          <p:nvPr/>
        </p:nvSpPr>
        <p:spPr>
          <a:xfrm>
            <a:off x="9951415" y="2697480"/>
            <a:ext cx="1325880" cy="274320"/>
          </a:xfrm>
          <a:prstGeom prst="roundRect">
            <a:avLst>
              <a:gd name="adj" fmla="val 50000"/>
            </a:avLst>
          </a:prstGeom>
          <a:solidFill>
            <a:srgbClr val="0F2E3B"/>
          </a:solidFill>
          <a:ln/>
        </p:spPr>
      </p:sp>
      <p:sp>
        <p:nvSpPr>
          <p:cNvPr id="13" name="Text 11"/>
          <p:cNvSpPr/>
          <p:nvPr/>
        </p:nvSpPr>
        <p:spPr>
          <a:xfrm>
            <a:off x="9951415" y="2688336"/>
            <a:ext cx="1325880" cy="274320"/>
          </a:xfrm>
          <a:prstGeom prst="rect">
            <a:avLst/>
          </a:prstGeom>
          <a:noFill/>
          <a:ln/>
        </p:spPr>
        <p:txBody>
          <a:bodyPr wrap="square" rtlCol="0" anchor="ctr"/>
          <a:lstStyle/>
          <a:p>
            <a:pPr algn="ctr" indent="0" marL="0">
              <a:buNone/>
            </a:pPr>
            <a:r>
              <a:rPr lang="en-US" sz="900" spc="100" kern="0" dirty="0">
                <a:solidFill>
                  <a:srgbClr val="FFFFFF"/>
                </a:solidFill>
                <a:latin typeface="Poppins SemiBold" pitchFamily="34" charset="0"/>
                <a:ea typeface="Poppins SemiBold" pitchFamily="34" charset="-122"/>
                <a:cs typeface="Poppins SemiBold" pitchFamily="34" charset="-120"/>
              </a:rPr>
              <a:t>OWASP A03</a:t>
            </a:r>
            <a:endParaRPr lang="en-US" sz="900" dirty="0"/>
          </a:p>
        </p:txBody>
      </p:sp>
      <p:sp>
        <p:nvSpPr>
          <p:cNvPr id="14" name="Shape 12"/>
          <p:cNvSpPr/>
          <p:nvPr/>
        </p:nvSpPr>
        <p:spPr>
          <a:xfrm>
            <a:off x="731520" y="3154680"/>
            <a:ext cx="10728655" cy="457200"/>
          </a:xfrm>
          <a:prstGeom prst="roundRect">
            <a:avLst>
              <a:gd name="adj" fmla="val 16000"/>
            </a:avLst>
          </a:prstGeom>
          <a:solidFill>
            <a:srgbClr val="FFFFFF"/>
          </a:solidFill>
          <a:ln w="9525">
            <a:solidFill>
              <a:srgbClr val="E3E8E9"/>
            </a:solidFill>
            <a:prstDash val="solid"/>
          </a:ln>
        </p:spPr>
      </p:sp>
      <p:sp>
        <p:nvSpPr>
          <p:cNvPr id="15" name="Text 13"/>
          <p:cNvSpPr/>
          <p:nvPr/>
        </p:nvSpPr>
        <p:spPr>
          <a:xfrm>
            <a:off x="960120" y="3154680"/>
            <a:ext cx="2743200" cy="457200"/>
          </a:xfrm>
          <a:prstGeom prst="rect">
            <a:avLst/>
          </a:prstGeom>
          <a:noFill/>
          <a:ln/>
        </p:spPr>
        <p:txBody>
          <a:bodyPr wrap="square" rtlCol="0" anchor="ctr"/>
          <a:lstStyle/>
          <a:p>
            <a:pPr indent="0" marL="0">
              <a:buNone/>
            </a:pPr>
            <a:r>
              <a:rPr lang="en-US" sz="1250" dirty="0">
                <a:solidFill>
                  <a:srgbClr val="1A1E24"/>
                </a:solidFill>
                <a:latin typeface="Poppins SemiBold" pitchFamily="34" charset="0"/>
                <a:ea typeface="Poppins SemiBold" pitchFamily="34" charset="-122"/>
                <a:cs typeface="Poppins SemiBold" pitchFamily="34" charset="-120"/>
              </a:rPr>
              <a:t>OS Command Injection</a:t>
            </a:r>
            <a:endParaRPr lang="en-US" sz="1250" dirty="0"/>
          </a:p>
        </p:txBody>
      </p:sp>
      <p:sp>
        <p:nvSpPr>
          <p:cNvPr id="16" name="Text 14"/>
          <p:cNvSpPr/>
          <p:nvPr/>
        </p:nvSpPr>
        <p:spPr>
          <a:xfrm>
            <a:off x="3749040" y="3154680"/>
            <a:ext cx="6217920" cy="457200"/>
          </a:xfrm>
          <a:prstGeom prst="rect">
            <a:avLst/>
          </a:prstGeom>
          <a:noFill/>
          <a:ln/>
        </p:spPr>
        <p:txBody>
          <a:bodyPr wrap="square" rtlCol="0" anchor="ctr"/>
          <a:lstStyle/>
          <a:p>
            <a:pPr indent="0" marL="0">
              <a:buNone/>
            </a:pPr>
            <a:r>
              <a:rPr lang="en-US" sz="1150" dirty="0">
                <a:solidFill>
                  <a:srgbClr val="6A7177"/>
                </a:solidFill>
                <a:latin typeface="Poppins" pitchFamily="34" charset="0"/>
                <a:ea typeface="Poppins" pitchFamily="34" charset="-122"/>
                <a:cs typeface="Poppins" pitchFamily="34" charset="-120"/>
              </a:rPr>
              <a:t>AdminController 17, 27 (exec, shell_exec)</a:t>
            </a:r>
            <a:endParaRPr lang="en-US" sz="1150" dirty="0"/>
          </a:p>
        </p:txBody>
      </p:sp>
      <p:sp>
        <p:nvSpPr>
          <p:cNvPr id="17" name="Shape 15"/>
          <p:cNvSpPr/>
          <p:nvPr/>
        </p:nvSpPr>
        <p:spPr>
          <a:xfrm>
            <a:off x="9951415" y="3246120"/>
            <a:ext cx="1325880" cy="274320"/>
          </a:xfrm>
          <a:prstGeom prst="roundRect">
            <a:avLst>
              <a:gd name="adj" fmla="val 50000"/>
            </a:avLst>
          </a:prstGeom>
          <a:solidFill>
            <a:srgbClr val="0F2E3B"/>
          </a:solidFill>
          <a:ln/>
        </p:spPr>
      </p:sp>
      <p:sp>
        <p:nvSpPr>
          <p:cNvPr id="18" name="Text 16"/>
          <p:cNvSpPr/>
          <p:nvPr/>
        </p:nvSpPr>
        <p:spPr>
          <a:xfrm>
            <a:off x="9951415" y="3236976"/>
            <a:ext cx="1325880" cy="274320"/>
          </a:xfrm>
          <a:prstGeom prst="rect">
            <a:avLst/>
          </a:prstGeom>
          <a:noFill/>
          <a:ln/>
        </p:spPr>
        <p:txBody>
          <a:bodyPr wrap="square" rtlCol="0" anchor="ctr"/>
          <a:lstStyle/>
          <a:p>
            <a:pPr algn="ctr" indent="0" marL="0">
              <a:buNone/>
            </a:pPr>
            <a:r>
              <a:rPr lang="en-US" sz="900" spc="100" kern="0" dirty="0">
                <a:solidFill>
                  <a:srgbClr val="FFFFFF"/>
                </a:solidFill>
                <a:latin typeface="Poppins SemiBold" pitchFamily="34" charset="0"/>
                <a:ea typeface="Poppins SemiBold" pitchFamily="34" charset="-122"/>
                <a:cs typeface="Poppins SemiBold" pitchFamily="34" charset="-120"/>
              </a:rPr>
              <a:t>OWASP A03</a:t>
            </a:r>
            <a:endParaRPr lang="en-US" sz="900" dirty="0"/>
          </a:p>
        </p:txBody>
      </p:sp>
      <p:sp>
        <p:nvSpPr>
          <p:cNvPr id="19" name="Shape 17"/>
          <p:cNvSpPr/>
          <p:nvPr/>
        </p:nvSpPr>
        <p:spPr>
          <a:xfrm>
            <a:off x="731520" y="3703320"/>
            <a:ext cx="10728655" cy="457200"/>
          </a:xfrm>
          <a:prstGeom prst="roundRect">
            <a:avLst>
              <a:gd name="adj" fmla="val 16000"/>
            </a:avLst>
          </a:prstGeom>
          <a:solidFill>
            <a:srgbClr val="EEF3F4"/>
          </a:solidFill>
          <a:ln w="9525">
            <a:solidFill>
              <a:srgbClr val="E3E8E9"/>
            </a:solidFill>
            <a:prstDash val="solid"/>
          </a:ln>
        </p:spPr>
      </p:sp>
      <p:sp>
        <p:nvSpPr>
          <p:cNvPr id="20" name="Text 18"/>
          <p:cNvSpPr/>
          <p:nvPr/>
        </p:nvSpPr>
        <p:spPr>
          <a:xfrm>
            <a:off x="960120" y="3703320"/>
            <a:ext cx="2743200" cy="457200"/>
          </a:xfrm>
          <a:prstGeom prst="rect">
            <a:avLst/>
          </a:prstGeom>
          <a:noFill/>
          <a:ln/>
        </p:spPr>
        <p:txBody>
          <a:bodyPr wrap="square" rtlCol="0" anchor="ctr"/>
          <a:lstStyle/>
          <a:p>
            <a:pPr indent="0" marL="0">
              <a:buNone/>
            </a:pPr>
            <a:r>
              <a:rPr lang="en-US" sz="1250" dirty="0">
                <a:solidFill>
                  <a:srgbClr val="1A1E24"/>
                </a:solidFill>
                <a:latin typeface="Poppins SemiBold" pitchFamily="34" charset="0"/>
                <a:ea typeface="Poppins SemiBold" pitchFamily="34" charset="-122"/>
                <a:cs typeface="Poppins SemiBold" pitchFamily="34" charset="-120"/>
              </a:rPr>
              <a:t>Path Traversal</a:t>
            </a:r>
            <a:endParaRPr lang="en-US" sz="1250" dirty="0"/>
          </a:p>
        </p:txBody>
      </p:sp>
      <p:sp>
        <p:nvSpPr>
          <p:cNvPr id="21" name="Text 19"/>
          <p:cNvSpPr/>
          <p:nvPr/>
        </p:nvSpPr>
        <p:spPr>
          <a:xfrm>
            <a:off x="3749040" y="3703320"/>
            <a:ext cx="6217920" cy="457200"/>
          </a:xfrm>
          <a:prstGeom prst="rect">
            <a:avLst/>
          </a:prstGeom>
          <a:noFill/>
          <a:ln/>
        </p:spPr>
        <p:txBody>
          <a:bodyPr wrap="square" rtlCol="0" anchor="ctr"/>
          <a:lstStyle/>
          <a:p>
            <a:pPr indent="0" marL="0">
              <a:buNone/>
            </a:pPr>
            <a:r>
              <a:rPr lang="en-US" sz="1150" dirty="0">
                <a:solidFill>
                  <a:srgbClr val="6A7177"/>
                </a:solidFill>
                <a:latin typeface="Poppins" pitchFamily="34" charset="0"/>
                <a:ea typeface="Poppins" pitchFamily="34" charset="-122"/>
                <a:cs typeface="Poppins" pitchFamily="34" charset="-120"/>
              </a:rPr>
              <a:t>FileController 13, 21 (../../.env)</a:t>
            </a:r>
            <a:endParaRPr lang="en-US" sz="1150" dirty="0"/>
          </a:p>
        </p:txBody>
      </p:sp>
      <p:sp>
        <p:nvSpPr>
          <p:cNvPr id="22" name="Shape 20"/>
          <p:cNvSpPr/>
          <p:nvPr/>
        </p:nvSpPr>
        <p:spPr>
          <a:xfrm>
            <a:off x="9951415" y="3794760"/>
            <a:ext cx="1325880" cy="274320"/>
          </a:xfrm>
          <a:prstGeom prst="roundRect">
            <a:avLst>
              <a:gd name="adj" fmla="val 50000"/>
            </a:avLst>
          </a:prstGeom>
          <a:solidFill>
            <a:srgbClr val="0F2E3B"/>
          </a:solidFill>
          <a:ln/>
        </p:spPr>
      </p:sp>
      <p:sp>
        <p:nvSpPr>
          <p:cNvPr id="23" name="Text 21"/>
          <p:cNvSpPr/>
          <p:nvPr/>
        </p:nvSpPr>
        <p:spPr>
          <a:xfrm>
            <a:off x="9951415" y="3785616"/>
            <a:ext cx="1325880" cy="274320"/>
          </a:xfrm>
          <a:prstGeom prst="rect">
            <a:avLst/>
          </a:prstGeom>
          <a:noFill/>
          <a:ln/>
        </p:spPr>
        <p:txBody>
          <a:bodyPr wrap="square" rtlCol="0" anchor="ctr"/>
          <a:lstStyle/>
          <a:p>
            <a:pPr algn="ctr" indent="0" marL="0">
              <a:buNone/>
            </a:pPr>
            <a:r>
              <a:rPr lang="en-US" sz="900" spc="100" kern="0" dirty="0">
                <a:solidFill>
                  <a:srgbClr val="FFFFFF"/>
                </a:solidFill>
                <a:latin typeface="Poppins SemiBold" pitchFamily="34" charset="0"/>
                <a:ea typeface="Poppins SemiBold" pitchFamily="34" charset="-122"/>
                <a:cs typeface="Poppins SemiBold" pitchFamily="34" charset="-120"/>
              </a:rPr>
              <a:t>OWASP A01</a:t>
            </a:r>
            <a:endParaRPr lang="en-US" sz="900" dirty="0"/>
          </a:p>
        </p:txBody>
      </p:sp>
      <p:sp>
        <p:nvSpPr>
          <p:cNvPr id="24" name="Shape 22"/>
          <p:cNvSpPr/>
          <p:nvPr/>
        </p:nvSpPr>
        <p:spPr>
          <a:xfrm>
            <a:off x="731520" y="4251960"/>
            <a:ext cx="10728655" cy="457200"/>
          </a:xfrm>
          <a:prstGeom prst="roundRect">
            <a:avLst>
              <a:gd name="adj" fmla="val 16000"/>
            </a:avLst>
          </a:prstGeom>
          <a:solidFill>
            <a:srgbClr val="FFFFFF"/>
          </a:solidFill>
          <a:ln w="9525">
            <a:solidFill>
              <a:srgbClr val="E3E8E9"/>
            </a:solidFill>
            <a:prstDash val="solid"/>
          </a:ln>
        </p:spPr>
      </p:sp>
      <p:sp>
        <p:nvSpPr>
          <p:cNvPr id="25" name="Text 23"/>
          <p:cNvSpPr/>
          <p:nvPr/>
        </p:nvSpPr>
        <p:spPr>
          <a:xfrm>
            <a:off x="960120" y="4251960"/>
            <a:ext cx="2743200" cy="457200"/>
          </a:xfrm>
          <a:prstGeom prst="rect">
            <a:avLst/>
          </a:prstGeom>
          <a:noFill/>
          <a:ln/>
        </p:spPr>
        <p:txBody>
          <a:bodyPr wrap="square" rtlCol="0" anchor="ctr"/>
          <a:lstStyle/>
          <a:p>
            <a:pPr indent="0" marL="0">
              <a:buNone/>
            </a:pPr>
            <a:r>
              <a:rPr lang="en-US" sz="1250" dirty="0">
                <a:solidFill>
                  <a:srgbClr val="1A1E24"/>
                </a:solidFill>
                <a:latin typeface="Poppins SemiBold" pitchFamily="34" charset="0"/>
                <a:ea typeface="Poppins SemiBold" pitchFamily="34" charset="-122"/>
                <a:cs typeface="Poppins SemiBold" pitchFamily="34" charset="-120"/>
              </a:rPr>
              <a:t>IDOR</a:t>
            </a:r>
            <a:endParaRPr lang="en-US" sz="1250" dirty="0"/>
          </a:p>
        </p:txBody>
      </p:sp>
      <p:sp>
        <p:nvSpPr>
          <p:cNvPr id="26" name="Text 24"/>
          <p:cNvSpPr/>
          <p:nvPr/>
        </p:nvSpPr>
        <p:spPr>
          <a:xfrm>
            <a:off x="3749040" y="4251960"/>
            <a:ext cx="6217920" cy="457200"/>
          </a:xfrm>
          <a:prstGeom prst="rect">
            <a:avLst/>
          </a:prstGeom>
          <a:noFill/>
          <a:ln/>
        </p:spPr>
        <p:txBody>
          <a:bodyPr wrap="square" rtlCol="0" anchor="ctr"/>
          <a:lstStyle/>
          <a:p>
            <a:pPr indent="0" marL="0">
              <a:buNone/>
            </a:pPr>
            <a:r>
              <a:rPr lang="en-US" sz="1150" dirty="0">
                <a:solidFill>
                  <a:srgbClr val="6A7177"/>
                </a:solidFill>
                <a:latin typeface="Poppins" pitchFamily="34" charset="0"/>
                <a:ea typeface="Poppins" pitchFamily="34" charset="-122"/>
                <a:cs typeface="Poppins" pitchFamily="34" charset="-120"/>
              </a:rPr>
              <a:t>ArticleController 33 (hapus post orang lain)</a:t>
            </a:r>
            <a:endParaRPr lang="en-US" sz="1150" dirty="0"/>
          </a:p>
        </p:txBody>
      </p:sp>
      <p:sp>
        <p:nvSpPr>
          <p:cNvPr id="27" name="Shape 25"/>
          <p:cNvSpPr/>
          <p:nvPr/>
        </p:nvSpPr>
        <p:spPr>
          <a:xfrm>
            <a:off x="9951415" y="4343400"/>
            <a:ext cx="1325880" cy="274320"/>
          </a:xfrm>
          <a:prstGeom prst="roundRect">
            <a:avLst>
              <a:gd name="adj" fmla="val 50000"/>
            </a:avLst>
          </a:prstGeom>
          <a:solidFill>
            <a:srgbClr val="0F2E3B"/>
          </a:solidFill>
          <a:ln/>
        </p:spPr>
      </p:sp>
      <p:sp>
        <p:nvSpPr>
          <p:cNvPr id="28" name="Text 26"/>
          <p:cNvSpPr/>
          <p:nvPr/>
        </p:nvSpPr>
        <p:spPr>
          <a:xfrm>
            <a:off x="9951415" y="4334256"/>
            <a:ext cx="1325880" cy="274320"/>
          </a:xfrm>
          <a:prstGeom prst="rect">
            <a:avLst/>
          </a:prstGeom>
          <a:noFill/>
          <a:ln/>
        </p:spPr>
        <p:txBody>
          <a:bodyPr wrap="square" rtlCol="0" anchor="ctr"/>
          <a:lstStyle/>
          <a:p>
            <a:pPr algn="ctr" indent="0" marL="0">
              <a:buNone/>
            </a:pPr>
            <a:r>
              <a:rPr lang="en-US" sz="900" spc="100" kern="0" dirty="0">
                <a:solidFill>
                  <a:srgbClr val="FFFFFF"/>
                </a:solidFill>
                <a:latin typeface="Poppins SemiBold" pitchFamily="34" charset="0"/>
                <a:ea typeface="Poppins SemiBold" pitchFamily="34" charset="-122"/>
                <a:cs typeface="Poppins SemiBold" pitchFamily="34" charset="-120"/>
              </a:rPr>
              <a:t>OWASP A01</a:t>
            </a:r>
            <a:endParaRPr lang="en-US" sz="900" dirty="0"/>
          </a:p>
        </p:txBody>
      </p:sp>
      <p:sp>
        <p:nvSpPr>
          <p:cNvPr id="29" name="Shape 27"/>
          <p:cNvSpPr/>
          <p:nvPr/>
        </p:nvSpPr>
        <p:spPr>
          <a:xfrm>
            <a:off x="731520" y="4800600"/>
            <a:ext cx="10728655" cy="457200"/>
          </a:xfrm>
          <a:prstGeom prst="roundRect">
            <a:avLst>
              <a:gd name="adj" fmla="val 16000"/>
            </a:avLst>
          </a:prstGeom>
          <a:solidFill>
            <a:srgbClr val="EEF3F4"/>
          </a:solidFill>
          <a:ln w="9525">
            <a:solidFill>
              <a:srgbClr val="E3E8E9"/>
            </a:solidFill>
            <a:prstDash val="solid"/>
          </a:ln>
        </p:spPr>
      </p:sp>
      <p:sp>
        <p:nvSpPr>
          <p:cNvPr id="30" name="Text 28"/>
          <p:cNvSpPr/>
          <p:nvPr/>
        </p:nvSpPr>
        <p:spPr>
          <a:xfrm>
            <a:off x="960120" y="4800600"/>
            <a:ext cx="2743200" cy="457200"/>
          </a:xfrm>
          <a:prstGeom prst="rect">
            <a:avLst/>
          </a:prstGeom>
          <a:noFill/>
          <a:ln/>
        </p:spPr>
        <p:txBody>
          <a:bodyPr wrap="square" rtlCol="0" anchor="ctr"/>
          <a:lstStyle/>
          <a:p>
            <a:pPr indent="0" marL="0">
              <a:buNone/>
            </a:pPr>
            <a:r>
              <a:rPr lang="en-US" sz="1250" dirty="0">
                <a:solidFill>
                  <a:srgbClr val="1A1E24"/>
                </a:solidFill>
                <a:latin typeface="Poppins SemiBold" pitchFamily="34" charset="0"/>
                <a:ea typeface="Poppins SemiBold" pitchFamily="34" charset="-122"/>
                <a:cs typeface="Poppins SemiBold" pitchFamily="34" charset="-120"/>
              </a:rPr>
              <a:t>Mass Assignment</a:t>
            </a:r>
            <a:endParaRPr lang="en-US" sz="1250" dirty="0"/>
          </a:p>
        </p:txBody>
      </p:sp>
      <p:sp>
        <p:nvSpPr>
          <p:cNvPr id="31" name="Text 29"/>
          <p:cNvSpPr/>
          <p:nvPr/>
        </p:nvSpPr>
        <p:spPr>
          <a:xfrm>
            <a:off x="3749040" y="4800600"/>
            <a:ext cx="6217920" cy="457200"/>
          </a:xfrm>
          <a:prstGeom prst="rect">
            <a:avLst/>
          </a:prstGeom>
          <a:noFill/>
          <a:ln/>
        </p:spPr>
        <p:txBody>
          <a:bodyPr wrap="square" rtlCol="0" anchor="ctr"/>
          <a:lstStyle/>
          <a:p>
            <a:pPr indent="0" marL="0">
              <a:buNone/>
            </a:pPr>
            <a:r>
              <a:rPr lang="en-US" sz="1150" dirty="0">
                <a:solidFill>
                  <a:srgbClr val="6A7177"/>
                </a:solidFill>
                <a:latin typeface="Poppins" pitchFamily="34" charset="0"/>
                <a:ea typeface="Poppins" pitchFamily="34" charset="-122"/>
                <a:cs typeface="Poppins" pitchFamily="34" charset="-120"/>
              </a:rPr>
              <a:t>Post::create($request-&gt;all()), $guarded = []</a:t>
            </a:r>
            <a:endParaRPr lang="en-US" sz="1150" dirty="0"/>
          </a:p>
        </p:txBody>
      </p:sp>
      <p:sp>
        <p:nvSpPr>
          <p:cNvPr id="32" name="Shape 30"/>
          <p:cNvSpPr/>
          <p:nvPr/>
        </p:nvSpPr>
        <p:spPr>
          <a:xfrm>
            <a:off x="9951415" y="4892040"/>
            <a:ext cx="1325880" cy="274320"/>
          </a:xfrm>
          <a:prstGeom prst="roundRect">
            <a:avLst>
              <a:gd name="adj" fmla="val 50000"/>
            </a:avLst>
          </a:prstGeom>
          <a:solidFill>
            <a:srgbClr val="0F2E3B"/>
          </a:solidFill>
          <a:ln/>
        </p:spPr>
      </p:sp>
      <p:sp>
        <p:nvSpPr>
          <p:cNvPr id="33" name="Text 31"/>
          <p:cNvSpPr/>
          <p:nvPr/>
        </p:nvSpPr>
        <p:spPr>
          <a:xfrm>
            <a:off x="9951415" y="4882896"/>
            <a:ext cx="1325880" cy="274320"/>
          </a:xfrm>
          <a:prstGeom prst="rect">
            <a:avLst/>
          </a:prstGeom>
          <a:noFill/>
          <a:ln/>
        </p:spPr>
        <p:txBody>
          <a:bodyPr wrap="square" rtlCol="0" anchor="ctr"/>
          <a:lstStyle/>
          <a:p>
            <a:pPr algn="ctr" indent="0" marL="0">
              <a:buNone/>
            </a:pPr>
            <a:r>
              <a:rPr lang="en-US" sz="900" spc="100" kern="0" dirty="0">
                <a:solidFill>
                  <a:srgbClr val="FFFFFF"/>
                </a:solidFill>
                <a:latin typeface="Poppins SemiBold" pitchFamily="34" charset="0"/>
                <a:ea typeface="Poppins SemiBold" pitchFamily="34" charset="-122"/>
                <a:cs typeface="Poppins SemiBold" pitchFamily="34" charset="-120"/>
              </a:rPr>
              <a:t>OWASP A08</a:t>
            </a:r>
            <a:endParaRPr lang="en-US" sz="900" dirty="0"/>
          </a:p>
        </p:txBody>
      </p:sp>
      <p:sp>
        <p:nvSpPr>
          <p:cNvPr id="34" name="Text 32"/>
          <p:cNvSpPr/>
          <p:nvPr/>
        </p:nvSpPr>
        <p:spPr>
          <a:xfrm>
            <a:off x="731520" y="5440680"/>
            <a:ext cx="10728655" cy="548640"/>
          </a:xfrm>
          <a:prstGeom prst="rect">
            <a:avLst/>
          </a:prstGeom>
          <a:noFill/>
          <a:ln/>
        </p:spPr>
        <p:txBody>
          <a:bodyPr wrap="square" rtlCol="0" anchor="ctr"/>
          <a:lstStyle/>
          <a:p>
            <a:pPr indent="0" marL="0">
              <a:buNone/>
            </a:pPr>
            <a:r>
              <a:rPr lang="en-US" sz="1200" dirty="0">
                <a:solidFill>
                  <a:srgbClr val="1A1E24"/>
                </a:solidFill>
                <a:latin typeface="Poppins Medium" pitchFamily="34" charset="0"/>
                <a:ea typeface="Poppins Medium" pitchFamily="34" charset="-122"/>
                <a:cs typeface="Poppins Medium" pitchFamily="34" charset="-120"/>
              </a:rPr>
              <a:t>Pelajaran: 4 vulnerability di dashboard bukan gambaran risiko sebenarnya. SAST tetap perlu review manual / taint analysis / DAST.</a:t>
            </a:r>
            <a:endParaRPr lang="en-US" sz="1200" dirty="0"/>
          </a:p>
        </p:txBody>
      </p:sp>
      <p:sp>
        <p:nvSpPr>
          <p:cNvPr id="35" name="Text 33"/>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36" name="Text 34"/>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REMEDIASI</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Sebelum vs Sesudah Perbaikan</a:t>
            </a:r>
            <a:endParaRPr lang="en-US" sz="2700" dirty="0"/>
          </a:p>
        </p:txBody>
      </p:sp>
      <p:sp>
        <p:nvSpPr>
          <p:cNvPr id="5" name="Text 3"/>
          <p:cNvSpPr/>
          <p:nvPr/>
        </p:nvSpPr>
        <p:spPr>
          <a:xfrm>
            <a:off x="731520" y="1691640"/>
            <a:ext cx="5204308" cy="329184"/>
          </a:xfrm>
          <a:prstGeom prst="rect">
            <a:avLst/>
          </a:prstGeom>
          <a:noFill/>
          <a:ln/>
        </p:spPr>
        <p:txBody>
          <a:bodyPr wrap="square" rtlCol="0" anchor="ctr"/>
          <a:lstStyle/>
          <a:p>
            <a:pPr indent="0" marL="0">
              <a:buNone/>
            </a:pPr>
            <a:r>
              <a:rPr lang="en-US" sz="1350" dirty="0">
                <a:solidFill>
                  <a:srgbClr val="1A1E24"/>
                </a:solidFill>
                <a:latin typeface="Poppins SemiBold" pitchFamily="34" charset="0"/>
                <a:ea typeface="Poppins SemiBold" pitchFamily="34" charset="-122"/>
                <a:cs typeface="Poppins SemiBold" pitchFamily="34" charset="-120"/>
              </a:rPr>
              <a:t>Secret ke environment</a:t>
            </a:r>
            <a:endParaRPr lang="en-US" sz="1350" dirty="0"/>
          </a:p>
        </p:txBody>
      </p:sp>
      <p:sp>
        <p:nvSpPr>
          <p:cNvPr id="6" name="Shape 4"/>
          <p:cNvSpPr/>
          <p:nvPr/>
        </p:nvSpPr>
        <p:spPr>
          <a:xfrm>
            <a:off x="731520" y="2075688"/>
            <a:ext cx="5204308" cy="1508760"/>
          </a:xfrm>
          <a:prstGeom prst="roundRect">
            <a:avLst>
              <a:gd name="adj" fmla="val 3636"/>
            </a:avLst>
          </a:prstGeom>
          <a:solidFill>
            <a:srgbClr val="0E2A32"/>
          </a:solidFill>
          <a:ln/>
        </p:spPr>
      </p:sp>
      <p:sp>
        <p:nvSpPr>
          <p:cNvPr id="7" name="Shape 5"/>
          <p:cNvSpPr/>
          <p:nvPr/>
        </p:nvSpPr>
        <p:spPr>
          <a:xfrm>
            <a:off x="731520" y="2203704"/>
            <a:ext cx="64008" cy="1252728"/>
          </a:xfrm>
          <a:prstGeom prst="rect">
            <a:avLst/>
          </a:prstGeom>
          <a:solidFill>
            <a:srgbClr val="2E9E5B"/>
          </a:solidFill>
          <a:ln/>
        </p:spPr>
      </p:sp>
      <p:sp>
        <p:nvSpPr>
          <p:cNvPr id="8" name="Text 6"/>
          <p:cNvSpPr/>
          <p:nvPr/>
        </p:nvSpPr>
        <p:spPr>
          <a:xfrm>
            <a:off x="1005840" y="2221992"/>
            <a:ext cx="4747108" cy="1216152"/>
          </a:xfrm>
          <a:prstGeom prst="rect">
            <a:avLst/>
          </a:prstGeom>
          <a:noFill/>
          <a:ln/>
        </p:spPr>
        <p:txBody>
          <a:bodyPr wrap="square" rtlCol="0" anchor="t"/>
          <a:lstStyle/>
          <a:p>
            <a:pPr indent="0" marL="0">
              <a:lnSpc>
                <a:spcPct val="114000"/>
              </a:lnSpc>
              <a:buNone/>
            </a:pPr>
            <a:r>
              <a:rPr lang="en-US" sz="1050" dirty="0">
                <a:solidFill>
                  <a:srgbClr val="F28B82"/>
                </a:solidFill>
                <a:latin typeface="Consolas" pitchFamily="34" charset="0"/>
                <a:ea typeface="Consolas" pitchFamily="34" charset="-122"/>
                <a:cs typeface="Consolas" pitchFamily="34" charset="-120"/>
              </a:rPr>
              <a:t>- private $analyticsKey = 'AIza...';</a:t>
            </a:r>
            <a:endParaRPr lang="en-US" sz="1050" dirty="0"/>
          </a:p>
          <a:p>
            <a:pPr indent="0" marL="0">
              <a:lnSpc>
                <a:spcPct val="114000"/>
              </a:lnSpc>
              <a:buNone/>
            </a:pPr>
            <a:r>
              <a:rPr lang="en-US" sz="1050" dirty="0">
                <a:solidFill>
                  <a:srgbClr val="F28B82"/>
                </a:solidFill>
                <a:latin typeface="Consolas" pitchFamily="34" charset="0"/>
                <a:ea typeface="Consolas" pitchFamily="34" charset="-122"/>
                <a:cs typeface="Consolas" pitchFamily="34" charset="-120"/>
              </a:rPr>
              <a:t>- private $smtpPassword = 'smtp_...';</a:t>
            </a:r>
            <a:endParaRPr lang="en-US" sz="1050" dirty="0"/>
          </a:p>
          <a:p>
            <a:pPr indent="0" marL="0">
              <a:lnSpc>
                <a:spcPct val="114000"/>
              </a:lnSpc>
              <a:buNone/>
            </a:pPr>
            <a:r>
              <a:rPr lang="en-US" sz="1050" dirty="0">
                <a:solidFill>
                  <a:srgbClr val="8FD6A0"/>
                </a:solidFill>
                <a:latin typeface="Consolas" pitchFamily="34" charset="0"/>
                <a:ea typeface="Consolas" pitchFamily="34" charset="-122"/>
                <a:cs typeface="Consolas" pitchFamily="34" charset="-120"/>
              </a:rPr>
              <a:t>+ 'key' =&gt; env('ANALYTICS_API_KEY'),</a:t>
            </a:r>
            <a:endParaRPr lang="en-US" sz="1050" dirty="0"/>
          </a:p>
        </p:txBody>
      </p:sp>
      <p:sp>
        <p:nvSpPr>
          <p:cNvPr id="9" name="Text 7"/>
          <p:cNvSpPr/>
          <p:nvPr/>
        </p:nvSpPr>
        <p:spPr>
          <a:xfrm>
            <a:off x="6255868" y="1691640"/>
            <a:ext cx="5204308" cy="329184"/>
          </a:xfrm>
          <a:prstGeom prst="rect">
            <a:avLst/>
          </a:prstGeom>
          <a:noFill/>
          <a:ln/>
        </p:spPr>
        <p:txBody>
          <a:bodyPr wrap="square" rtlCol="0" anchor="ctr"/>
          <a:lstStyle/>
          <a:p>
            <a:pPr indent="0" marL="0">
              <a:buNone/>
            </a:pPr>
            <a:r>
              <a:rPr lang="en-US" sz="1350" dirty="0">
                <a:solidFill>
                  <a:srgbClr val="1A1E24"/>
                </a:solidFill>
                <a:latin typeface="Poppins SemiBold" pitchFamily="34" charset="0"/>
                <a:ea typeface="Poppins SemiBold" pitchFamily="34" charset="-122"/>
                <a:cs typeface="Poppins SemiBold" pitchFamily="34" charset="-120"/>
              </a:rPr>
              <a:t>MD5 ke bcrypt + binding</a:t>
            </a:r>
            <a:endParaRPr lang="en-US" sz="1350" dirty="0"/>
          </a:p>
        </p:txBody>
      </p:sp>
      <p:sp>
        <p:nvSpPr>
          <p:cNvPr id="10" name="Shape 8"/>
          <p:cNvSpPr/>
          <p:nvPr/>
        </p:nvSpPr>
        <p:spPr>
          <a:xfrm>
            <a:off x="6255868" y="2075688"/>
            <a:ext cx="5204308" cy="1508760"/>
          </a:xfrm>
          <a:prstGeom prst="roundRect">
            <a:avLst>
              <a:gd name="adj" fmla="val 3636"/>
            </a:avLst>
          </a:prstGeom>
          <a:solidFill>
            <a:srgbClr val="0E2A32"/>
          </a:solidFill>
          <a:ln/>
        </p:spPr>
      </p:sp>
      <p:sp>
        <p:nvSpPr>
          <p:cNvPr id="11" name="Shape 9"/>
          <p:cNvSpPr/>
          <p:nvPr/>
        </p:nvSpPr>
        <p:spPr>
          <a:xfrm>
            <a:off x="6255868" y="2203704"/>
            <a:ext cx="64008" cy="1252728"/>
          </a:xfrm>
          <a:prstGeom prst="rect">
            <a:avLst/>
          </a:prstGeom>
          <a:solidFill>
            <a:srgbClr val="2E9E5B"/>
          </a:solidFill>
          <a:ln/>
        </p:spPr>
      </p:sp>
      <p:sp>
        <p:nvSpPr>
          <p:cNvPr id="12" name="Text 10"/>
          <p:cNvSpPr/>
          <p:nvPr/>
        </p:nvSpPr>
        <p:spPr>
          <a:xfrm>
            <a:off x="6530188" y="2221992"/>
            <a:ext cx="4747108" cy="1216152"/>
          </a:xfrm>
          <a:prstGeom prst="rect">
            <a:avLst/>
          </a:prstGeom>
          <a:noFill/>
          <a:ln/>
        </p:spPr>
        <p:txBody>
          <a:bodyPr wrap="square" rtlCol="0" anchor="t"/>
          <a:lstStyle/>
          <a:p>
            <a:pPr indent="0" marL="0">
              <a:lnSpc>
                <a:spcPct val="114000"/>
              </a:lnSpc>
              <a:buNone/>
            </a:pPr>
            <a:r>
              <a:rPr lang="en-US" sz="1050" dirty="0">
                <a:solidFill>
                  <a:srgbClr val="F28B82"/>
                </a:solidFill>
                <a:latin typeface="Consolas" pitchFamily="34" charset="0"/>
                <a:ea typeface="Consolas" pitchFamily="34" charset="-122"/>
                <a:cs typeface="Consolas" pitchFamily="34" charset="-120"/>
              </a:rPr>
              <a:t>- md5($request-&gt;input('password'))</a:t>
            </a:r>
            <a:endParaRPr lang="en-US" sz="1050" dirty="0"/>
          </a:p>
          <a:p>
            <a:pPr indent="0" marL="0">
              <a:lnSpc>
                <a:spcPct val="114000"/>
              </a:lnSpc>
              <a:buNone/>
            </a:pPr>
            <a:r>
              <a:rPr lang="en-US" sz="1050" dirty="0">
                <a:solidFill>
                  <a:srgbClr val="8FD6A0"/>
                </a:solidFill>
                <a:latin typeface="Consolas" pitchFamily="34" charset="0"/>
                <a:ea typeface="Consolas" pitchFamily="34" charset="-122"/>
                <a:cs typeface="Consolas" pitchFamily="34" charset="-120"/>
              </a:rPr>
              <a:t>+ Hash::make($validated['password'])</a:t>
            </a:r>
            <a:endParaRPr lang="en-US" sz="1050" dirty="0"/>
          </a:p>
          <a:p>
            <a:pPr indent="0" marL="0">
              <a:lnSpc>
                <a:spcPct val="114000"/>
              </a:lnSpc>
              <a:buNone/>
            </a:pPr>
            <a:r>
              <a:rPr lang="en-US" sz="1050" dirty="0">
                <a:solidFill>
                  <a:srgbClr val="8FD6A0"/>
                </a:solidFill>
                <a:latin typeface="Consolas" pitchFamily="34" charset="0"/>
                <a:ea typeface="Consolas" pitchFamily="34" charset="-122"/>
                <a:cs typeface="Consolas" pitchFamily="34" charset="-120"/>
              </a:rPr>
              <a:t>+ DB::selectOne("... WHERE email = ?", [...])</a:t>
            </a:r>
            <a:endParaRPr lang="en-US" sz="1050" dirty="0"/>
          </a:p>
          <a:p>
            <a:pPr indent="0" marL="0">
              <a:lnSpc>
                <a:spcPct val="114000"/>
              </a:lnSpc>
              <a:buNone/>
            </a:pPr>
            <a:r>
              <a:rPr lang="en-US" sz="1050" dirty="0">
                <a:solidFill>
                  <a:srgbClr val="8FD6A0"/>
                </a:solidFill>
                <a:latin typeface="Consolas" pitchFamily="34" charset="0"/>
                <a:ea typeface="Consolas" pitchFamily="34" charset="-122"/>
                <a:cs typeface="Consolas" pitchFamily="34" charset="-120"/>
              </a:rPr>
              <a:t>+ Hash::check($pass, $user-&gt;password)</a:t>
            </a:r>
            <a:endParaRPr lang="en-US" sz="1050" dirty="0"/>
          </a:p>
        </p:txBody>
      </p:sp>
      <p:sp>
        <p:nvSpPr>
          <p:cNvPr id="13" name="Text 11"/>
          <p:cNvSpPr/>
          <p:nvPr/>
        </p:nvSpPr>
        <p:spPr>
          <a:xfrm>
            <a:off x="731520" y="3749040"/>
            <a:ext cx="5204308" cy="329184"/>
          </a:xfrm>
          <a:prstGeom prst="rect">
            <a:avLst/>
          </a:prstGeom>
          <a:noFill/>
          <a:ln/>
        </p:spPr>
        <p:txBody>
          <a:bodyPr wrap="square" rtlCol="0" anchor="ctr"/>
          <a:lstStyle/>
          <a:p>
            <a:pPr indent="0" marL="0">
              <a:buNone/>
            </a:pPr>
            <a:r>
              <a:rPr lang="en-US" sz="1350" dirty="0">
                <a:solidFill>
                  <a:srgbClr val="1A1E24"/>
                </a:solidFill>
                <a:latin typeface="Poppins SemiBold" pitchFamily="34" charset="0"/>
                <a:ea typeface="Poppins SemiBold" pitchFamily="34" charset="-122"/>
                <a:cs typeface="Poppins SemiBold" pitchFamily="34" charset="-120"/>
              </a:rPr>
              <a:t>CSRF aktif kembali</a:t>
            </a:r>
            <a:endParaRPr lang="en-US" sz="1350" dirty="0"/>
          </a:p>
        </p:txBody>
      </p:sp>
      <p:sp>
        <p:nvSpPr>
          <p:cNvPr id="14" name="Shape 12"/>
          <p:cNvSpPr/>
          <p:nvPr/>
        </p:nvSpPr>
        <p:spPr>
          <a:xfrm>
            <a:off x="731520" y="4133088"/>
            <a:ext cx="5204308" cy="1508760"/>
          </a:xfrm>
          <a:prstGeom prst="roundRect">
            <a:avLst>
              <a:gd name="adj" fmla="val 3636"/>
            </a:avLst>
          </a:prstGeom>
          <a:solidFill>
            <a:srgbClr val="0E2A32"/>
          </a:solidFill>
          <a:ln/>
        </p:spPr>
      </p:sp>
      <p:sp>
        <p:nvSpPr>
          <p:cNvPr id="15" name="Shape 13"/>
          <p:cNvSpPr/>
          <p:nvPr/>
        </p:nvSpPr>
        <p:spPr>
          <a:xfrm>
            <a:off x="731520" y="4261104"/>
            <a:ext cx="64008" cy="1252728"/>
          </a:xfrm>
          <a:prstGeom prst="rect">
            <a:avLst/>
          </a:prstGeom>
          <a:solidFill>
            <a:srgbClr val="2E9E5B"/>
          </a:solidFill>
          <a:ln/>
        </p:spPr>
      </p:sp>
      <p:sp>
        <p:nvSpPr>
          <p:cNvPr id="16" name="Text 14"/>
          <p:cNvSpPr/>
          <p:nvPr/>
        </p:nvSpPr>
        <p:spPr>
          <a:xfrm>
            <a:off x="1005840" y="4279392"/>
            <a:ext cx="4747108" cy="1216152"/>
          </a:xfrm>
          <a:prstGeom prst="rect">
            <a:avLst/>
          </a:prstGeom>
          <a:noFill/>
          <a:ln/>
        </p:spPr>
        <p:txBody>
          <a:bodyPr wrap="square" rtlCol="0" anchor="t"/>
          <a:lstStyle/>
          <a:p>
            <a:pPr indent="0" marL="0">
              <a:lnSpc>
                <a:spcPct val="114000"/>
              </a:lnSpc>
              <a:buNone/>
            </a:pPr>
            <a:r>
              <a:rPr lang="en-US" sz="1050" dirty="0">
                <a:solidFill>
                  <a:srgbClr val="F28B82"/>
                </a:solidFill>
                <a:latin typeface="Consolas" pitchFamily="34" charset="0"/>
                <a:ea typeface="Consolas" pitchFamily="34" charset="-122"/>
                <a:cs typeface="Consolas" pitchFamily="34" charset="-120"/>
              </a:rPr>
              <a:t>- protected $except = ['*'];</a:t>
            </a:r>
            <a:endParaRPr lang="en-US" sz="1050" dirty="0"/>
          </a:p>
          <a:p>
            <a:pPr indent="0" marL="0">
              <a:lnSpc>
                <a:spcPct val="114000"/>
              </a:lnSpc>
              <a:buNone/>
            </a:pPr>
            <a:r>
              <a:rPr lang="en-US" sz="1050" dirty="0">
                <a:solidFill>
                  <a:srgbClr val="8FD6A0"/>
                </a:solidFill>
                <a:latin typeface="Consolas" pitchFamily="34" charset="0"/>
                <a:ea typeface="Consolas" pitchFamily="34" charset="-122"/>
                <a:cs typeface="Consolas" pitchFamily="34" charset="-120"/>
              </a:rPr>
              <a:t>+ protected $except = [];</a:t>
            </a:r>
            <a:endParaRPr lang="en-US" sz="1050" dirty="0"/>
          </a:p>
        </p:txBody>
      </p:sp>
      <p:sp>
        <p:nvSpPr>
          <p:cNvPr id="17" name="Text 15"/>
          <p:cNvSpPr/>
          <p:nvPr/>
        </p:nvSpPr>
        <p:spPr>
          <a:xfrm>
            <a:off x="6255868" y="3749040"/>
            <a:ext cx="5204308" cy="329184"/>
          </a:xfrm>
          <a:prstGeom prst="rect">
            <a:avLst/>
          </a:prstGeom>
          <a:noFill/>
          <a:ln/>
        </p:spPr>
        <p:txBody>
          <a:bodyPr wrap="square" rtlCol="0" anchor="ctr"/>
          <a:lstStyle/>
          <a:p>
            <a:pPr indent="0" marL="0">
              <a:buNone/>
            </a:pPr>
            <a:r>
              <a:rPr lang="en-US" sz="1350" dirty="0">
                <a:solidFill>
                  <a:srgbClr val="1A1E24"/>
                </a:solidFill>
                <a:latin typeface="Poppins SemiBold" pitchFamily="34" charset="0"/>
                <a:ea typeface="Poppins SemiBold" pitchFamily="34" charset="-122"/>
                <a:cs typeface="Poppins SemiBold" pitchFamily="34" charset="-120"/>
              </a:rPr>
              <a:t>Konfigurasi DB dari .env</a:t>
            </a:r>
            <a:endParaRPr lang="en-US" sz="1350" dirty="0"/>
          </a:p>
        </p:txBody>
      </p:sp>
      <p:sp>
        <p:nvSpPr>
          <p:cNvPr id="18" name="Shape 16"/>
          <p:cNvSpPr/>
          <p:nvPr/>
        </p:nvSpPr>
        <p:spPr>
          <a:xfrm>
            <a:off x="6255868" y="4133088"/>
            <a:ext cx="5204308" cy="1508760"/>
          </a:xfrm>
          <a:prstGeom prst="roundRect">
            <a:avLst>
              <a:gd name="adj" fmla="val 3636"/>
            </a:avLst>
          </a:prstGeom>
          <a:solidFill>
            <a:srgbClr val="0E2A32"/>
          </a:solidFill>
          <a:ln/>
        </p:spPr>
      </p:sp>
      <p:sp>
        <p:nvSpPr>
          <p:cNvPr id="19" name="Shape 17"/>
          <p:cNvSpPr/>
          <p:nvPr/>
        </p:nvSpPr>
        <p:spPr>
          <a:xfrm>
            <a:off x="6255868" y="4261104"/>
            <a:ext cx="64008" cy="1252728"/>
          </a:xfrm>
          <a:prstGeom prst="rect">
            <a:avLst/>
          </a:prstGeom>
          <a:solidFill>
            <a:srgbClr val="2E9E5B"/>
          </a:solidFill>
          <a:ln/>
        </p:spPr>
      </p:sp>
      <p:sp>
        <p:nvSpPr>
          <p:cNvPr id="20" name="Text 18"/>
          <p:cNvSpPr/>
          <p:nvPr/>
        </p:nvSpPr>
        <p:spPr>
          <a:xfrm>
            <a:off x="6530188" y="4279392"/>
            <a:ext cx="4747108" cy="1216152"/>
          </a:xfrm>
          <a:prstGeom prst="rect">
            <a:avLst/>
          </a:prstGeom>
          <a:noFill/>
          <a:ln/>
        </p:spPr>
        <p:txBody>
          <a:bodyPr wrap="square" rtlCol="0" anchor="t"/>
          <a:lstStyle/>
          <a:p>
            <a:pPr indent="0" marL="0">
              <a:lnSpc>
                <a:spcPct val="114000"/>
              </a:lnSpc>
              <a:buNone/>
            </a:pPr>
            <a:r>
              <a:rPr lang="en-US" sz="1050" dirty="0">
                <a:solidFill>
                  <a:srgbClr val="F28B82"/>
                </a:solidFill>
                <a:latin typeface="Consolas" pitchFamily="34" charset="0"/>
                <a:ea typeface="Consolas" pitchFamily="34" charset="-122"/>
                <a:cs typeface="Consolas" pitchFamily="34" charset="-120"/>
              </a:rPr>
              <a:t>- 'password' =&gt; 'Admin@1234!',</a:t>
            </a:r>
            <a:endParaRPr lang="en-US" sz="1050" dirty="0"/>
          </a:p>
          <a:p>
            <a:pPr indent="0" marL="0">
              <a:lnSpc>
                <a:spcPct val="114000"/>
              </a:lnSpc>
              <a:buNone/>
            </a:pPr>
            <a:r>
              <a:rPr lang="en-US" sz="1050" dirty="0">
                <a:solidFill>
                  <a:srgbClr val="F28B82"/>
                </a:solidFill>
                <a:latin typeface="Consolas" pitchFamily="34" charset="0"/>
                <a:ea typeface="Consolas" pitchFamily="34" charset="-122"/>
                <a:cs typeface="Consolas" pitchFamily="34" charset="-120"/>
              </a:rPr>
              <a:t>- 'host' =&gt; '10.0.0.5',</a:t>
            </a:r>
            <a:endParaRPr lang="en-US" sz="1050" dirty="0"/>
          </a:p>
          <a:p>
            <a:pPr indent="0" marL="0">
              <a:lnSpc>
                <a:spcPct val="114000"/>
              </a:lnSpc>
              <a:buNone/>
            </a:pPr>
            <a:r>
              <a:rPr lang="en-US" sz="1050" dirty="0">
                <a:solidFill>
                  <a:srgbClr val="8FD6A0"/>
                </a:solidFill>
                <a:latin typeface="Consolas" pitchFamily="34" charset="0"/>
                <a:ea typeface="Consolas" pitchFamily="34" charset="-122"/>
                <a:cs typeface="Consolas" pitchFamily="34" charset="-120"/>
              </a:rPr>
              <a:t>+ 'password' =&gt; env('DB_PASSWORD'),</a:t>
            </a:r>
            <a:endParaRPr lang="en-US" sz="1050" dirty="0"/>
          </a:p>
          <a:p>
            <a:pPr indent="0" marL="0">
              <a:lnSpc>
                <a:spcPct val="114000"/>
              </a:lnSpc>
              <a:buNone/>
            </a:pPr>
            <a:r>
              <a:rPr lang="en-US" sz="1050" dirty="0">
                <a:solidFill>
                  <a:srgbClr val="8FD6A0"/>
                </a:solidFill>
                <a:latin typeface="Consolas" pitchFamily="34" charset="0"/>
                <a:ea typeface="Consolas" pitchFamily="34" charset="-122"/>
                <a:cs typeface="Consolas" pitchFamily="34" charset="-120"/>
              </a:rPr>
              <a:t>+ 'host' =&gt; env('DB_BACKUP_HOST'),</a:t>
            </a:r>
            <a:endParaRPr lang="en-US" sz="1050" dirty="0"/>
          </a:p>
        </p:txBody>
      </p:sp>
      <p:sp>
        <p:nvSpPr>
          <p:cNvPr id="21" name="Text 19"/>
          <p:cNvSpPr/>
          <p:nvPr/>
        </p:nvSpPr>
        <p:spPr>
          <a:xfrm>
            <a:off x="731520" y="5852160"/>
            <a:ext cx="10728655" cy="457200"/>
          </a:xfrm>
          <a:prstGeom prst="rect">
            <a:avLst/>
          </a:prstGeom>
          <a:noFill/>
          <a:ln/>
        </p:spPr>
        <p:txBody>
          <a:bodyPr wrap="square" rtlCol="0" anchor="ctr"/>
          <a:lstStyle/>
          <a:p>
            <a:pPr indent="0" marL="0">
              <a:buNone/>
            </a:pPr>
            <a:r>
              <a:rPr lang="en-US" sz="1100" dirty="0">
                <a:solidFill>
                  <a:srgbClr val="6A7177"/>
                </a:solidFill>
                <a:latin typeface="Poppins" pitchFamily="34" charset="0"/>
                <a:ea typeface="Poppins" pitchFamily="34" charset="-122"/>
                <a:cs typeface="Poppins" pitchFamily="34" charset="-120"/>
              </a:rPr>
              <a:t>Tambahan dari review manual: parameter binding, whitelist kolom sort, Symfony Process tanpa shell, realpath() untuk file, cek pemilik post, $fillable.</a:t>
            </a:r>
            <a:endParaRPr lang="en-US" sz="1100" dirty="0"/>
          </a:p>
        </p:txBody>
      </p:sp>
      <p:sp>
        <p:nvSpPr>
          <p:cNvPr id="22" name="Text 20"/>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23" name="Text 21"/>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VERIFIKASI RE-SCAN</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Dua Project Terpisah: Sebelum vs Sesudah</a:t>
            </a:r>
            <a:endParaRPr lang="en-US" sz="2700" dirty="0"/>
          </a:p>
        </p:txBody>
      </p:sp>
      <p:sp>
        <p:nvSpPr>
          <p:cNvPr id="5" name="Shape 3"/>
          <p:cNvSpPr/>
          <p:nvPr/>
        </p:nvSpPr>
        <p:spPr>
          <a:xfrm>
            <a:off x="676656" y="1726435"/>
            <a:ext cx="6876288" cy="3405131"/>
          </a:xfrm>
          <a:prstGeom prst="roundRect">
            <a:avLst>
              <a:gd name="adj" fmla="val 1611"/>
            </a:avLst>
          </a:prstGeom>
          <a:solidFill>
            <a:srgbClr val="FFFFFF"/>
          </a:solidFill>
          <a:ln w="12700">
            <a:solidFill>
              <a:srgbClr val="E3E8E9"/>
            </a:solidFill>
            <a:prstDash val="solid"/>
          </a:ln>
        </p:spPr>
      </p:sp>
      <p:pic>
        <p:nvPicPr>
          <p:cNvPr id="6" name="Image 0" descr="Screenshot SonarQube">    </p:cNvPr>
          <p:cNvPicPr>
            <a:picLocks noChangeAspect="1"/>
          </p:cNvPicPr>
          <p:nvPr/>
        </p:nvPicPr>
        <p:blipFill>
          <a:blip r:embed="rId1"/>
          <a:stretch>
            <a:fillRect/>
          </a:stretch>
        </p:blipFill>
        <p:spPr>
          <a:xfrm>
            <a:off x="731520" y="1781299"/>
            <a:ext cx="6766560" cy="3295403"/>
          </a:xfrm>
          <a:prstGeom prst="rect">
            <a:avLst/>
          </a:prstGeom>
        </p:spPr>
      </p:pic>
      <p:sp>
        <p:nvSpPr>
          <p:cNvPr id="7" name="Text 4"/>
          <p:cNvSpPr/>
          <p:nvPr/>
        </p:nvSpPr>
        <p:spPr>
          <a:xfrm>
            <a:off x="731520" y="5168141"/>
            <a:ext cx="6766560" cy="274320"/>
          </a:xfrm>
          <a:prstGeom prst="rect">
            <a:avLst/>
          </a:prstGeom>
          <a:noFill/>
          <a:ln/>
        </p:spPr>
        <p:txBody>
          <a:bodyPr wrap="square" rtlCol="0" anchor="ctr"/>
          <a:lstStyle/>
          <a:p>
            <a:pPr algn="ctr" indent="0" marL="0">
              <a:buNone/>
            </a:pPr>
            <a:r>
              <a:rPr lang="en-US" sz="950" i="1" dirty="0">
                <a:solidFill>
                  <a:srgbClr val="6A7177"/>
                </a:solidFill>
                <a:latin typeface="Poppins" pitchFamily="34" charset="0"/>
                <a:ea typeface="Poppins" pitchFamily="34" charset="-122"/>
                <a:cs typeface="Poppins" pitchFamily="34" charset="-120"/>
              </a:rPr>
              <a:t>Project sebelum (Security E, 5 issue) dan sesudah perbaikan (Security A, 0 issue)</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863840" y="1737360"/>
          <a:ext cx="3596335" cy="914400"/>
        </p:xfrm>
        <a:graphic>
          <a:graphicData uri="http://schemas.openxmlformats.org/drawingml/2006/table">
            <a:tbl>
              <a:tblPr/>
              <a:tblGrid>
                <a:gridCol w="1584655"/>
                <a:gridCol w="1005840"/>
                <a:gridCol w="1005840"/>
              </a:tblGrid>
              <a:tr h="438912">
                <a:tc>
                  <a:txBody>
                    <a:bodyPr/>
                    <a:lstStyle/>
                    <a:p>
                      <a:pPr algn="l" indent="0" marL="0">
                        <a:buNone/>
                      </a:pPr>
                      <a:r>
                        <a:rPr lang="en-US" sz="1200" dirty="0">
                          <a:solidFill>
                            <a:srgbClr val="FFFFFF"/>
                          </a:solidFill>
                          <a:latin typeface="Poppins SemiBold" pitchFamily="34" charset="0"/>
                          <a:ea typeface="Poppins SemiBold" pitchFamily="34" charset="-122"/>
                          <a:cs typeface="Poppins SemiBold" pitchFamily="34" charset="-120"/>
                        </a:rPr>
                        <a:t>Metrik</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0F2E3B"/>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Sebelum</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0F2E3B"/>
                    </a:solidFill>
                  </a:tcPr>
                </a:tc>
                <a:tc>
                  <a:txBody>
                    <a:bodyP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Sesudah</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0F2E3B"/>
                    </a:solidFill>
                  </a:tcPr>
                </a:tc>
              </a:tr>
              <a:tr h="438912">
                <a:tc>
                  <a:txBody>
                    <a:bodyPr/>
                    <a:lstStyle/>
                    <a:p>
                      <a:pPr algn="l" indent="0" marL="0">
                        <a:buNone/>
                      </a:pPr>
                      <a:r>
                        <a:rPr lang="en-US" sz="1200" dirty="0">
                          <a:solidFill>
                            <a:srgbClr val="1A1E24"/>
                          </a:solidFill>
                          <a:latin typeface="Poppins" pitchFamily="34" charset="0"/>
                          <a:ea typeface="Poppins" pitchFamily="34" charset="-122"/>
                          <a:cs typeface="Poppins" pitchFamily="34" charset="-120"/>
                        </a:rPr>
                        <a:t>Security issues</a:t>
                      </a:r>
                      <a:endParaRPr lang="en-US" sz="12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B4A4A"/>
                          </a:solidFill>
                          <a:latin typeface="Poppins SemiBold" pitchFamily="34" charset="0"/>
                          <a:ea typeface="Poppins SemiBold" pitchFamily="34" charset="-122"/>
                          <a:cs typeface="Poppins SemiBold" pitchFamily="34" charset="-120"/>
                        </a:rPr>
                        <a:t>5</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E9E5B"/>
                          </a:solidFill>
                          <a:latin typeface="Poppins SemiBold" pitchFamily="34" charset="0"/>
                          <a:ea typeface="Poppins SemiBold" pitchFamily="34" charset="-122"/>
                          <a:cs typeface="Poppins SemiBold" pitchFamily="34" charset="-120"/>
                        </a:rPr>
                        <a:t>0</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r>
              <a:tr h="438912">
                <a:tc>
                  <a:txBody>
                    <a:bodyPr/>
                    <a:lstStyle/>
                    <a:p>
                      <a:pPr algn="l" indent="0" marL="0">
                        <a:buNone/>
                      </a:pPr>
                      <a:r>
                        <a:rPr lang="en-US" sz="1200" dirty="0">
                          <a:solidFill>
                            <a:srgbClr val="1A1E24"/>
                          </a:solidFill>
                          <a:latin typeface="Poppins" pitchFamily="34" charset="0"/>
                          <a:ea typeface="Poppins" pitchFamily="34" charset="-122"/>
                          <a:cs typeface="Poppins" pitchFamily="34" charset="-120"/>
                        </a:rPr>
                        <a:t>Security Rating</a:t>
                      </a:r>
                      <a:endParaRPr lang="en-US" sz="12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DB4A4A"/>
                          </a:solidFill>
                          <a:latin typeface="Poppins SemiBold" pitchFamily="34" charset="0"/>
                          <a:ea typeface="Poppins SemiBold" pitchFamily="34" charset="-122"/>
                          <a:cs typeface="Poppins SemiBold" pitchFamily="34" charset="-120"/>
                        </a:rPr>
                        <a:t>E</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2E9E5B"/>
                          </a:solidFill>
                          <a:latin typeface="Poppins SemiBold" pitchFamily="34" charset="0"/>
                          <a:ea typeface="Poppins SemiBold" pitchFamily="34" charset="-122"/>
                          <a:cs typeface="Poppins SemiBold" pitchFamily="34" charset="-120"/>
                        </a:rPr>
                        <a:t>A</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r>
              <a:tr h="438912">
                <a:tc>
                  <a:txBody>
                    <a:bodyPr/>
                    <a:lstStyle/>
                    <a:p>
                      <a:pPr algn="l" indent="0" marL="0">
                        <a:buNone/>
                      </a:pPr>
                      <a:r>
                        <a:rPr lang="en-US" sz="1200" dirty="0">
                          <a:solidFill>
                            <a:srgbClr val="1A1E24"/>
                          </a:solidFill>
                          <a:latin typeface="Poppins" pitchFamily="34" charset="0"/>
                          <a:ea typeface="Poppins" pitchFamily="34" charset="-122"/>
                          <a:cs typeface="Poppins" pitchFamily="34" charset="-120"/>
                        </a:rPr>
                        <a:t>Vulnerability</a:t>
                      </a:r>
                      <a:endParaRPr lang="en-US" sz="12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B4A4A"/>
                          </a:solidFill>
                          <a:latin typeface="Poppins SemiBold" pitchFamily="34" charset="0"/>
                          <a:ea typeface="Poppins SemiBold" pitchFamily="34" charset="-122"/>
                          <a:cs typeface="Poppins SemiBold" pitchFamily="34" charset="-120"/>
                        </a:rPr>
                        <a:t>4</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E9E5B"/>
                          </a:solidFill>
                          <a:latin typeface="Poppins SemiBold" pitchFamily="34" charset="0"/>
                          <a:ea typeface="Poppins SemiBold" pitchFamily="34" charset="-122"/>
                          <a:cs typeface="Poppins SemiBold" pitchFamily="34" charset="-120"/>
                        </a:rPr>
                        <a:t>0</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r>
              <a:tr h="438912">
                <a:tc>
                  <a:txBody>
                    <a:bodyPr/>
                    <a:lstStyle/>
                    <a:p>
                      <a:pPr algn="l" indent="0" marL="0">
                        <a:buNone/>
                      </a:pPr>
                      <a:r>
                        <a:rPr lang="en-US" sz="1200" dirty="0">
                          <a:solidFill>
                            <a:srgbClr val="1A1E24"/>
                          </a:solidFill>
                          <a:latin typeface="Poppins" pitchFamily="34" charset="0"/>
                          <a:ea typeface="Poppins" pitchFamily="34" charset="-122"/>
                          <a:cs typeface="Poppins" pitchFamily="34" charset="-120"/>
                        </a:rPr>
                        <a:t>Maintainability</a:t>
                      </a:r>
                      <a:endParaRPr lang="en-US" sz="12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DB4A4A"/>
                          </a:solidFill>
                          <a:latin typeface="Poppins SemiBold" pitchFamily="34" charset="0"/>
                          <a:ea typeface="Poppins SemiBold" pitchFamily="34" charset="-122"/>
                          <a:cs typeface="Poppins SemiBold" pitchFamily="34" charset="-120"/>
                        </a:rPr>
                        <a:t>3</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c>
                  <a:txBody>
                    <a:bodyPr/>
                    <a:lstStyle/>
                    <a:p>
                      <a:pPr algn="ctr" indent="0" marL="0">
                        <a:buNone/>
                      </a:pPr>
                      <a:r>
                        <a:rPr lang="en-US" sz="1200" dirty="0">
                          <a:solidFill>
                            <a:srgbClr val="2E9E5B"/>
                          </a:solidFill>
                          <a:latin typeface="Poppins SemiBold" pitchFamily="34" charset="0"/>
                          <a:ea typeface="Poppins SemiBold" pitchFamily="34" charset="-122"/>
                          <a:cs typeface="Poppins SemiBold" pitchFamily="34" charset="-120"/>
                        </a:rPr>
                        <a:t>0</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EEF3F4"/>
                    </a:solidFill>
                  </a:tcPr>
                </a:tc>
              </a:tr>
              <a:tr h="438912">
                <a:tc>
                  <a:txBody>
                    <a:bodyPr/>
                    <a:lstStyle/>
                    <a:p>
                      <a:pPr algn="l" indent="0" marL="0">
                        <a:buNone/>
                      </a:pPr>
                      <a:r>
                        <a:rPr lang="en-US" sz="1200" dirty="0">
                          <a:solidFill>
                            <a:srgbClr val="1A1E24"/>
                          </a:solidFill>
                          <a:latin typeface="Poppins" pitchFamily="34" charset="0"/>
                          <a:ea typeface="Poppins" pitchFamily="34" charset="-122"/>
                          <a:cs typeface="Poppins" pitchFamily="34" charset="-120"/>
                        </a:rPr>
                        <a:t>Total issue</a:t>
                      </a:r>
                      <a:endParaRPr lang="en-US" sz="1200" dirty="0">
                        <a:latin typeface="Poppins" charset="0"/>
                        <a:ea typeface="Poppins" charset="0"/>
                        <a:cs typeface="Poppins"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DB4A4A"/>
                          </a:solidFill>
                          <a:latin typeface="Poppins SemiBold" pitchFamily="34" charset="0"/>
                          <a:ea typeface="Poppins SemiBold" pitchFamily="34" charset="-122"/>
                          <a:cs typeface="Poppins SemiBold" pitchFamily="34" charset="-120"/>
                        </a:rPr>
                        <a:t>8</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E9E5B"/>
                          </a:solidFill>
                          <a:latin typeface="Poppins SemiBold" pitchFamily="34" charset="0"/>
                          <a:ea typeface="Poppins SemiBold" pitchFamily="34" charset="-122"/>
                          <a:cs typeface="Poppins SemiBold" pitchFamily="34" charset="-120"/>
                        </a:rPr>
                        <a:t>0</a:t>
                      </a:r>
                      <a:endParaRPr lang="en-US" sz="1200" dirty="0">
                        <a:latin typeface="Poppins SemiBold" charset="0"/>
                        <a:ea typeface="Poppins SemiBold" charset="0"/>
                        <a:cs typeface="Poppins SemiBold" charset="0"/>
                      </a:endParaRPr>
                    </a:p>
                  </a:txBody>
                  <a:tcPr marL="91440" marR="91440" marT="45720" marB="45720" anchor="ctr">
                    <a:lnL w="12700" cap="flat" cmpd="sng" algn="ctr">
                      <a:solidFill>
                        <a:srgbClr val="E3E8E9"/>
                      </a:solidFill>
                      <a:prstDash val="solid"/>
                      <a:round/>
                      <a:headEnd type="none" w="med" len="med"/>
                      <a:tailEnd type="none" w="med" len="med"/>
                    </a:lnL>
                    <a:lnR w="12700" cap="flat" cmpd="sng" algn="ctr">
                      <a:solidFill>
                        <a:srgbClr val="E3E8E9"/>
                      </a:solidFill>
                      <a:prstDash val="solid"/>
                      <a:round/>
                      <a:headEnd type="none" w="med" len="med"/>
                      <a:tailEnd type="none" w="med" len="med"/>
                    </a:lnR>
                    <a:lnT w="12700" cap="flat" cmpd="sng" algn="ctr">
                      <a:solidFill>
                        <a:srgbClr val="E3E8E9"/>
                      </a:solidFill>
                      <a:prstDash val="solid"/>
                      <a:round/>
                      <a:headEnd type="none" w="med" len="med"/>
                      <a:tailEnd type="none" w="med" len="med"/>
                    </a:lnT>
                    <a:lnB w="12700" cap="flat" cmpd="sng" algn="ctr">
                      <a:solidFill>
                        <a:srgbClr val="E3E8E9"/>
                      </a:solidFill>
                      <a:prstDash val="solid"/>
                      <a:round/>
                      <a:headEnd type="none" w="med" len="med"/>
                      <a:tailEnd type="none" w="med" len="med"/>
                    </a:lnB>
                    <a:solidFill>
                      <a:srgbClr val="FFFFFF"/>
                    </a:solidFill>
                  </a:tcPr>
                </a:tc>
              </a:tr>
            </a:tbl>
          </a:graphicData>
        </a:graphic>
      </p:graphicFrame>
      <p:sp>
        <p:nvSpPr>
          <p:cNvPr id="9" name="Shape 5"/>
          <p:cNvSpPr/>
          <p:nvPr/>
        </p:nvSpPr>
        <p:spPr>
          <a:xfrm>
            <a:off x="7863840" y="4572000"/>
            <a:ext cx="3596335" cy="1371600"/>
          </a:xfrm>
          <a:prstGeom prst="roundRect">
            <a:avLst>
              <a:gd name="adj" fmla="val 6667"/>
            </a:avLst>
          </a:prstGeom>
          <a:solidFill>
            <a:srgbClr val="EEF3F4"/>
          </a:solidFill>
          <a:ln/>
        </p:spPr>
      </p:sp>
      <p:sp>
        <p:nvSpPr>
          <p:cNvPr id="10" name="Shape 6"/>
          <p:cNvSpPr/>
          <p:nvPr/>
        </p:nvSpPr>
        <p:spPr>
          <a:xfrm>
            <a:off x="7863840" y="4572000"/>
            <a:ext cx="91440" cy="1371600"/>
          </a:xfrm>
          <a:prstGeom prst="roundRect">
            <a:avLst>
              <a:gd name="adj" fmla="val 50000"/>
            </a:avLst>
          </a:prstGeom>
          <a:solidFill>
            <a:srgbClr val="15B3A6"/>
          </a:solidFill>
          <a:ln/>
        </p:spPr>
      </p:sp>
      <p:sp>
        <p:nvSpPr>
          <p:cNvPr id="11" name="Text 7"/>
          <p:cNvSpPr/>
          <p:nvPr/>
        </p:nvSpPr>
        <p:spPr>
          <a:xfrm>
            <a:off x="8183880" y="4718304"/>
            <a:ext cx="3139135" cy="274320"/>
          </a:xfrm>
          <a:prstGeom prst="rect">
            <a:avLst/>
          </a:prstGeom>
          <a:noFill/>
          <a:ln/>
        </p:spPr>
        <p:txBody>
          <a:bodyPr wrap="square" rtlCol="0" anchor="ctr"/>
          <a:lstStyle/>
          <a:p>
            <a:pPr indent="0" marL="0">
              <a:buNone/>
            </a:pPr>
            <a:r>
              <a:rPr lang="en-US" sz="1000" spc="100" kern="0" dirty="0">
                <a:solidFill>
                  <a:srgbClr val="0E8F84"/>
                </a:solidFill>
                <a:latin typeface="Poppins SemiBold" pitchFamily="34" charset="0"/>
                <a:ea typeface="Poppins SemiBold" pitchFamily="34" charset="-122"/>
                <a:cs typeface="Poppins SemiBold" pitchFamily="34" charset="-120"/>
              </a:rPr>
              <a:t>HASIL</a:t>
            </a:r>
            <a:endParaRPr lang="en-US" sz="1000" dirty="0"/>
          </a:p>
        </p:txBody>
      </p:sp>
      <p:sp>
        <p:nvSpPr>
          <p:cNvPr id="12" name="Text 8"/>
          <p:cNvSpPr/>
          <p:nvPr/>
        </p:nvSpPr>
        <p:spPr>
          <a:xfrm>
            <a:off x="8183880" y="4992624"/>
            <a:ext cx="3093415" cy="859536"/>
          </a:xfrm>
          <a:prstGeom prst="rect">
            <a:avLst/>
          </a:prstGeom>
          <a:noFill/>
          <a:ln/>
        </p:spPr>
        <p:txBody>
          <a:bodyPr wrap="square" rtlCol="0" anchor="t"/>
          <a:lstStyle/>
          <a:p>
            <a:pPr indent="0" marL="0">
              <a:lnSpc>
                <a:spcPct val="115000"/>
              </a:lnSpc>
              <a:buNone/>
            </a:pPr>
            <a:r>
              <a:rPr lang="en-US" sz="1200" dirty="0">
                <a:solidFill>
                  <a:srgbClr val="1A1E24"/>
                </a:solidFill>
                <a:latin typeface="Poppins" pitchFamily="34" charset="0"/>
                <a:ea typeface="Poppins" pitchFamily="34" charset="-122"/>
                <a:cs typeface="Poppins" pitchFamily="34" charset="-120"/>
              </a:rPr>
              <a:t>Semua 8 issue SonarQube teratasi. Kedua project tetap tersimpan sebagai bukti, tidak saling menimpa.</a:t>
            </a:r>
            <a:endParaRPr lang="en-US" sz="1200" dirty="0"/>
          </a:p>
        </p:txBody>
      </p:sp>
      <p:sp>
        <p:nvSpPr>
          <p:cNvPr id="13" name="Text 9"/>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14" name="Text 10"/>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512064"/>
            <a:ext cx="237744" cy="237744"/>
          </a:xfrm>
          <a:prstGeom prst="rect">
            <a:avLst/>
          </a:prstGeom>
          <a:solidFill>
            <a:srgbClr val="15B3A6"/>
          </a:solidFill>
          <a:ln/>
        </p:spPr>
      </p:sp>
      <p:sp>
        <p:nvSpPr>
          <p:cNvPr id="3" name="Text 1"/>
          <p:cNvSpPr/>
          <p:nvPr/>
        </p:nvSpPr>
        <p:spPr>
          <a:xfrm>
            <a:off x="1078992" y="493776"/>
            <a:ext cx="10362895" cy="274320"/>
          </a:xfrm>
          <a:prstGeom prst="rect">
            <a:avLst/>
          </a:prstGeom>
          <a:noFill/>
          <a:ln/>
        </p:spPr>
        <p:txBody>
          <a:bodyPr wrap="square" rtlCol="0" anchor="ctr"/>
          <a:lstStyle/>
          <a:p>
            <a:pPr indent="0" marL="0">
              <a:buNone/>
            </a:pPr>
            <a:r>
              <a:rPr lang="en-US" sz="1100" spc="200" kern="0" dirty="0">
                <a:solidFill>
                  <a:srgbClr val="0E8F84"/>
                </a:solidFill>
                <a:latin typeface="Poppins SemiBold" pitchFamily="34" charset="0"/>
                <a:ea typeface="Poppins SemiBold" pitchFamily="34" charset="-122"/>
                <a:cs typeface="Poppins SemiBold" pitchFamily="34" charset="-120"/>
              </a:rPr>
              <a:t>KESIMPULAN</a:t>
            </a:r>
            <a:endParaRPr lang="en-US" sz="1100" dirty="0"/>
          </a:p>
        </p:txBody>
      </p:sp>
      <p:sp>
        <p:nvSpPr>
          <p:cNvPr id="4" name="Text 2"/>
          <p:cNvSpPr/>
          <p:nvPr/>
        </p:nvSpPr>
        <p:spPr>
          <a:xfrm>
            <a:off x="731520" y="841248"/>
            <a:ext cx="10728655" cy="640080"/>
          </a:xfrm>
          <a:prstGeom prst="rect">
            <a:avLst/>
          </a:prstGeom>
          <a:noFill/>
          <a:ln/>
        </p:spPr>
        <p:txBody>
          <a:bodyPr wrap="square" rtlCol="0" anchor="ctr"/>
          <a:lstStyle/>
          <a:p>
            <a:pPr indent="0" marL="0">
              <a:buNone/>
            </a:pPr>
            <a:r>
              <a:rPr lang="en-US" sz="2700" dirty="0">
                <a:solidFill>
                  <a:srgbClr val="1A1E24"/>
                </a:solidFill>
                <a:latin typeface="Poppins ExtraBold" pitchFamily="34" charset="0"/>
                <a:ea typeface="Poppins ExtraBold" pitchFamily="34" charset="-122"/>
                <a:cs typeface="Poppins ExtraBold" pitchFamily="34" charset="-120"/>
              </a:rPr>
              <a:t>Pelajaran &amp; Rekomendasi</a:t>
            </a:r>
            <a:endParaRPr lang="en-US" sz="2700" dirty="0"/>
          </a:p>
        </p:txBody>
      </p:sp>
      <p:sp>
        <p:nvSpPr>
          <p:cNvPr id="5" name="Shape 3"/>
          <p:cNvSpPr/>
          <p:nvPr/>
        </p:nvSpPr>
        <p:spPr>
          <a:xfrm>
            <a:off x="731520" y="1691640"/>
            <a:ext cx="5181448" cy="4434840"/>
          </a:xfrm>
          <a:prstGeom prst="roundRect">
            <a:avLst>
              <a:gd name="adj" fmla="val 2062"/>
            </a:avLst>
          </a:prstGeom>
          <a:solidFill>
            <a:srgbClr val="FFFFFF"/>
          </a:solidFill>
          <a:ln w="12700">
            <a:solidFill>
              <a:srgbClr val="E3E8E9"/>
            </a:solidFill>
            <a:prstDash val="solid"/>
          </a:ln>
        </p:spPr>
      </p:sp>
      <p:sp>
        <p:nvSpPr>
          <p:cNvPr id="6" name="Text 4"/>
          <p:cNvSpPr/>
          <p:nvPr/>
        </p:nvSpPr>
        <p:spPr>
          <a:xfrm>
            <a:off x="1051560" y="1828800"/>
            <a:ext cx="4541368" cy="457200"/>
          </a:xfrm>
          <a:prstGeom prst="rect">
            <a:avLst/>
          </a:prstGeom>
          <a:noFill/>
          <a:ln/>
        </p:spPr>
        <p:txBody>
          <a:bodyPr wrap="square" rtlCol="0" anchor="ctr"/>
          <a:lstStyle/>
          <a:p>
            <a:pPr indent="0" marL="0">
              <a:buNone/>
            </a:pPr>
            <a:r>
              <a:rPr lang="en-US" sz="1700" dirty="0">
                <a:solidFill>
                  <a:srgbClr val="0E8F84"/>
                </a:solidFill>
                <a:latin typeface="Poppins SemiBold" pitchFamily="34" charset="0"/>
                <a:ea typeface="Poppins SemiBold" pitchFamily="34" charset="-122"/>
                <a:cs typeface="Poppins SemiBold" pitchFamily="34" charset="-120"/>
              </a:rPr>
              <a:t>Pelajaran</a:t>
            </a:r>
            <a:endParaRPr lang="en-US" sz="1700" dirty="0"/>
          </a:p>
        </p:txBody>
      </p:sp>
      <p:sp>
        <p:nvSpPr>
          <p:cNvPr id="7" name="Text 5"/>
          <p:cNvSpPr/>
          <p:nvPr/>
        </p:nvSpPr>
        <p:spPr>
          <a:xfrm>
            <a:off x="1051560" y="2331720"/>
            <a:ext cx="4541368" cy="3657600"/>
          </a:xfrm>
          <a:prstGeom prst="rect">
            <a:avLst/>
          </a:prstGeom>
          <a:noFill/>
          <a:ln/>
        </p:spPr>
        <p:txBody>
          <a:bodyPr wrap="square" rtlCol="0" anchor="t"/>
          <a:lstStyle/>
          <a:p>
            <a:pPr marL="177800" indent="-177800">
              <a:lnSpc>
                <a:spcPct val="110000"/>
              </a:lnSpc>
              <a:spcAft>
                <a:spcPts val="800"/>
              </a:spcAft>
              <a:buSzPct val="100000"/>
              <a:buChar char="•"/>
            </a:pPr>
            <a:r>
              <a:rPr lang="en-US" sz="1250" dirty="0">
                <a:solidFill>
                  <a:srgbClr val="1A1E24"/>
                </a:solidFill>
                <a:latin typeface="Poppins" pitchFamily="34" charset="0"/>
                <a:ea typeface="Poppins" pitchFamily="34" charset="-122"/>
                <a:cs typeface="Poppins" pitchFamily="34" charset="-120"/>
              </a:rPr>
              <a:t>Dashboard bersih belum tentu aman: Quality Gate sudah Passed bahkan sebelum perbaikan.</a:t>
            </a:r>
            <a:endParaRPr lang="en-US" sz="1250" dirty="0"/>
          </a:p>
          <a:p>
            <a:pPr marL="177800" indent="-177800">
              <a:lnSpc>
                <a:spcPct val="110000"/>
              </a:lnSpc>
              <a:spcAft>
                <a:spcPts val="800"/>
              </a:spcAft>
              <a:buSzPct val="100000"/>
              <a:buChar char="•"/>
            </a:pPr>
            <a:r>
              <a:rPr lang="en-US" sz="1250" dirty="0">
                <a:solidFill>
                  <a:srgbClr val="1A1E24"/>
                </a:solidFill>
                <a:latin typeface="Poppins" pitchFamily="34" charset="0"/>
                <a:ea typeface="Poppins" pitchFamily="34" charset="-122"/>
                <a:cs typeface="Poppins" pitchFamily="34" charset="-120"/>
              </a:rPr>
              <a:t>Community Build tanpa taint analysis: celah injeksi paling kritis justru tidak terlihat.</a:t>
            </a:r>
            <a:endParaRPr lang="en-US" sz="1250" dirty="0"/>
          </a:p>
          <a:p>
            <a:pPr marL="177800" indent="-177800">
              <a:lnSpc>
                <a:spcPct val="110000"/>
              </a:lnSpc>
              <a:spcAft>
                <a:spcPts val="800"/>
              </a:spcAft>
              <a:buSzPct val="100000"/>
              <a:buChar char="•"/>
            </a:pPr>
            <a:r>
              <a:rPr lang="en-US" sz="1250" dirty="0">
                <a:solidFill>
                  <a:srgbClr val="1A1E24"/>
                </a:solidFill>
                <a:latin typeface="Poppins" pitchFamily="34" charset="0"/>
                <a:ea typeface="Poppins" pitchFamily="34" charset="-122"/>
                <a:cs typeface="Poppins" pitchFamily="34" charset="-120"/>
              </a:rPr>
              <a:t>Secret yang pernah di-commit harus dianggap bocor dan dirotasi.</a:t>
            </a:r>
            <a:endParaRPr lang="en-US" sz="1250" dirty="0"/>
          </a:p>
          <a:p>
            <a:pPr marL="177800" indent="-177800">
              <a:lnSpc>
                <a:spcPct val="110000"/>
              </a:lnSpc>
              <a:spcAft>
                <a:spcPts val="800"/>
              </a:spcAft>
              <a:buSzPct val="100000"/>
              <a:buChar char="•"/>
            </a:pPr>
            <a:r>
              <a:rPr lang="en-US" sz="1250" dirty="0">
                <a:solidFill>
                  <a:srgbClr val="1A1E24"/>
                </a:solidFill>
                <a:latin typeface="Poppins" pitchFamily="34" charset="0"/>
                <a:ea typeface="Poppins" pitchFamily="34" charset="-122"/>
                <a:cs typeface="Poppins" pitchFamily="34" charset="-120"/>
              </a:rPr>
              <a:t>Hampir semua celah muncul karena fitur keamanan Laravel dimatikan atau dilewati.</a:t>
            </a:r>
            <a:endParaRPr lang="en-US" sz="1250" dirty="0"/>
          </a:p>
        </p:txBody>
      </p:sp>
      <p:sp>
        <p:nvSpPr>
          <p:cNvPr id="8" name="Shape 6"/>
          <p:cNvSpPr/>
          <p:nvPr/>
        </p:nvSpPr>
        <p:spPr>
          <a:xfrm>
            <a:off x="6278728" y="1691640"/>
            <a:ext cx="5181448" cy="4434840"/>
          </a:xfrm>
          <a:prstGeom prst="roundRect">
            <a:avLst>
              <a:gd name="adj" fmla="val 2062"/>
            </a:avLst>
          </a:prstGeom>
          <a:solidFill>
            <a:srgbClr val="0F2E3B"/>
          </a:solidFill>
          <a:ln w="12700">
            <a:solidFill>
              <a:srgbClr val="0F2E3B"/>
            </a:solidFill>
            <a:prstDash val="solid"/>
          </a:ln>
        </p:spPr>
      </p:sp>
      <p:sp>
        <p:nvSpPr>
          <p:cNvPr id="9" name="Text 7"/>
          <p:cNvSpPr/>
          <p:nvPr/>
        </p:nvSpPr>
        <p:spPr>
          <a:xfrm>
            <a:off x="6598768" y="1828800"/>
            <a:ext cx="4541368" cy="457200"/>
          </a:xfrm>
          <a:prstGeom prst="rect">
            <a:avLst/>
          </a:prstGeom>
          <a:noFill/>
          <a:ln/>
        </p:spPr>
        <p:txBody>
          <a:bodyPr wrap="square" rtlCol="0" anchor="ctr"/>
          <a:lstStyle/>
          <a:p>
            <a:pPr indent="0" marL="0">
              <a:buNone/>
            </a:pPr>
            <a:r>
              <a:rPr lang="en-US" sz="1700" dirty="0">
                <a:solidFill>
                  <a:srgbClr val="15B3A6"/>
                </a:solidFill>
                <a:latin typeface="Poppins SemiBold" pitchFamily="34" charset="0"/>
                <a:ea typeface="Poppins SemiBold" pitchFamily="34" charset="-122"/>
                <a:cs typeface="Poppins SemiBold" pitchFamily="34" charset="-120"/>
              </a:rPr>
              <a:t>Rekomendasi</a:t>
            </a:r>
            <a:endParaRPr lang="en-US" sz="1700" dirty="0"/>
          </a:p>
        </p:txBody>
      </p:sp>
      <p:sp>
        <p:nvSpPr>
          <p:cNvPr id="10" name="Text 8"/>
          <p:cNvSpPr/>
          <p:nvPr/>
        </p:nvSpPr>
        <p:spPr>
          <a:xfrm>
            <a:off x="6598768" y="2331720"/>
            <a:ext cx="4541368" cy="3657600"/>
          </a:xfrm>
          <a:prstGeom prst="rect">
            <a:avLst/>
          </a:prstGeom>
          <a:noFill/>
          <a:ln/>
        </p:spPr>
        <p:txBody>
          <a:bodyPr wrap="square" rtlCol="0" anchor="t"/>
          <a:lstStyle/>
          <a:p>
            <a:pPr marL="177800" indent="-177800">
              <a:lnSpc>
                <a:spcPct val="110000"/>
              </a:lnSpc>
              <a:spcAft>
                <a:spcPts val="800"/>
              </a:spcAft>
              <a:buSzPct val="100000"/>
              <a:buChar char="•"/>
            </a:pPr>
            <a:r>
              <a:rPr lang="en-US" sz="1250" dirty="0">
                <a:solidFill>
                  <a:srgbClr val="FFFFFF"/>
                </a:solidFill>
                <a:latin typeface="Poppins" pitchFamily="34" charset="0"/>
                <a:ea typeface="Poppins" pitchFamily="34" charset="-122"/>
                <a:cs typeface="Poppins" pitchFamily="34" charset="-120"/>
              </a:rPr>
              <a:t>SonarQube di CI/CD (GitHub Actions) + Quality Gate sebagai syarat merge.</a:t>
            </a:r>
            <a:endParaRPr lang="en-US" sz="1250" dirty="0"/>
          </a:p>
          <a:p>
            <a:pPr marL="177800" indent="-177800">
              <a:lnSpc>
                <a:spcPct val="110000"/>
              </a:lnSpc>
              <a:spcAft>
                <a:spcPts val="800"/>
              </a:spcAft>
              <a:buSzPct val="100000"/>
              <a:buChar char="•"/>
            </a:pPr>
            <a:r>
              <a:rPr lang="en-US" sz="1250" dirty="0">
                <a:solidFill>
                  <a:srgbClr val="FFFFFF"/>
                </a:solidFill>
                <a:latin typeface="Poppins" pitchFamily="34" charset="0"/>
                <a:ea typeface="Poppins" pitchFamily="34" charset="-122"/>
                <a:cs typeface="Poppins" pitchFamily="34" charset="-120"/>
              </a:rPr>
              <a:t>Lengkapi dengan taint analysis / Semgrep, DAST (OWASP ZAP), dan composer audit.</a:t>
            </a:r>
            <a:endParaRPr lang="en-US" sz="1250" dirty="0"/>
          </a:p>
          <a:p>
            <a:pPr marL="177800" indent="-177800">
              <a:lnSpc>
                <a:spcPct val="110000"/>
              </a:lnSpc>
              <a:spcAft>
                <a:spcPts val="800"/>
              </a:spcAft>
              <a:buSzPct val="100000"/>
              <a:buChar char="•"/>
            </a:pPr>
            <a:r>
              <a:rPr lang="en-US" sz="1250" dirty="0">
                <a:solidFill>
                  <a:srgbClr val="FFFFFF"/>
                </a:solidFill>
                <a:latin typeface="Poppins" pitchFamily="34" charset="0"/>
                <a:ea typeface="Poppins" pitchFamily="34" charset="-122"/>
                <a:cs typeface="Poppins" pitchFamily="34" charset="-120"/>
              </a:rPr>
              <a:t>Secret di .env / secret manager + gitleaks pre-commit + push protection.</a:t>
            </a:r>
            <a:endParaRPr lang="en-US" sz="1250" dirty="0"/>
          </a:p>
          <a:p>
            <a:pPr marL="177800" indent="-177800">
              <a:lnSpc>
                <a:spcPct val="110000"/>
              </a:lnSpc>
              <a:spcAft>
                <a:spcPts val="800"/>
              </a:spcAft>
              <a:buSzPct val="100000"/>
              <a:buChar char="•"/>
            </a:pPr>
            <a:r>
              <a:rPr lang="en-US" sz="1250" dirty="0">
                <a:solidFill>
                  <a:srgbClr val="FFFFFF"/>
                </a:solidFill>
                <a:latin typeface="Poppins" pitchFamily="34" charset="0"/>
                <a:ea typeface="Poppins" pitchFamily="34" charset="-122"/>
                <a:cs typeface="Poppins" pitchFamily="34" charset="-120"/>
              </a:rPr>
              <a:t>Standar coding aman: Eloquent/binding, validate(), $fillable, Policy, tanpa exec.</a:t>
            </a:r>
            <a:endParaRPr lang="en-US" sz="1250" dirty="0"/>
          </a:p>
          <a:p>
            <a:pPr marL="177800" indent="-177800">
              <a:lnSpc>
                <a:spcPct val="110000"/>
              </a:lnSpc>
              <a:spcAft>
                <a:spcPts val="800"/>
              </a:spcAft>
              <a:buSzPct val="100000"/>
              <a:buChar char="•"/>
            </a:pPr>
            <a:r>
              <a:rPr lang="en-US" sz="1250" dirty="0">
                <a:solidFill>
                  <a:srgbClr val="FFFFFF"/>
                </a:solidFill>
                <a:latin typeface="Poppins" pitchFamily="34" charset="0"/>
                <a:ea typeface="Poppins" pitchFamily="34" charset="-122"/>
                <a:cs typeface="Poppins" pitchFamily="34" charset="-120"/>
              </a:rPr>
              <a:t>Tambah unit test agar syarat coverage Quality Gate terpenuhi.</a:t>
            </a:r>
            <a:endParaRPr lang="en-US" sz="1250" dirty="0"/>
          </a:p>
        </p:txBody>
      </p:sp>
      <p:sp>
        <p:nvSpPr>
          <p:cNvPr id="11" name="Text 9"/>
          <p:cNvSpPr/>
          <p:nvPr/>
        </p:nvSpPr>
        <p:spPr>
          <a:xfrm>
            <a:off x="731520" y="6419088"/>
            <a:ext cx="7315200" cy="274320"/>
          </a:xfrm>
          <a:prstGeom prst="rect">
            <a:avLst/>
          </a:prstGeom>
          <a:noFill/>
          <a:ln/>
        </p:spPr>
        <p:txBody>
          <a:bodyPr wrap="square" rtlCol="0" anchor="ctr"/>
          <a:lstStyle/>
          <a:p>
            <a:pPr indent="0" marL="0">
              <a:buNone/>
            </a:pPr>
            <a:r>
              <a:rPr lang="en-US" sz="800" spc="100" kern="0" dirty="0">
                <a:solidFill>
                  <a:srgbClr val="6A7177"/>
                </a:solidFill>
                <a:latin typeface="Poppins Medium" pitchFamily="34" charset="0"/>
                <a:ea typeface="Poppins Medium" pitchFamily="34" charset="-122"/>
                <a:cs typeface="Poppins Medium" pitchFamily="34" charset="-120"/>
              </a:rPr>
              <a:t>KELOMPOK 6  ·  UTS DEVSECOPS  ·  SAST SONARQUBE</a:t>
            </a:r>
            <a:endParaRPr lang="en-US" sz="800" dirty="0"/>
          </a:p>
        </p:txBody>
      </p:sp>
      <p:sp>
        <p:nvSpPr>
          <p:cNvPr id="12" name="Text 10"/>
          <p:cNvSpPr/>
          <p:nvPr/>
        </p:nvSpPr>
        <p:spPr>
          <a:xfrm>
            <a:off x="10545775" y="6364224"/>
            <a:ext cx="914400" cy="329184"/>
          </a:xfrm>
          <a:prstGeom prst="rect">
            <a:avLst/>
          </a:prstGeom>
          <a:noFill/>
          <a:ln/>
        </p:spPr>
        <p:txBody>
          <a:bodyPr wrap="square" rtlCol="0" anchor="ctr"/>
          <a:lstStyle/>
          <a:p>
            <a:pPr algn="r" indent="0" marL="0">
              <a:buNone/>
            </a:pPr>
            <a:r>
              <a:rPr lang="en-US" sz="1000" dirty="0">
                <a:solidFill>
                  <a:srgbClr val="0E8F84"/>
                </a:solidFill>
                <a:latin typeface="Poppins SemiBold" pitchFamily="34" charset="0"/>
                <a:ea typeface="Poppins SemiBold" pitchFamily="34" charset="-122"/>
                <a:cs typeface="Poppins SemiBold"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E3B"/>
        </a:solidFill>
      </p:bgPr>
    </p:bg>
    <p:spTree>
      <p:nvGrpSpPr>
        <p:cNvPr id="1" name=""/>
        <p:cNvGrpSpPr/>
        <p:nvPr/>
      </p:nvGrpSpPr>
      <p:grpSpPr>
        <a:xfrm>
          <a:off x="0" y="0"/>
          <a:ext cx="0" cy="0"/>
          <a:chOff x="0" y="0"/>
          <a:chExt cx="0" cy="0"/>
        </a:xfrm>
      </p:grpSpPr>
      <p:sp>
        <p:nvSpPr>
          <p:cNvPr id="2" name="Shape 0"/>
          <p:cNvSpPr/>
          <p:nvPr/>
        </p:nvSpPr>
        <p:spPr>
          <a:xfrm>
            <a:off x="9692640" y="-1280160"/>
            <a:ext cx="3108960" cy="3108960"/>
          </a:xfrm>
          <a:prstGeom prst="ellipse">
            <a:avLst/>
          </a:prstGeom>
          <a:solidFill>
            <a:srgbClr val="15B3A6"/>
          </a:solidFill>
          <a:ln/>
        </p:spPr>
      </p:sp>
      <p:sp>
        <p:nvSpPr>
          <p:cNvPr id="3" name="Shape 1"/>
          <p:cNvSpPr/>
          <p:nvPr/>
        </p:nvSpPr>
        <p:spPr>
          <a:xfrm>
            <a:off x="0" y="0"/>
            <a:ext cx="164592" cy="6858000"/>
          </a:xfrm>
          <a:prstGeom prst="rect">
            <a:avLst/>
          </a:prstGeom>
          <a:solidFill>
            <a:srgbClr val="15B3A6"/>
          </a:solidFill>
          <a:ln/>
        </p:spPr>
      </p:sp>
      <p:sp>
        <p:nvSpPr>
          <p:cNvPr id="4" name="Text 2"/>
          <p:cNvSpPr/>
          <p:nvPr/>
        </p:nvSpPr>
        <p:spPr>
          <a:xfrm>
            <a:off x="731520" y="2377440"/>
            <a:ext cx="8229600" cy="1097280"/>
          </a:xfrm>
          <a:prstGeom prst="rect">
            <a:avLst/>
          </a:prstGeom>
          <a:noFill/>
          <a:ln/>
        </p:spPr>
        <p:txBody>
          <a:bodyPr wrap="square" rtlCol="0" anchor="ctr"/>
          <a:lstStyle/>
          <a:p>
            <a:pPr indent="0" marL="0">
              <a:buNone/>
            </a:pPr>
            <a:r>
              <a:rPr lang="en-US" sz="5400" dirty="0">
                <a:solidFill>
                  <a:srgbClr val="FFFFFF"/>
                </a:solidFill>
                <a:latin typeface="Poppins ExtraBold" pitchFamily="34" charset="0"/>
                <a:ea typeface="Poppins ExtraBold" pitchFamily="34" charset="-122"/>
                <a:cs typeface="Poppins ExtraBold" pitchFamily="34" charset="-120"/>
              </a:rPr>
              <a:t>Terima Kasih</a:t>
            </a:r>
            <a:endParaRPr lang="en-US" sz="5400" dirty="0"/>
          </a:p>
        </p:txBody>
      </p:sp>
      <p:sp>
        <p:nvSpPr>
          <p:cNvPr id="5" name="Text 3"/>
          <p:cNvSpPr/>
          <p:nvPr/>
        </p:nvSpPr>
        <p:spPr>
          <a:xfrm>
            <a:off x="731520" y="3474720"/>
            <a:ext cx="8229600" cy="457200"/>
          </a:xfrm>
          <a:prstGeom prst="rect">
            <a:avLst/>
          </a:prstGeom>
          <a:noFill/>
          <a:ln/>
        </p:spPr>
        <p:txBody>
          <a:bodyPr wrap="square" rtlCol="0" anchor="ctr"/>
          <a:lstStyle/>
          <a:p>
            <a:pPr indent="0" marL="0">
              <a:buNone/>
            </a:pPr>
            <a:r>
              <a:rPr lang="en-US" sz="1800" dirty="0">
                <a:solidFill>
                  <a:srgbClr val="B9D4D4"/>
                </a:solidFill>
                <a:latin typeface="Poppins Medium" pitchFamily="34" charset="0"/>
                <a:ea typeface="Poppins Medium" pitchFamily="34" charset="-122"/>
                <a:cs typeface="Poppins Medium" pitchFamily="34" charset="-120"/>
              </a:rPr>
              <a:t>Sesi tanya jawab · Kelompok 6</a:t>
            </a:r>
            <a:endParaRPr lang="en-US" sz="1800" dirty="0"/>
          </a:p>
        </p:txBody>
      </p:sp>
      <p:sp>
        <p:nvSpPr>
          <p:cNvPr id="6" name="Text 4"/>
          <p:cNvSpPr/>
          <p:nvPr/>
        </p:nvSpPr>
        <p:spPr>
          <a:xfrm>
            <a:off x="731520" y="5852160"/>
            <a:ext cx="10058400" cy="365760"/>
          </a:xfrm>
          <a:prstGeom prst="rect">
            <a:avLst/>
          </a:prstGeom>
          <a:noFill/>
          <a:ln/>
        </p:spPr>
        <p:txBody>
          <a:bodyPr wrap="square" rtlCol="0" anchor="ctr"/>
          <a:lstStyle/>
          <a:p>
            <a:pPr indent="0" marL="0">
              <a:buNone/>
            </a:pPr>
            <a:r>
              <a:rPr lang="en-US" sz="1100" dirty="0">
                <a:solidFill>
                  <a:srgbClr val="B9D4D4"/>
                </a:solidFill>
                <a:latin typeface="Consolas" pitchFamily="34" charset="0"/>
                <a:ea typeface="Consolas" pitchFamily="34" charset="-122"/>
                <a:cs typeface="Consolas" pitchFamily="34" charset="-120"/>
              </a:rPr>
              <a:t>github.com/FirmansyahDzakwanArifien/DevSecOPS  ·  branch uts/sast-sonarqube-kelompok6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STT Terpadu Nurul Fikri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UTS DevSecOps - SAST SonarQube Kelompok 6</dc:title>
  <dc:subject>UTS DevSecOps</dc:subject>
  <dc:creator>Kelompok 6</dc:creator>
  <cp:lastModifiedBy>Kelompok 6</cp:lastModifiedBy>
  <cp:revision>1</cp:revision>
  <dcterms:created xsi:type="dcterms:W3CDTF">2026-10-27T10:57:46Z</dcterms:created>
  <dcterms:modified xsi:type="dcterms:W3CDTF">2026-10-27T10:57:46Z</dcterms:modified>
</cp:coreProperties>
</file>