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C343D"/>
          </a:solidFill>
          <a:ln/>
        </p:spPr>
      </p:sp>
      <p:pic>
        <p:nvPicPr>
          <p:cNvPr id="3" name="Image 0" descr="Gam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LAPORAN PRAKTIKUM  ·  DEVSECOPS PERTEMUAN 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22960" y="18745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Application Security Testing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26974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Aplikasi SnipVault menggunakan OWASP ZAP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841248" y="3429000"/>
            <a:ext cx="5943600" cy="0"/>
          </a:xfrm>
          <a:prstGeom prst="line">
            <a:avLst/>
          </a:prstGeom>
          <a:noFill/>
          <a:ln w="15875">
            <a:solidFill>
              <a:srgbClr val="CBC7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356616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https://vulnlab.cyphera.my.id</a:t>
            </a:r>
            <a:pPr indent="0" marL="0">
              <a:buNone/>
            </a:pPr>
            <a:r>
              <a:rPr lang="en-US" sz="12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Tool 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OWASP ZAP 2.17.0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KELOMPOK 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4572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Firmansyah Dzakwan Arifien — 0110223282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Azzam Fikri — 0110225110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Dhiya Nailah Rizqya — 0110225095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Ghifana Adzkia Ahmad — 0110225044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309360" y="45720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Rizky Putri — 0110225064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Fathir Lubis — 0110225005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Bintang Siregar — 0110225058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22960" y="61722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Informatika · STT Terpadu Nurul Fikri · 19 Oktober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RINGKASAN EKSEKUTIF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Scan Otomatis OWASP ZAP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10911535" cy="0"/>
          </a:xfrm>
          <a:prstGeom prst="line">
            <a:avLst/>
          </a:prstGeom>
          <a:noFill/>
          <a:ln w="12700">
            <a:solidFill>
              <a:srgbClr val="CBC7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C7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83080"/>
            <a:ext cx="2514600" cy="91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3911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C7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783080"/>
            <a:ext cx="2514600" cy="914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203911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429000" y="28620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C7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783080"/>
            <a:ext cx="2514600" cy="9144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03911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6217920" y="28620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1783080"/>
            <a:ext cx="2514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C7B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1783080"/>
            <a:ext cx="2514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9" name="Text 17"/>
          <p:cNvSpPr/>
          <p:nvPr/>
        </p:nvSpPr>
        <p:spPr>
          <a:xfrm>
            <a:off x="9006840" y="2039112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006840" y="286207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INFORMATIONAL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7033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otomatis OWASP ZAP mengkonfirmasi 1 temuan High — Cross-Site Scripting (Reflected) pada parameter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/search — selain temuan Medium dan Low terkait konfigurasi header keamanan.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10911535" cy="1280160"/>
          </a:xfrm>
          <a:prstGeom prst="rect">
            <a:avLst/>
          </a:prstGeom>
          <a:solidFill>
            <a:srgbClr val="F1EFEA"/>
          </a:solidFill>
          <a:ln w="12700">
            <a:solidFill>
              <a:srgbClr val="CBC7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754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CATATAN METODOLOGIS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5029200"/>
            <a:ext cx="103628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otomatis tidak menangkap kerentanan pada endpoint POST dan yang bergantung pada logika aplikasi. Pengujian manual terarah (Tugas E) menemukan empat temuan High tambahan: SSTI, IDOR, Sensitive Data Exposure, dan SSRF.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BC7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DAST OWASP ZAP — SnipVault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 TARGET &amp; METODOLOGI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Lingkup dan Pendekatan Pengujian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10911535" cy="0"/>
          </a:xfrm>
          <a:prstGeom prst="line">
            <a:avLst/>
          </a:prstGeom>
          <a:noFill/>
          <a:ln w="12700">
            <a:solidFill>
              <a:srgbClr val="CBC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4592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PROFIL TARGET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194560" y="2011680"/>
            <a:ext cx="36269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SnipVault — berbagi code snippet &amp; catatan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57860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94560" y="2578608"/>
            <a:ext cx="36269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https://vulnlab.cyphera.my.id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1455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194560" y="3145536"/>
            <a:ext cx="36269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EJS (Vercel)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71246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194560" y="3712464"/>
            <a:ext cx="36269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ZAP 2.17.0 (Desktop Edition)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427939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94560" y="4279392"/>
            <a:ext cx="36269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Senin, 19 Oktober 2026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95848" y="1645920"/>
            <a:ext cx="0" cy="4389120"/>
          </a:xfrm>
          <a:prstGeom prst="line">
            <a:avLst/>
          </a:prstGeom>
          <a:noFill/>
          <a:ln w="9525">
            <a:solidFill>
              <a:srgbClr val="CBC7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0168" y="1645920"/>
            <a:ext cx="5181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METODE PENGUJIAN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70168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81648" y="2011680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Spider   </a:t>
            </a:r>
            <a:pPr indent="0" marL="0">
              <a:buNone/>
            </a:pPr>
            <a:r>
              <a:rPr lang="en-US" sz="12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Pemetaan struktur URL otomatis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70168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81648" y="2578608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 Spider   </a:t>
            </a:r>
            <a:pPr indent="0" marL="0">
              <a:buNone/>
            </a:pPr>
            <a:r>
              <a:rPr lang="en-US" sz="12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Crawling halaman berbasis JavaScript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70168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81648" y="3145536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Scan   </a:t>
            </a:r>
            <a:pPr indent="0" marL="0">
              <a:buNone/>
            </a:pPr>
            <a:r>
              <a:rPr lang="en-US" sz="12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traffic tanpa payload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370168" y="37124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81648" y="3712464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Scan   </a:t>
            </a:r>
            <a:pPr indent="0" marL="0">
              <a:buNone/>
            </a:pPr>
            <a:r>
              <a:rPr lang="en-US" sz="12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Injeksi payload serangan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70168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C3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81648" y="4279392"/>
            <a:ext cx="476996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Manual   </a:t>
            </a:r>
            <a:pPr indent="0" marL="0">
              <a:buNone/>
            </a:pPr>
            <a:r>
              <a:rPr lang="en-US" sz="12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IDOR, SSTI, SSRF (Tugas E)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BC7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DAST OWASP ZAP — SnipVault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TEMUAN — SCAN OTOMATIS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Daftar Alert OWASP ZAP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10911535" cy="0"/>
          </a:xfrm>
          <a:prstGeom prst="line">
            <a:avLst/>
          </a:prstGeom>
          <a:noFill/>
          <a:ln w="12700">
            <a:solidFill>
              <a:srgbClr val="CBC7BE"/>
            </a:solidFill>
            <a:prstDash val="solid"/>
          </a:ln>
        </p:spPr>
      </p:sp>
      <p:pic>
        <p:nvPicPr>
          <p:cNvPr id="5" name="Image 0" descr="Gam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96133"/>
            <a:ext cx="7680960" cy="39801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896133"/>
            <a:ext cx="7680960" cy="3980134"/>
          </a:xfrm>
          <a:prstGeom prst="rect">
            <a:avLst/>
          </a:prstGeom>
          <a:ln w="9525">
            <a:solidFill>
              <a:srgbClr val="CBC7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949419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5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GBR — Daftar alert hasil Active Scan OWASP ZAP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0" y="1737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RINGKASAN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686800" y="2194560"/>
            <a:ext cx="164592" cy="16459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7"/>
          <p:cNvSpPr/>
          <p:nvPr/>
        </p:nvSpPr>
        <p:spPr>
          <a:xfrm>
            <a:off x="896112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789920" y="21031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686800" y="2651760"/>
            <a:ext cx="164592" cy="16459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0"/>
          <p:cNvSpPr/>
          <p:nvPr/>
        </p:nvSpPr>
        <p:spPr>
          <a:xfrm>
            <a:off x="8961120" y="25603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789920" y="25603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686800" y="3108960"/>
            <a:ext cx="164592" cy="164592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16" name="Text 13"/>
          <p:cNvSpPr/>
          <p:nvPr/>
        </p:nvSpPr>
        <p:spPr>
          <a:xfrm>
            <a:off x="896112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789920" y="30175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8686800" y="3566160"/>
            <a:ext cx="164592" cy="164592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789920" y="3474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8686800" y="4023360"/>
            <a:ext cx="2926080" cy="0"/>
          </a:xfrm>
          <a:prstGeom prst="line">
            <a:avLst/>
          </a:prstGeom>
          <a:noFill/>
          <a:ln w="9525">
            <a:solidFill>
              <a:srgbClr val="CBC7B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686800" y="42062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Konsisten dengan laporan HTML resmi ZAP yang dilampirkan (Lampiran A).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BC7B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DAST OWASP ZAP — SnipVault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TEMUAN HIGH — DIKONFIRMASI ZAP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 (Reflected)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10911535" cy="0"/>
          </a:xfrm>
          <a:prstGeom prst="line">
            <a:avLst/>
          </a:prstGeom>
          <a:noFill/>
          <a:ln w="12700">
            <a:solidFill>
              <a:srgbClr val="CBC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28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208483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/search?q=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9535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382219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&lt;/p&gt;&lt;script&gt;alert(1)&lt;/scRipt&gt;&lt;p&gt;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Dampak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4690872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 q dipantulkan tanpa encoding sehingga tag HTML/JavaScript dieksekusi di browser korban — berpotensi pencurian session, defacement, dan phishing.</a:t>
            </a:r>
            <a:endParaRPr lang="en-US" sz="1300" dirty="0"/>
          </a:p>
        </p:txBody>
      </p:sp>
      <p:pic>
        <p:nvPicPr>
          <p:cNvPr id="13" name="Image 0" descr="Gam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707481"/>
            <a:ext cx="5486400" cy="98583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943600" y="2707481"/>
            <a:ext cx="5486400" cy="985838"/>
          </a:xfrm>
          <a:prstGeom prst="rect">
            <a:avLst/>
          </a:prstGeom>
          <a:ln w="9525">
            <a:solidFill>
              <a:srgbClr val="CBC7B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784759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5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GBR — Input pada /search?q= ter-render sebagai HTML (XSS terkonfirmasi)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BC7B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DAST OWASP ZAP — SnipVault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TEMUAN HIGH — PENGUJIAN MANUAL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SSTI &amp; IDOR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10911535" cy="0"/>
          </a:xfrm>
          <a:prstGeom prst="line">
            <a:avLst/>
          </a:prstGeom>
          <a:noFill/>
          <a:ln w="12700">
            <a:solidFill>
              <a:srgbClr val="CBC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Template Injection — /preview</a:t>
            </a:r>
            <a:endParaRPr lang="en-US" sz="1400" dirty="0"/>
          </a:p>
        </p:txBody>
      </p:sp>
      <p:pic>
        <p:nvPicPr>
          <p:cNvPr id="6" name="Image 0" descr="Gam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72439"/>
            <a:ext cx="5181448" cy="85008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272439"/>
            <a:ext cx="5181448" cy="850081"/>
          </a:xfrm>
          <a:prstGeom prst="rect">
            <a:avLst/>
          </a:prstGeom>
          <a:ln w="9525">
            <a:solidFill>
              <a:srgbClr val="CBC7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840480"/>
            <a:ext cx="518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&lt;%= 7*7 %&gt; dievaluasi server menjadi 49 — berpotensi Remote Code Execution.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370168" y="1600200"/>
            <a:ext cx="5181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/ Broken Access Control — /note/{id}</a:t>
            </a:r>
            <a:endParaRPr lang="en-US" sz="1400" dirty="0"/>
          </a:p>
        </p:txBody>
      </p:sp>
      <p:pic>
        <p:nvPicPr>
          <p:cNvPr id="10" name="Image 1" descr="Gamb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168" y="2116479"/>
            <a:ext cx="5181448" cy="161920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70168" y="2116479"/>
            <a:ext cx="5181448" cy="1619202"/>
          </a:xfrm>
          <a:prstGeom prst="rect">
            <a:avLst/>
          </a:prstGeom>
          <a:ln w="9525">
            <a:solidFill>
              <a:srgbClr val="CBC7B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70168" y="4114800"/>
            <a:ext cx="51814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Mengganti id membuka private note milik pengguna lain; note admin membocorkan kredensial DB &amp; AWS key.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BC7B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DAST OWASP ZAP — SnipVault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TEMUAN HIGH — PENGUJIAN MANUAL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Sensitive Data Exposure &amp; SSRF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10911535" cy="0"/>
          </a:xfrm>
          <a:prstGeom prst="line">
            <a:avLst/>
          </a:prstGeom>
          <a:noFill/>
          <a:ln w="12700">
            <a:solidFill>
              <a:srgbClr val="CBC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Exposure — GET /api/users</a:t>
            </a:r>
            <a:endParaRPr lang="en-US" sz="1400" dirty="0"/>
          </a:p>
        </p:txBody>
      </p:sp>
      <p:pic>
        <p:nvPicPr>
          <p:cNvPr id="6" name="Image 0" descr="Gam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0568" y="1965960"/>
            <a:ext cx="8290560" cy="1554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950568" y="1965960"/>
            <a:ext cx="8290560" cy="1554480"/>
          </a:xfrm>
          <a:prstGeom prst="rect">
            <a:avLst/>
          </a:prstGeom>
          <a:ln w="9525">
            <a:solidFill>
              <a:srgbClr val="CBC7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3593592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5B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GBR — Endpoint publik membocorkan hash password &amp; api_key seluruh pengguna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160520"/>
            <a:ext cx="10911535" cy="1737360"/>
          </a:xfrm>
          <a:prstGeom prst="rect">
            <a:avLst/>
          </a:prstGeom>
          <a:solidFill>
            <a:srgbClr val="F1EFEA"/>
          </a:solidFill>
          <a:ln w="12700">
            <a:solidFill>
              <a:srgbClr val="CBC7B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343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— Server-Side Request Forgery  ·  GET /fetch?url=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470916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Link Preview memfetch URL arbitrer di sisi server tanpa validasi. Saat diisi alamat internal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http://localhost/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atau endpoint metadata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http://169.254.169.254/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server tetap memprosesnya, membuka jalan pivot ke jaringan internal.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BC7B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DAST OWASP ZAP — SnipVault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REKOMENDASI REMEDIASI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Prioritas High &amp; Medium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10911535" cy="0"/>
          </a:xfrm>
          <a:prstGeom prst="line">
            <a:avLst/>
          </a:prstGeom>
          <a:noFill/>
          <a:ln w="12700">
            <a:solidFill>
              <a:srgbClr val="CBC7BE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670255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KERENTANAN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SEV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4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REMEDIASI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4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Cross-Site Scripting (XSS)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encoding kontekstual (HTML-escape) + Content-Security-Policy ketat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Jangan render input sebagai template; pisahkan template dari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IDOR / Broken Access Control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 check kepemilikan objek pada setiap 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Data Exposure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Autentikasi endpoint; jangan kembalikan field sensitif; rotasi kredensial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SSRF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Allow-list domain; blokir IP privat/loopback/link-local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&amp; Cookie (Medium)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Medium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Anti-CSRF token, CSP, X-Frame-Options, nosniff, Secure/HttpOnly/SameSite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C7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BC7B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DAST OWASP ZAP — SnipVault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34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KESIMPULAN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Intisari &amp; Pembelajaran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10911535" cy="0"/>
          </a:xfrm>
          <a:prstGeom prst="line">
            <a:avLst/>
          </a:prstGeom>
          <a:noFill/>
          <a:ln w="12700">
            <a:solidFill>
              <a:srgbClr val="CBC7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3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801368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otomatis menemukan 18 jenis alert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21671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High (Reflected XSS), 5 Medium, 6 Low, 6 Informational.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862072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3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Pengujian manual melengkapi scanner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2461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Menemukan 4 temuan High tambahan: SSTI, IDOR, Sensitive Data Exposure, dan SSRF.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3941064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3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39593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DAST otomatis &amp; manual saling melengkapi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432511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Scan efektif untuk parameter GET; manual diperlukan untuk endpoint POST &amp; logika bisnis.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02005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C34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503834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Akar masalah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5404104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Kurangnya validasi input, kontrol akses, dan security header dasar.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CBC7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 ·  DAST OWASP ZAP — SnipVault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722815" y="64556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5B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3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CC48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CC4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TERIMA KASIH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Laporan DAST — SnipVault P6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41248" y="3383280"/>
            <a:ext cx="5486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611880"/>
            <a:ext cx="10789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 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github.com/FirmansyahDzakwanArifien/DevSecOPS  ·  branch praktikum/dast-p6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C9D6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HTML ZAP  </a:t>
            </a:r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Kelompok-6_DAST_P6/ZAP_DAST_Report_SnipVault_P6.html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6 · Teknik Informatika · STT Terpadu Nurul Fikri · DevSecOps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DAST OWASP ZAP — SnipVault</dc:title>
  <dc:subject>PptxGenJS Presentation</dc:subject>
  <dc:creator>Kelompok 6 — DevSecOps</dc:creator>
  <cp:lastModifiedBy>Kelompok 6 — DevSecOps</cp:lastModifiedBy>
  <cp:revision>1</cp:revision>
  <dcterms:created xsi:type="dcterms:W3CDTF">2026-10-21T09:35:48Z</dcterms:created>
  <dcterms:modified xsi:type="dcterms:W3CDTF">2026-10-21T09:35:48Z</dcterms:modified>
</cp:coreProperties>
</file>