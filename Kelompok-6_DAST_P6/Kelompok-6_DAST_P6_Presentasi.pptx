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3" name="Shape 1"/>
          <p:cNvSpPr/>
          <p:nvPr/>
        </p:nvSpPr>
        <p:spPr>
          <a:xfrm>
            <a:off x="10378440" y="548640"/>
            <a:ext cx="1234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</p:spPr>
      </p:sp>
      <p:pic>
        <p:nvPicPr>
          <p:cNvPr id="4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667512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554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PRAKTIKUM  ·  DEVSECOPS PERTEMUAN 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86384" y="192024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Dynamic Application</a:t>
            </a:r>
            <a:endParaRPr lang="en-US" sz="4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Security Testing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7E6EA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Pengujian keamanan aplikasi SnipVault menggunakan OWASP ZAP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41248" y="4160520"/>
            <a:ext cx="2011680" cy="36576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43434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vulnlab.cyphera.my.id</a:t>
            </a:r>
            <a:pPr indent="0" marL="0">
              <a:buNone/>
            </a:pPr>
            <a:r>
              <a:rPr lang="en-US" sz="1200" dirty="0">
                <a:solidFill>
                  <a:srgbClr val="9FBA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Tool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OWASP ZAP 2.17.0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4983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5257800"/>
            <a:ext cx="5394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AF1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Firmansyah Dzakwan Arifien — 0110223282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AF1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Azzam Fikri — 0110225110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AF1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Dhiya Nailah Rizqya — 0110225095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AF1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Ghifana Adzkia Ahmad — 0110225044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309360" y="525780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AF1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Rizky Putri — 0110225064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AF1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Muhammad Fathir Lubis — 0110225005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AF1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Muhammad Bintang Siregar — 0110225058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22960" y="644652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9B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Teknik Informatika · STT Terpadu Nurul Fikri · 19 Oktober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RINGKASAN EKSEKUTIF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Hasil Scan Otomatis OWASP ZAP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83080"/>
            <a:ext cx="2453564" cy="16002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2453564" cy="109728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57400"/>
            <a:ext cx="24535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1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777240" y="2935224"/>
            <a:ext cx="24535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05124" y="1783080"/>
            <a:ext cx="2453564" cy="16002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5124" y="1783080"/>
            <a:ext cx="2453564" cy="109728"/>
          </a:xfrm>
          <a:prstGeom prst="rect">
            <a:avLst/>
          </a:prstGeom>
          <a:solidFill>
            <a:srgbClr val="C9792B"/>
          </a:solidFill>
          <a:ln/>
        </p:spPr>
      </p:sp>
      <p:sp>
        <p:nvSpPr>
          <p:cNvPr id="12" name="Text 10"/>
          <p:cNvSpPr/>
          <p:nvPr/>
        </p:nvSpPr>
        <p:spPr>
          <a:xfrm>
            <a:off x="3505124" y="2057400"/>
            <a:ext cx="24535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5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3505124" y="2935224"/>
            <a:ext cx="24535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1783080"/>
            <a:ext cx="2453564" cy="16002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1783080"/>
            <a:ext cx="2453564" cy="10972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16" name="Text 14"/>
          <p:cNvSpPr/>
          <p:nvPr/>
        </p:nvSpPr>
        <p:spPr>
          <a:xfrm>
            <a:off x="6233008" y="2057400"/>
            <a:ext cx="24535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6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6233008" y="2935224"/>
            <a:ext cx="24535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0891" y="1783080"/>
            <a:ext cx="2453564" cy="16002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0891" y="1783080"/>
            <a:ext cx="2453564" cy="109728"/>
          </a:xfrm>
          <a:prstGeom prst="rect">
            <a:avLst/>
          </a:prstGeom>
          <a:solidFill>
            <a:srgbClr val="356B86"/>
          </a:solidFill>
          <a:ln/>
        </p:spPr>
      </p:sp>
      <p:sp>
        <p:nvSpPr>
          <p:cNvPr id="20" name="Text 18"/>
          <p:cNvSpPr/>
          <p:nvPr/>
        </p:nvSpPr>
        <p:spPr>
          <a:xfrm>
            <a:off x="8960891" y="2057400"/>
            <a:ext cx="245356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6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8960891" y="2935224"/>
            <a:ext cx="24535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374904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Scanner otomatis OWASP ZAP mengkonfirmasi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23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temuan High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Cross-Site Scripting (Reflected) pada parameter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C1B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di /search — selain temuan Medium dan Low terkait konfigurasi header keamanan.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77240" y="4617720"/>
            <a:ext cx="10637215" cy="1325880"/>
          </a:xfrm>
          <a:prstGeom prst="roundRect">
            <a:avLst>
              <a:gd name="adj" fmla="val 2759"/>
            </a:avLst>
          </a:prstGeom>
          <a:solidFill>
            <a:srgbClr val="EFE9DC"/>
          </a:solidFill>
          <a:ln/>
        </p:spPr>
      </p:sp>
      <p:sp>
        <p:nvSpPr>
          <p:cNvPr id="24" name="Shape 22"/>
          <p:cNvSpPr/>
          <p:nvPr/>
        </p:nvSpPr>
        <p:spPr>
          <a:xfrm>
            <a:off x="777240" y="4617720"/>
            <a:ext cx="73152" cy="1325880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25" name="Text 23"/>
          <p:cNvSpPr/>
          <p:nvPr/>
        </p:nvSpPr>
        <p:spPr>
          <a:xfrm>
            <a:off x="1097280" y="4773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3A4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CATATAN METODOLOGIS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97280" y="5047488"/>
            <a:ext cx="99971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DAST otomatis tidak menangkap kerentanan pada endpoint POST dan yang bergantung pada logika aplikasi. Pengujian manual terarah (Tugas E) menemukan empat temuan High tambahan: SSTI, IDOR, Sensitive Data Exposure, dan SSRF.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 TARGET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Aplikasi SnipVault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00253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berbagi code snippet &amp; catatan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56946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vulnlab.cyphera.my.id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355848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TEKNOLOGI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357530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· Express · EJS (Vercel)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4142232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 DAST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77240" y="436168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OWASP ZAP 2.17.0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492861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TANGGAL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77240" y="514807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Senin, 19 Oktober 2026</a:t>
            </a:r>
            <a:endParaRPr lang="en-US" sz="1400" dirty="0"/>
          </a:p>
        </p:txBody>
      </p:sp>
      <p:pic>
        <p:nvPicPr>
          <p:cNvPr id="16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2502284"/>
            <a:ext cx="5699455" cy="249351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715000" y="2502284"/>
            <a:ext cx="5699455" cy="2493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15000" y="5087236"/>
            <a:ext cx="5699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75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GBR 1 — Halaman utama aplikasi target SnipVault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 TARGET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Tampilan &amp; Fitur Aplikasi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pic>
        <p:nvPicPr>
          <p:cNvPr id="6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86670"/>
            <a:ext cx="3301898" cy="144458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2386670"/>
            <a:ext cx="3301898" cy="1444581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40978"/>
            <a:ext cx="3301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75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GBR 2 — Halaman login</a:t>
            </a:r>
            <a:endParaRPr lang="en-US" sz="1000" dirty="0"/>
          </a:p>
        </p:txBody>
      </p:sp>
      <p:pic>
        <p:nvPicPr>
          <p:cNvPr id="9" name="Image 1" descr="Gam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898" y="2347976"/>
            <a:ext cx="3301898" cy="1521969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44898" y="2347976"/>
            <a:ext cx="3301898" cy="1521969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44898" y="3979672"/>
            <a:ext cx="3301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75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GBR 3 — Halaman registrasi</a:t>
            </a:r>
            <a:endParaRPr lang="en-US" sz="1000" dirty="0"/>
          </a:p>
        </p:txBody>
      </p:sp>
      <p:pic>
        <p:nvPicPr>
          <p:cNvPr id="12" name="Image 2" descr="Gamb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557" y="2347976"/>
            <a:ext cx="3301898" cy="1521969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112557" y="2347976"/>
            <a:ext cx="3301898" cy="1521969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112557" y="3979672"/>
            <a:ext cx="3301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75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GBR 4 — /tools: Link &amp; Note Preview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777240" y="5120640"/>
            <a:ext cx="106372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Permukaan serangan utama: /login &amp; /register (SQLi, CSRF), /search (Reflected XSS), /tools → Link Preview (SSRF) &amp; Note Preview (SSTI), /note/{id} (IDOR), serta /api/users (Sensitive Data Exposure).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17" name="Text 12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METODOLOGI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Pendekatan Pengujian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56232"/>
            <a:ext cx="822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9933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965960" y="1837944"/>
            <a:ext cx="38404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Traditional Spider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97880" y="1837944"/>
            <a:ext cx="5333695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Pemetaan struktur URL aplikasi secara otomatis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697480"/>
            <a:ext cx="822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9933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965960" y="2679192"/>
            <a:ext cx="38404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AJAX Spider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97880" y="2679192"/>
            <a:ext cx="5333695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Crawling halaman yang dirender JavaScript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538728"/>
            <a:ext cx="822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9933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965960" y="3520440"/>
            <a:ext cx="38404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Passive Scan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97880" y="3520440"/>
            <a:ext cx="5333695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Analisis traffic HTTP tanpa mengirim payload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4306824"/>
            <a:ext cx="10637215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379976"/>
            <a:ext cx="822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9933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04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965960" y="4361688"/>
            <a:ext cx="38404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Active Scan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897880" y="4361688"/>
            <a:ext cx="5333695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Injeksi payload serangan untuk uji kerentanan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" y="5148072"/>
            <a:ext cx="10637215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5221224"/>
            <a:ext cx="822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9933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05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965960" y="5202936"/>
            <a:ext cx="38404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Pengujian Manual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897880" y="5202936"/>
            <a:ext cx="5333695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IDOR, SSTI, SSRF — verifikasi logika bisnis (Tugas E)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TEMUAN — SCAN OTOMATIS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Daftar Alert OWASP ZAP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pic>
        <p:nvPicPr>
          <p:cNvPr id="6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19824"/>
            <a:ext cx="7589520" cy="393275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1919824"/>
            <a:ext cx="7589520" cy="3932751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5925728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75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GBR 5 — Daftar alert hasil Active Scan OWASP ZAP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73252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RINGKASAN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732520" y="2185416"/>
            <a:ext cx="182880" cy="182880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11" name="Text 8"/>
          <p:cNvSpPr/>
          <p:nvPr/>
        </p:nvSpPr>
        <p:spPr>
          <a:xfrm>
            <a:off x="9025128" y="211226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744200" y="2093976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732520" y="2660904"/>
            <a:ext cx="182880" cy="182880"/>
          </a:xfrm>
          <a:prstGeom prst="rect">
            <a:avLst/>
          </a:prstGeom>
          <a:solidFill>
            <a:srgbClr val="C9792B"/>
          </a:solidFill>
          <a:ln/>
        </p:spPr>
      </p:sp>
      <p:sp>
        <p:nvSpPr>
          <p:cNvPr id="14" name="Text 11"/>
          <p:cNvSpPr/>
          <p:nvPr/>
        </p:nvSpPr>
        <p:spPr>
          <a:xfrm>
            <a:off x="9025128" y="258775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744200" y="2569464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5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732520" y="3136392"/>
            <a:ext cx="182880" cy="182880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17" name="Text 14"/>
          <p:cNvSpPr/>
          <p:nvPr/>
        </p:nvSpPr>
        <p:spPr>
          <a:xfrm>
            <a:off x="9025128" y="30632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744200" y="3044952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732520" y="3611880"/>
            <a:ext cx="182880" cy="182880"/>
          </a:xfrm>
          <a:prstGeom prst="rect">
            <a:avLst/>
          </a:prstGeom>
          <a:solidFill>
            <a:srgbClr val="356B86"/>
          </a:solidFill>
          <a:ln/>
        </p:spPr>
      </p:sp>
      <p:sp>
        <p:nvSpPr>
          <p:cNvPr id="20" name="Text 17"/>
          <p:cNvSpPr/>
          <p:nvPr/>
        </p:nvSpPr>
        <p:spPr>
          <a:xfrm>
            <a:off x="9025128" y="353872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Informational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744200" y="35204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732520" y="4114800"/>
            <a:ext cx="2880360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23" name="Text 20"/>
          <p:cNvSpPr/>
          <p:nvPr/>
        </p:nvSpPr>
        <p:spPr>
          <a:xfrm>
            <a:off x="8732520" y="42519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Konsisten dengan laporan HTML resmi ZAP yang dilampirkan pada dokumen laporan (Lampiran A).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25" name="Text 22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TEMUAN — SCAN OTOMATIS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Laporan Resmi OWASP ZAP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pic>
        <p:nvPicPr>
          <p:cNvPr id="6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37011"/>
            <a:ext cx="5090008" cy="245245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1837011"/>
            <a:ext cx="5090008" cy="245245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80909"/>
            <a:ext cx="5090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75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GBR 6 — Ringkasan laporan HTML ZAP (High 1 · Med 5 · Low 6 · Info 6)</a:t>
            </a:r>
            <a:endParaRPr lang="en-US" sz="1000" dirty="0"/>
          </a:p>
        </p:txBody>
      </p:sp>
      <p:pic>
        <p:nvPicPr>
          <p:cNvPr id="9" name="Image 1" descr="Gam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709761"/>
            <a:ext cx="5090008" cy="2706959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24448" y="1709761"/>
            <a:ext cx="5090008" cy="2706959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324448" y="4508159"/>
            <a:ext cx="5090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75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GBR 7 — Detail alert High: Cross-Site Scripting (Reflected)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77240" y="557784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diekspor dari OWASP ZAP (Report → Generate Report, Traditional HTML Report) dan dilampirkan sebagai file HTML pada repositori kelompok.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14" name="Text 10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TEMUAN HIGH — DIKONFIRMASI ZAP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Cross-Site Scripting (Reflected)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/search?q=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70048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PARAMETER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77240" y="290779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B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511296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PAYLOAD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3749040"/>
            <a:ext cx="4663440" cy="502920"/>
          </a:xfrm>
          <a:prstGeom prst="roundRect">
            <a:avLst>
              <a:gd name="adj" fmla="val 9091"/>
            </a:avLst>
          </a:prstGeom>
          <a:solidFill>
            <a:srgbClr val="0C2A30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3895344"/>
            <a:ext cx="4261104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D9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&lt;/p&gt;&lt;script&gt;alert(1)&lt;/scRipt&gt;&lt;p&gt;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480560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DAMPAK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77240" y="4718304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 parameter q dipantulkan tanpa encoding sehingga tag HTML/JavaScript dieksekusi di browser korban — berpotensi pencurian session, defacement, dan phishing.</a:t>
            </a:r>
            <a:endParaRPr lang="en-US" sz="1300" dirty="0"/>
          </a:p>
        </p:txBody>
      </p:sp>
      <p:pic>
        <p:nvPicPr>
          <p:cNvPr id="15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887650"/>
            <a:ext cx="5516575" cy="9912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897880" y="2887650"/>
            <a:ext cx="5516575" cy="9912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97880" y="3988638"/>
            <a:ext cx="5516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75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GBR 8 — Input pada /search?q= ter-render sebagai HTML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TEMUAN HIGH — PENGUJIAN MANUAL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SSTI &amp; IDOR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45920"/>
            <a:ext cx="504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Server-Side Template Injection — /preview</a:t>
            </a:r>
            <a:endParaRPr lang="en-US" sz="1500" dirty="0"/>
          </a:p>
        </p:txBody>
      </p:sp>
      <p:pic>
        <p:nvPicPr>
          <p:cNvPr id="7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2251"/>
            <a:ext cx="5044288" cy="8275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7240" y="2192251"/>
            <a:ext cx="5044288" cy="82757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611880"/>
            <a:ext cx="50442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Payload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&lt;%= 7*7 %&gt;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dievaluasi server menjadi 49 — berpotensi Remote Code Execution.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370168" y="1645920"/>
            <a:ext cx="504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IDOR / Broken Access Control — /note/{id}</a:t>
            </a:r>
            <a:endParaRPr lang="en-US" sz="1500" dirty="0"/>
          </a:p>
        </p:txBody>
      </p:sp>
      <p:pic>
        <p:nvPicPr>
          <p:cNvPr id="11" name="Image 1" descr="Gam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168" y="2183630"/>
            <a:ext cx="5044288" cy="15763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70168" y="2183630"/>
            <a:ext cx="5044288" cy="157634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370168" y="4160520"/>
            <a:ext cx="504428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Mengganti id membuka private note milik pengguna lain; note admin membocorkan kredensial DB &amp; AWS key.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15" name="Text 11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TEMUAN HIGH — PENGUJIAN MANUAL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Sensitive Data Exposure &amp; SSRF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45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Sensitive Data Exposure — GET /api/users</a:t>
            </a:r>
            <a:endParaRPr lang="en-US" sz="1500" dirty="0"/>
          </a:p>
        </p:txBody>
      </p:sp>
      <p:pic>
        <p:nvPicPr>
          <p:cNvPr id="7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408" y="1993392"/>
            <a:ext cx="7802880" cy="1463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408" y="1993392"/>
            <a:ext cx="7802880" cy="146304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529584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75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GBR 9 — Endpoint publik membocorkan hash password &amp; api_key seluruh pengguna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77240" y="4114800"/>
            <a:ext cx="10637215" cy="1783080"/>
          </a:xfrm>
          <a:prstGeom prst="roundRect">
            <a:avLst>
              <a:gd name="adj" fmla="val 2051"/>
            </a:avLst>
          </a:prstGeom>
          <a:solidFill>
            <a:srgbClr val="EFE9DC"/>
          </a:solidFill>
          <a:ln/>
        </p:spPr>
      </p:sp>
      <p:sp>
        <p:nvSpPr>
          <p:cNvPr id="11" name="Shape 8"/>
          <p:cNvSpPr/>
          <p:nvPr/>
        </p:nvSpPr>
        <p:spPr>
          <a:xfrm>
            <a:off x="777240" y="4114800"/>
            <a:ext cx="73152" cy="1783080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12" name="Text 9"/>
          <p:cNvSpPr/>
          <p:nvPr/>
        </p:nvSpPr>
        <p:spPr>
          <a:xfrm>
            <a:off x="1097280" y="4279392"/>
            <a:ext cx="10058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SSRF — Server-Side Request Forgery  ·  GET /fetch?url=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97280" y="4645152"/>
            <a:ext cx="999713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Fitur Link Preview memfetch URL arbitrer di sisi server tanpa validasi. Saat diisi alamat internal —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B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http://localhost/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atau metadata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B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http://169.254.169.254/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server tetap memprosesnya, membuka jalan pivot ke jaringan internal.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INTEGRASI DEVSECOPS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DAST Otomatis via GitHub Actions + OWASP ZAP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83080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84248"/>
            <a:ext cx="2487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/ SCHEDULE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350008"/>
            <a:ext cx="2487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Trigger pipeline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64408" y="1947672"/>
            <a:ext cx="2295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93922" y="1783080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922" y="1984248"/>
            <a:ext cx="2487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93922" y="2350008"/>
            <a:ext cx="2487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Runner ubuntu-latest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81090" y="1947672"/>
            <a:ext cx="2295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210605" y="1783080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0E3A43"/>
          </a:solidFill>
          <a:ln w="12700">
            <a:solidFill>
              <a:srgbClr val="0E3A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0605" y="1984248"/>
            <a:ext cx="2487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OWASP ZAP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0605" y="2350008"/>
            <a:ext cx="2487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scan ke target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697773" y="1947672"/>
            <a:ext cx="2295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927287" y="1783080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27287" y="1984248"/>
            <a:ext cx="2487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C1B1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927287" y="2350008"/>
            <a:ext cx="2487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Artefak HTML · MD · JSON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" y="32004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3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.github/workflows/dast-zap.yml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3474720"/>
            <a:ext cx="10637215" cy="2423160"/>
          </a:xfrm>
          <a:prstGeom prst="roundRect">
            <a:avLst>
              <a:gd name="adj" fmla="val 1887"/>
            </a:avLst>
          </a:prstGeom>
          <a:solidFill>
            <a:srgbClr val="0C2A30"/>
          </a:solidFill>
          <a:ln/>
        </p:spPr>
      </p:sp>
      <p:sp>
        <p:nvSpPr>
          <p:cNvPr id="23" name="Text 21"/>
          <p:cNvSpPr/>
          <p:nvPr/>
        </p:nvSpPr>
        <p:spPr>
          <a:xfrm>
            <a:off x="978408" y="3621024"/>
            <a:ext cx="10234879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9AD0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DAST - OWASP ZAP Baseline Scan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FB4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7E6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workflow_dispatch: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7E6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schedule: [ { cron: '0 2 * * 1' } ]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FB4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7E6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zap_baseline: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7E6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FB4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7E6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zaproxy/action-baseline@v0.12.0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7E6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D9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target: 'https://vulnlab.cyphera.my.id'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7E6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fail_action: false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REKOMENDASI REMEDIASI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13232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B19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Prioritas High &amp; Medium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426464"/>
            <a:ext cx="822960" cy="41148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1438351"/>
            <a:ext cx="9814255" cy="10973"/>
          </a:xfrm>
          <a:prstGeom prst="rect">
            <a:avLst/>
          </a:prstGeom>
          <a:solidFill>
            <a:srgbClr val="D8D2C6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37360"/>
          <a:ext cx="106372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05840"/>
                <a:gridCol w="6430975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spc="100" kern="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KERENTANAN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spc="100" kern="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SEV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spc="100" kern="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REMEDIASI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4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B19"/>
                          </a:solidFill>
                          <a:latin typeface="Georgia Pro" pitchFamily="34" charset="0"/>
                          <a:ea typeface="Georgia Pro" pitchFamily="34" charset="-122"/>
                          <a:cs typeface="Georgia Pro" pitchFamily="34" charset="-120"/>
                        </a:rPr>
                        <a:t>Cross-Site Scripting (XSS)</a:t>
                      </a:r>
                      <a:endParaRPr lang="en-US" sz="1250" dirty="0">
                        <a:latin typeface="Georgia Pro" charset="0"/>
                        <a:ea typeface="Georgia Pro" charset="0"/>
                        <a:cs typeface="Georgia Pro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B1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 encoding kontekstual (HTML-escape) + Content-Security-Policy ketat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B19"/>
                          </a:solidFill>
                          <a:latin typeface="Georgia Pro" pitchFamily="34" charset="0"/>
                          <a:ea typeface="Georgia Pro" pitchFamily="34" charset="-122"/>
                          <a:cs typeface="Georgia Pro" pitchFamily="34" charset="-120"/>
                        </a:rPr>
                        <a:t>SSTI</a:t>
                      </a:r>
                      <a:endParaRPr lang="en-US" sz="1250" dirty="0">
                        <a:latin typeface="Georgia Pro" charset="0"/>
                        <a:ea typeface="Georgia Pro" charset="0"/>
                        <a:cs typeface="Georgia Pro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B1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Jangan render input sebagai template; pisahkan template dari data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B19"/>
                          </a:solidFill>
                          <a:latin typeface="Georgia Pro" pitchFamily="34" charset="0"/>
                          <a:ea typeface="Georgia Pro" pitchFamily="34" charset="-122"/>
                          <a:cs typeface="Georgia Pro" pitchFamily="34" charset="-120"/>
                        </a:rPr>
                        <a:t>IDOR / Broken Access Control</a:t>
                      </a:r>
                      <a:endParaRPr lang="en-US" sz="1250" dirty="0">
                        <a:latin typeface="Georgia Pro" charset="0"/>
                        <a:ea typeface="Georgia Pro" charset="0"/>
                        <a:cs typeface="Georgia Pro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B1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Authorization check kepemilikan objek pada setiap request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B19"/>
                          </a:solidFill>
                          <a:latin typeface="Georgia Pro" pitchFamily="34" charset="0"/>
                          <a:ea typeface="Georgia Pro" pitchFamily="34" charset="-122"/>
                          <a:cs typeface="Georgia Pro" pitchFamily="34" charset="-120"/>
                        </a:rPr>
                        <a:t>Sensitive Data Exposure</a:t>
                      </a:r>
                      <a:endParaRPr lang="en-US" sz="1250" dirty="0">
                        <a:latin typeface="Georgia Pro" charset="0"/>
                        <a:ea typeface="Georgia Pro" charset="0"/>
                        <a:cs typeface="Georgia Pro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B1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Autentikasi endpoint; jangan kembalikan field sensitif; rotasi kredensial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B19"/>
                          </a:solidFill>
                          <a:latin typeface="Georgia Pro" pitchFamily="34" charset="0"/>
                          <a:ea typeface="Georgia Pro" pitchFamily="34" charset="-122"/>
                          <a:cs typeface="Georgia Pro" pitchFamily="34" charset="-120"/>
                        </a:rPr>
                        <a:t>SSRF</a:t>
                      </a:r>
                      <a:endParaRPr lang="en-US" sz="1250" dirty="0">
                        <a:latin typeface="Georgia Pro" charset="0"/>
                        <a:ea typeface="Georgia Pro" charset="0"/>
                        <a:cs typeface="Georgia Pro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B1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Allow-list domain; blokir IP privat/loopback/link-local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B19"/>
                          </a:solidFill>
                          <a:latin typeface="Georgia Pro" pitchFamily="34" charset="0"/>
                          <a:ea typeface="Georgia Pro" pitchFamily="34" charset="-122"/>
                          <a:cs typeface="Georgia Pro" pitchFamily="34" charset="-120"/>
                        </a:rPr>
                        <a:t>Header &amp; Cookie</a:t>
                      </a:r>
                      <a:endParaRPr lang="en-US" sz="1250" dirty="0">
                        <a:latin typeface="Georgia Pro" charset="0"/>
                        <a:ea typeface="Georgia Pro" charset="0"/>
                        <a:cs typeface="Georgia Pro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9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B1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Anti-CSRF token, CSP, X-Frame-Options, nosniff, Secure/HttpOnly/SameSite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6437376"/>
            <a:ext cx="10637215" cy="10973"/>
          </a:xfrm>
          <a:prstGeom prst="rect">
            <a:avLst/>
          </a:prstGeom>
          <a:solidFill>
            <a:srgbClr val="D8D2C6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67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KELOMPOK 6  ·  DAST OWASP ZAP — SNIPVAULT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93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KESIMPULAN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86384" y="96012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Intisari &amp; Pembelajaran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914400" cy="36576"/>
          </a:xfrm>
          <a:prstGeom prst="rect">
            <a:avLst/>
          </a:prstGeom>
          <a:solidFill>
            <a:srgbClr val="B9933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024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933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00200" y="1938528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Scan otomatis menemukan 18 jenis alert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00200" y="228600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8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High (Reflected XSS), 5 Medium, 6 Low, 6 Informational.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933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600200" y="2807208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Pengujian manual melengkapi scanner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8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Empat temuan High tambahan: SSTI, IDOR, Sensitive Data Exposure, SSRF.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657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933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00200" y="3675888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Otomatis &amp; manual saling melengkapi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600200" y="40233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8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Scan untuk parameter GET; manual untuk endpoint POST &amp; logika bisnis.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52628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933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600200" y="4544568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 Pro" pitchFamily="34" charset="0"/>
                <a:ea typeface="Georgia Pro" pitchFamily="34" charset="-122"/>
                <a:cs typeface="Georgia Pro" pitchFamily="34" charset="-120"/>
              </a:rPr>
              <a:t>Integrasi CI/CD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600200" y="48920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8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OWASP ZAP dijalankan otomatis lewat GitHub Actions sebagai gerbang DevSecOps.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515600" cy="10973"/>
          </a:xfrm>
          <a:prstGeom prst="rect">
            <a:avLst/>
          </a:prstGeom>
          <a:solidFill>
            <a:srgbClr val="2C5560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7150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FBA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  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github.com/FirmansyahDzakwanArifien/DevSecOPS · praktikum/dast-p6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FBAC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HTML  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Kelompok-6_DAST_P6/ZAP_DAST_Report_SnipVault_P6.html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Laporan DAST OWASP ZAP — SnipVault</dc:title>
  <dc:subject>PptxGenJS Presentation</dc:subject>
  <dc:creator>Kelompok 6</dc:creator>
  <cp:lastModifiedBy>Kelompok 6</cp:lastModifiedBy>
  <cp:revision>1</cp:revision>
  <dcterms:created xsi:type="dcterms:W3CDTF">2026-10-21T09:55:24Z</dcterms:created>
  <dcterms:modified xsi:type="dcterms:W3CDTF">2026-10-21T09:55:24Z</dcterms:modified>
</cp:coreProperties>
</file>