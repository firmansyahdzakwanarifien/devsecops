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Font2" Type="http://schemas.openxmlformats.org/officeDocument/2006/relationships/font" Target="fonts/font1.fntdata"/><Relationship Id="rIdFont3" Type="http://schemas.openxmlformats.org/officeDocument/2006/relationships/font" Target="fonts/font2.fntdata"/><Relationship Id="rIdFont4" Type="http://schemas.openxmlformats.org/officeDocument/2006/relationships/font" Target="fonts/font3.fntdata"/><Relationship Id="rIdFont5" Type="http://schemas.openxmlformats.org/officeDocument/2006/relationships/font" Target="fonts/font4.fntdata"/><Relationship Id="rIdFont6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0F2E3B"/>
          </a:solidFill>
          <a:ln/>
        </p:spPr>
      </p:sp>
      <p:sp>
        <p:nvSpPr>
          <p:cNvPr id="3" name="Shape 1"/>
          <p:cNvSpPr/>
          <p:nvPr/>
        </p:nvSpPr>
        <p:spPr>
          <a:xfrm>
            <a:off x="2606040" y="-1188720"/>
            <a:ext cx="2103120" cy="2103120"/>
          </a:xfrm>
          <a:prstGeom prst="ellipse">
            <a:avLst/>
          </a:prstGeom>
          <a:solidFill>
            <a:srgbClr val="15B3A6"/>
          </a:solidFill>
          <a:ln/>
        </p:spPr>
      </p:sp>
      <p:sp>
        <p:nvSpPr>
          <p:cNvPr id="4" name="Shape 2"/>
          <p:cNvSpPr/>
          <p:nvPr/>
        </p:nvSpPr>
        <p:spPr>
          <a:xfrm>
            <a:off x="3154680" y="5669280"/>
            <a:ext cx="1463040" cy="1463040"/>
          </a:xfrm>
          <a:prstGeom prst="ellipse">
            <a:avLst/>
          </a:prstGeom>
          <a:solidFill>
            <a:srgbClr val="0E8F84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5B3A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2860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5B3A6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OWASP ZAP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12064" y="2606040"/>
            <a:ext cx="3840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DAST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D4D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Dynamic Application Security Testing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120640" y="914400"/>
            <a:ext cx="6583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LAPORAN PRAKTIKUM · DEVSECOPS PERTEMUAN 6</a:t>
            </a:r>
            <a:endParaRPr lang="en-US" sz="1100" dirty="0"/>
          </a:p>
        </p:txBody>
      </p:sp>
      <p:pic>
        <p:nvPicPr>
          <p:cNvPr id="10" name="Image 0" descr="Gam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731520"/>
            <a:ext cx="914400" cy="914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102352" y="1371600"/>
            <a:ext cx="6675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300" dirty="0">
                <a:solidFill>
                  <a:srgbClr val="1A1E24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Pengujian Keamanan</a:t>
            </a:r>
            <a:endParaRPr lang="en-US" sz="33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300" dirty="0">
                <a:solidFill>
                  <a:srgbClr val="1A1E24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Aplikasi SnipVault</a:t>
            </a:r>
            <a:endParaRPr lang="en-US" sz="3300" dirty="0"/>
          </a:p>
        </p:txBody>
      </p:sp>
      <p:sp>
        <p:nvSpPr>
          <p:cNvPr id="12" name="Shape 9"/>
          <p:cNvSpPr/>
          <p:nvPr/>
        </p:nvSpPr>
        <p:spPr>
          <a:xfrm>
            <a:off x="5120640" y="3017520"/>
            <a:ext cx="4206240" cy="347472"/>
          </a:xfrm>
          <a:prstGeom prst="roundRect">
            <a:avLst>
              <a:gd name="adj" fmla="val 50000"/>
            </a:avLst>
          </a:prstGeom>
          <a:solidFill>
            <a:srgbClr val="0F2E3B"/>
          </a:solidFill>
          <a:ln/>
        </p:spPr>
      </p:sp>
      <p:sp>
        <p:nvSpPr>
          <p:cNvPr id="13" name="Text 10"/>
          <p:cNvSpPr/>
          <p:nvPr/>
        </p:nvSpPr>
        <p:spPr>
          <a:xfrm>
            <a:off x="5120640" y="3008376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TARGET · VULNLAB.CYPHERA.MY.ID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9464040" y="3017520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15B3A6"/>
          </a:solidFill>
          <a:ln/>
        </p:spPr>
      </p:sp>
      <p:sp>
        <p:nvSpPr>
          <p:cNvPr id="15" name="Text 12"/>
          <p:cNvSpPr/>
          <p:nvPr/>
        </p:nvSpPr>
        <p:spPr>
          <a:xfrm>
            <a:off x="9464040" y="3008376"/>
            <a:ext cx="2148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TOOL · OWASP ZAP 2.17.0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120640" y="37033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KELOMPOK 6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120640" y="4023360"/>
            <a:ext cx="33832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A1E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Firmansyah Dzakwan Arifien — 0110223282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A1E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Azzam Fikri — 0110225110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A1E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Dhiya Nailah Rizqya — 0110225095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A1E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Ghifana Adzkia Ahmad — 0110225044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8686800" y="402336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A1E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Rizky Putri — 0110225064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A1E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Muhammad Fathir Lubis — 0110225005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A1E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Muhammad Bintang Siregar — 0110225058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120640" y="6035040"/>
            <a:ext cx="6583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71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Teknik Informatika · STT Terpadu Nurul Fikri · 19 Oktober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12064"/>
            <a:ext cx="237744" cy="237744"/>
          </a:xfrm>
          <a:prstGeom prst="rect">
            <a:avLst/>
          </a:prstGeom>
          <a:solidFill>
            <a:srgbClr val="15B3A6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" y="493776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RINGKASAN EKSEKUTIF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841248"/>
            <a:ext cx="107286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A1E24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Hasil Scan Otomatis OWASP ZAP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31520" y="1783080"/>
            <a:ext cx="246270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3E8E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87552" y="2039112"/>
            <a:ext cx="640080" cy="274320"/>
          </a:xfrm>
          <a:prstGeom prst="roundRect">
            <a:avLst>
              <a:gd name="adj" fmla="val 50000"/>
            </a:avLst>
          </a:prstGeom>
          <a:solidFill>
            <a:srgbClr val="DB4A4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194560"/>
            <a:ext cx="24627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dirty="0">
                <a:solidFill>
                  <a:srgbClr val="1A1E24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1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731520" y="3026664"/>
            <a:ext cx="24627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6A717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HIGH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86836" y="1783080"/>
            <a:ext cx="246270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3E8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42868" y="2039112"/>
            <a:ext cx="640080" cy="274320"/>
          </a:xfrm>
          <a:prstGeom prst="roundRect">
            <a:avLst>
              <a:gd name="adj" fmla="val 50000"/>
            </a:avLst>
          </a:prstGeom>
          <a:solidFill>
            <a:srgbClr val="EC9A3C"/>
          </a:solidFill>
          <a:ln/>
        </p:spPr>
      </p:sp>
      <p:sp>
        <p:nvSpPr>
          <p:cNvPr id="11" name="Text 9"/>
          <p:cNvSpPr/>
          <p:nvPr/>
        </p:nvSpPr>
        <p:spPr>
          <a:xfrm>
            <a:off x="3486836" y="2194560"/>
            <a:ext cx="24627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dirty="0">
                <a:solidFill>
                  <a:srgbClr val="1A1E24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5</a:t>
            </a:r>
            <a:endParaRPr lang="en-US" sz="5000" dirty="0"/>
          </a:p>
        </p:txBody>
      </p:sp>
      <p:sp>
        <p:nvSpPr>
          <p:cNvPr id="12" name="Text 10"/>
          <p:cNvSpPr/>
          <p:nvPr/>
        </p:nvSpPr>
        <p:spPr>
          <a:xfrm>
            <a:off x="3486836" y="3026664"/>
            <a:ext cx="24627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6A717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MEDIUM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42152" y="1783080"/>
            <a:ext cx="246270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3E8E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98184" y="2039112"/>
            <a:ext cx="640080" cy="274320"/>
          </a:xfrm>
          <a:prstGeom prst="roundRect">
            <a:avLst>
              <a:gd name="adj" fmla="val 50000"/>
            </a:avLst>
          </a:prstGeom>
          <a:solidFill>
            <a:srgbClr val="CDA93C"/>
          </a:solidFill>
          <a:ln/>
        </p:spPr>
      </p:sp>
      <p:sp>
        <p:nvSpPr>
          <p:cNvPr id="15" name="Text 13"/>
          <p:cNvSpPr/>
          <p:nvPr/>
        </p:nvSpPr>
        <p:spPr>
          <a:xfrm>
            <a:off x="6242152" y="2194560"/>
            <a:ext cx="24627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dirty="0">
                <a:solidFill>
                  <a:srgbClr val="1A1E24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6</a:t>
            </a:r>
            <a:endParaRPr lang="en-US" sz="5000" dirty="0"/>
          </a:p>
        </p:txBody>
      </p:sp>
      <p:sp>
        <p:nvSpPr>
          <p:cNvPr id="16" name="Text 14"/>
          <p:cNvSpPr/>
          <p:nvPr/>
        </p:nvSpPr>
        <p:spPr>
          <a:xfrm>
            <a:off x="6242152" y="3026664"/>
            <a:ext cx="24627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6A717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LOW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97467" y="1783080"/>
            <a:ext cx="2462708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3E8E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253499" y="2039112"/>
            <a:ext cx="640080" cy="274320"/>
          </a:xfrm>
          <a:prstGeom prst="roundRect">
            <a:avLst>
              <a:gd name="adj" fmla="val 50000"/>
            </a:avLst>
          </a:prstGeom>
          <a:solidFill>
            <a:srgbClr val="4C8FB8"/>
          </a:solidFill>
          <a:ln/>
        </p:spPr>
      </p:sp>
      <p:sp>
        <p:nvSpPr>
          <p:cNvPr id="19" name="Text 17"/>
          <p:cNvSpPr/>
          <p:nvPr/>
        </p:nvSpPr>
        <p:spPr>
          <a:xfrm>
            <a:off x="8997467" y="2194560"/>
            <a:ext cx="24627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dirty="0">
                <a:solidFill>
                  <a:srgbClr val="1A1E24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6</a:t>
            </a:r>
            <a:endParaRPr lang="en-US" sz="5000" dirty="0"/>
          </a:p>
        </p:txBody>
      </p:sp>
      <p:sp>
        <p:nvSpPr>
          <p:cNvPr id="20" name="Text 18"/>
          <p:cNvSpPr/>
          <p:nvPr/>
        </p:nvSpPr>
        <p:spPr>
          <a:xfrm>
            <a:off x="8997467" y="3026664"/>
            <a:ext cx="24627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6A7177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INFORMATIONAL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A1E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Scanner otomatis OWASP ZAP mengkonfirmasi 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DB4A4A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 temuan High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A1E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— Cross-Site Scripting (Reflected) pada parameter 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A1E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A1E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di /search.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731520" y="4526280"/>
            <a:ext cx="10728655" cy="137160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23" name="Shape 21"/>
          <p:cNvSpPr/>
          <p:nvPr/>
        </p:nvSpPr>
        <p:spPr>
          <a:xfrm>
            <a:off x="731520" y="4526280"/>
            <a:ext cx="91440" cy="1371600"/>
          </a:xfrm>
          <a:prstGeom prst="roundRect">
            <a:avLst>
              <a:gd name="adj" fmla="val 50000"/>
            </a:avLst>
          </a:prstGeom>
          <a:solidFill>
            <a:srgbClr val="15B3A6"/>
          </a:solidFill>
          <a:ln/>
        </p:spPr>
      </p:sp>
      <p:sp>
        <p:nvSpPr>
          <p:cNvPr id="24" name="Text 22"/>
          <p:cNvSpPr/>
          <p:nvPr/>
        </p:nvSpPr>
        <p:spPr>
          <a:xfrm>
            <a:off x="1097280" y="470001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CATATAN METODOLOGIS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097280" y="4974336"/>
            <a:ext cx="99971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A1E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DAST otomatis tidak menangkap kerentanan pada endpoint POST dan yang bergantung pada logika aplikasi. Pengujian manual terarah (Tugas E) menemukan empat temuan High tambahan: SSTI, IDOR, Sensitive Data Exposure, dan SSRF.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A7177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KELOMPOK 6  ·  DAST OWASP ZAP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0545775" y="636422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12064"/>
            <a:ext cx="237744" cy="237744"/>
          </a:xfrm>
          <a:prstGeom prst="rect">
            <a:avLst/>
          </a:prstGeom>
          <a:solidFill>
            <a:srgbClr val="15B3A6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" y="493776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PROFIL TARGET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841248"/>
            <a:ext cx="107286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A1E24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Aplikasi SnipVault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4297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APLIKASI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31520" y="2048256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E2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Platform berbagi code snippet &amp; catatan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31520" y="2542032"/>
            <a:ext cx="4297680" cy="7315"/>
          </a:xfrm>
          <a:prstGeom prst="rect">
            <a:avLst/>
          </a:prstGeom>
          <a:solidFill>
            <a:srgbClr val="E3E8E9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651760"/>
            <a:ext cx="4297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URL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871216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E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vulnlab.cyphera.my.id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3364992"/>
            <a:ext cx="4297680" cy="7315"/>
          </a:xfrm>
          <a:prstGeom prst="rect">
            <a:avLst/>
          </a:prstGeom>
          <a:solidFill>
            <a:srgbClr val="E3E8E9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3474720"/>
            <a:ext cx="4297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TEKNOLOGI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31520" y="3694176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E2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Node.js · Express · EJS (Vercel)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31520" y="4187952"/>
            <a:ext cx="4297680" cy="7315"/>
          </a:xfrm>
          <a:prstGeom prst="rect">
            <a:avLst/>
          </a:prstGeom>
          <a:solidFill>
            <a:srgbClr val="E3E8E9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4297680"/>
            <a:ext cx="4297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TOOL DAST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31520" y="4517136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E2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OWASP ZAP 2.17.0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31520" y="5010912"/>
            <a:ext cx="4297680" cy="7315"/>
          </a:xfrm>
          <a:prstGeom prst="rect">
            <a:avLst/>
          </a:prstGeom>
          <a:solidFill>
            <a:srgbClr val="E3E8E9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5120640"/>
            <a:ext cx="4297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TANGGAL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31520" y="5340096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E2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Senin, 19 Oktober 2026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731520" y="5833872"/>
            <a:ext cx="4297680" cy="7315"/>
          </a:xfrm>
          <a:prstGeom prst="rect">
            <a:avLst/>
          </a:prstGeom>
          <a:solidFill>
            <a:srgbClr val="E3E8E9"/>
          </a:solidFill>
          <a:ln/>
        </p:spPr>
      </p:sp>
      <p:sp>
        <p:nvSpPr>
          <p:cNvPr id="20" name="Shape 18"/>
          <p:cNvSpPr/>
          <p:nvPr/>
        </p:nvSpPr>
        <p:spPr>
          <a:xfrm>
            <a:off x="5431536" y="2387413"/>
            <a:ext cx="6083503" cy="2723255"/>
          </a:xfrm>
          <a:prstGeom prst="roundRect">
            <a:avLst>
              <a:gd name="adj" fmla="val 2015"/>
            </a:avLst>
          </a:prstGeom>
          <a:solidFill>
            <a:srgbClr val="FFFFFF"/>
          </a:solidFill>
          <a:ln w="12700">
            <a:solidFill>
              <a:srgbClr val="E3E8E9"/>
            </a:solidFill>
            <a:prstDash val="solid"/>
          </a:ln>
        </p:spPr>
      </p:sp>
      <p:pic>
        <p:nvPicPr>
          <p:cNvPr id="21" name="Image 0" descr="Gam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2442277"/>
            <a:ext cx="5973775" cy="2613527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5486400" y="5165531"/>
            <a:ext cx="59737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A71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GBR 1 — Halaman utama aplikasi SnipVault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3152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A7177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KELOMPOK 6  ·  DAST OWASP ZAP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10545775" y="636422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12064"/>
            <a:ext cx="237744" cy="237744"/>
          </a:xfrm>
          <a:prstGeom prst="rect">
            <a:avLst/>
          </a:prstGeom>
          <a:solidFill>
            <a:srgbClr val="15B3A6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" y="493776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PROFIL TARGET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841248"/>
            <a:ext cx="107286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A1E24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Tampilan &amp; Fitur Aplikasi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76656" y="2331806"/>
            <a:ext cx="3411626" cy="1554309"/>
          </a:xfrm>
          <a:prstGeom prst="roundRect">
            <a:avLst>
              <a:gd name="adj" fmla="val 3530"/>
            </a:avLst>
          </a:prstGeom>
          <a:solidFill>
            <a:srgbClr val="FFFFFF"/>
          </a:solidFill>
          <a:ln w="12700">
            <a:solidFill>
              <a:srgbClr val="E3E8E9"/>
            </a:solidFill>
            <a:prstDash val="solid"/>
          </a:ln>
        </p:spPr>
      </p:sp>
      <p:pic>
        <p:nvPicPr>
          <p:cNvPr id="6" name="Image 0" descr="Gam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386670"/>
            <a:ext cx="3301898" cy="144458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3959266"/>
            <a:ext cx="3301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A71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GBR 2 — Halaman login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390034" y="2293112"/>
            <a:ext cx="3411626" cy="1631697"/>
          </a:xfrm>
          <a:prstGeom prst="roundRect">
            <a:avLst>
              <a:gd name="adj" fmla="val 3362"/>
            </a:avLst>
          </a:prstGeom>
          <a:solidFill>
            <a:srgbClr val="FFFFFF"/>
          </a:solidFill>
          <a:ln w="12700">
            <a:solidFill>
              <a:srgbClr val="E3E8E9"/>
            </a:solidFill>
            <a:prstDash val="solid"/>
          </a:ln>
        </p:spPr>
      </p:sp>
      <p:pic>
        <p:nvPicPr>
          <p:cNvPr id="9" name="Image 1" descr="Gamb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4898" y="2347976"/>
            <a:ext cx="3301898" cy="1521969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444898" y="3997960"/>
            <a:ext cx="3301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A71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GBR 3 — Halaman registrasi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8103413" y="2293112"/>
            <a:ext cx="3411626" cy="1631697"/>
          </a:xfrm>
          <a:prstGeom prst="roundRect">
            <a:avLst>
              <a:gd name="adj" fmla="val 3362"/>
            </a:avLst>
          </a:prstGeom>
          <a:solidFill>
            <a:srgbClr val="FFFFFF"/>
          </a:solidFill>
          <a:ln w="12700">
            <a:solidFill>
              <a:srgbClr val="E3E8E9"/>
            </a:solidFill>
            <a:prstDash val="solid"/>
          </a:ln>
        </p:spPr>
      </p:sp>
      <p:pic>
        <p:nvPicPr>
          <p:cNvPr id="12" name="Image 2" descr="Gamb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8277" y="2347976"/>
            <a:ext cx="3301898" cy="1521969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158277" y="3997960"/>
            <a:ext cx="3301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A71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GBR 4 — /tools: Link &amp; Note Preview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731520" y="5029200"/>
            <a:ext cx="10728655" cy="960120"/>
          </a:xfrm>
          <a:prstGeom prst="roundRect">
            <a:avLst>
              <a:gd name="adj" fmla="val 9524"/>
            </a:avLst>
          </a:prstGeom>
          <a:solidFill>
            <a:srgbClr val="EEF3F4"/>
          </a:solidFill>
          <a:ln/>
        </p:spPr>
      </p:sp>
      <p:sp>
        <p:nvSpPr>
          <p:cNvPr id="15" name="Text 10"/>
          <p:cNvSpPr/>
          <p:nvPr/>
        </p:nvSpPr>
        <p:spPr>
          <a:xfrm>
            <a:off x="1097280" y="5138928"/>
            <a:ext cx="999713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A1E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Permukaan serangan utama: /login &amp; /register (SQLi, CSRF), /search (Reflected XSS), /tools → Link Preview (SSRF) &amp; Note Preview (SSTI), /note/{id} (IDOR), /api/users (Sensitive Data Exposure).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73152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A7177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KELOMPOK 6  ·  DAST OWASP ZAP</a:t>
            </a:r>
            <a:endParaRPr lang="en-US" sz="800" dirty="0"/>
          </a:p>
        </p:txBody>
      </p:sp>
      <p:sp>
        <p:nvSpPr>
          <p:cNvPr id="17" name="Text 12"/>
          <p:cNvSpPr/>
          <p:nvPr/>
        </p:nvSpPr>
        <p:spPr>
          <a:xfrm>
            <a:off x="10545775" y="636422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12064"/>
            <a:ext cx="237744" cy="237744"/>
          </a:xfrm>
          <a:prstGeom prst="rect">
            <a:avLst/>
          </a:prstGeom>
          <a:solidFill>
            <a:srgbClr val="15B3A6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" y="493776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METODOLOGI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841248"/>
            <a:ext cx="107286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A1E24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Pendekatan Pengujian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31520" y="1783080"/>
            <a:ext cx="10728655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3E8E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1892808"/>
            <a:ext cx="822960" cy="475488"/>
          </a:xfrm>
          <a:prstGeom prst="roundRect">
            <a:avLst>
              <a:gd name="adj" fmla="val 11538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1874520"/>
            <a:ext cx="8229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E8F84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920240" y="1819656"/>
            <a:ext cx="37490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E2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Traditional Spider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760720" y="1819656"/>
            <a:ext cx="551657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1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Pemetaan struktur URL aplikasi secara otomatis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606040"/>
            <a:ext cx="10728655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3E8E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6112" y="2715768"/>
            <a:ext cx="822960" cy="475488"/>
          </a:xfrm>
          <a:prstGeom prst="roundRect">
            <a:avLst>
              <a:gd name="adj" fmla="val 11538"/>
            </a:avLst>
          </a:prstGeom>
          <a:solidFill>
            <a:srgbClr val="EEF3F4"/>
          </a:solidFill>
          <a:ln/>
        </p:spPr>
      </p:sp>
      <p:sp>
        <p:nvSpPr>
          <p:cNvPr id="12" name="Text 10"/>
          <p:cNvSpPr/>
          <p:nvPr/>
        </p:nvSpPr>
        <p:spPr>
          <a:xfrm>
            <a:off x="896112" y="2697480"/>
            <a:ext cx="8229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E8F84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920240" y="2642616"/>
            <a:ext cx="37490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E2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AJAX Spider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760720" y="2642616"/>
            <a:ext cx="551657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1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Crawling halaman yang dirender JavaScript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3429000"/>
            <a:ext cx="10728655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3E8E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96112" y="3538728"/>
            <a:ext cx="822960" cy="475488"/>
          </a:xfrm>
          <a:prstGeom prst="roundRect">
            <a:avLst>
              <a:gd name="adj" fmla="val 11538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/>
          <p:nvPr/>
        </p:nvSpPr>
        <p:spPr>
          <a:xfrm>
            <a:off x="896112" y="3520440"/>
            <a:ext cx="8229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E8F84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920240" y="3465576"/>
            <a:ext cx="37490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E2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Passive Scan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760720" y="3465576"/>
            <a:ext cx="551657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1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Analisis traffic HTTP tanpa mengirim payload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4251960"/>
            <a:ext cx="10728655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3E8E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6112" y="4361688"/>
            <a:ext cx="822960" cy="475488"/>
          </a:xfrm>
          <a:prstGeom prst="roundRect">
            <a:avLst>
              <a:gd name="adj" fmla="val 11538"/>
            </a:avLst>
          </a:prstGeom>
          <a:solidFill>
            <a:srgbClr val="EEF3F4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" y="4343400"/>
            <a:ext cx="8229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E8F84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920240" y="4288536"/>
            <a:ext cx="37490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E2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Active Scan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760720" y="4288536"/>
            <a:ext cx="551657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1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Injeksi payload serangan untuk uji kerentanan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31520" y="5074920"/>
            <a:ext cx="10728655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3E8E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96112" y="5184648"/>
            <a:ext cx="822960" cy="475488"/>
          </a:xfrm>
          <a:prstGeom prst="roundRect">
            <a:avLst>
              <a:gd name="adj" fmla="val 11538"/>
            </a:avLst>
          </a:prstGeom>
          <a:solidFill>
            <a:srgbClr val="EEF3F4"/>
          </a:solidFill>
          <a:ln/>
        </p:spPr>
      </p:sp>
      <p:sp>
        <p:nvSpPr>
          <p:cNvPr id="27" name="Text 25"/>
          <p:cNvSpPr/>
          <p:nvPr/>
        </p:nvSpPr>
        <p:spPr>
          <a:xfrm>
            <a:off x="896112" y="5166360"/>
            <a:ext cx="8229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E8F84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920240" y="5111496"/>
            <a:ext cx="37490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E2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Pengujian Manual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760720" y="5111496"/>
            <a:ext cx="551657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1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IDOR, SSTI, SSRF — verifikasi logika bisnis (Tugas E)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3152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A7177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KELOMPOK 6  ·  DAST OWASP ZAP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545775" y="636422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12064"/>
            <a:ext cx="237744" cy="237744"/>
          </a:xfrm>
          <a:prstGeom prst="rect">
            <a:avLst/>
          </a:prstGeom>
          <a:solidFill>
            <a:srgbClr val="15B3A6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" y="493776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TEMUAN — SCAN OTOMATIS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841248"/>
            <a:ext cx="107286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A1E24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Daftar Alert OWASP ZAP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76656" y="1911512"/>
            <a:ext cx="7607808" cy="3995097"/>
          </a:xfrm>
          <a:prstGeom prst="roundRect">
            <a:avLst>
              <a:gd name="adj" fmla="val 1373"/>
            </a:avLst>
          </a:prstGeom>
          <a:solidFill>
            <a:srgbClr val="FFFFFF"/>
          </a:solidFill>
          <a:ln w="12700">
            <a:solidFill>
              <a:srgbClr val="E3E8E9"/>
            </a:solidFill>
            <a:prstDash val="solid"/>
          </a:ln>
        </p:spPr>
      </p:sp>
      <p:pic>
        <p:nvPicPr>
          <p:cNvPr id="6" name="Image 0" descr="Gam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66376"/>
            <a:ext cx="7498080" cy="388536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5943184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A71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GBR 5 — Daftar alert hasil Active Scan OWASP ZAP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8595360" y="1783080"/>
            <a:ext cx="2864815" cy="3108960"/>
          </a:xfrm>
          <a:prstGeom prst="roundRect">
            <a:avLst>
              <a:gd name="adj" fmla="val 3192"/>
            </a:avLst>
          </a:prstGeom>
          <a:solidFill>
            <a:srgbClr val="EEF3F4"/>
          </a:solidFill>
          <a:ln/>
        </p:spPr>
      </p:sp>
      <p:sp>
        <p:nvSpPr>
          <p:cNvPr id="9" name="Text 6"/>
          <p:cNvSpPr/>
          <p:nvPr/>
        </p:nvSpPr>
        <p:spPr>
          <a:xfrm>
            <a:off x="8869680" y="1965960"/>
            <a:ext cx="23161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RINGKASAN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869680" y="2377440"/>
            <a:ext cx="219456" cy="219456"/>
          </a:xfrm>
          <a:prstGeom prst="roundRect">
            <a:avLst>
              <a:gd name="adj" fmla="val 25000"/>
            </a:avLst>
          </a:prstGeom>
          <a:solidFill>
            <a:srgbClr val="DB4A4A"/>
          </a:solidFill>
          <a:ln/>
        </p:spPr>
      </p:sp>
      <p:sp>
        <p:nvSpPr>
          <p:cNvPr id="11" name="Text 8"/>
          <p:cNvSpPr/>
          <p:nvPr/>
        </p:nvSpPr>
        <p:spPr>
          <a:xfrm>
            <a:off x="9198864" y="2340864"/>
            <a:ext cx="14932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E2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High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0728655" y="2304288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1A1E24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869680" y="2926080"/>
            <a:ext cx="219456" cy="219456"/>
          </a:xfrm>
          <a:prstGeom prst="roundRect">
            <a:avLst>
              <a:gd name="adj" fmla="val 25000"/>
            </a:avLst>
          </a:prstGeom>
          <a:solidFill>
            <a:srgbClr val="EC9A3C"/>
          </a:solidFill>
          <a:ln/>
        </p:spPr>
      </p:sp>
      <p:sp>
        <p:nvSpPr>
          <p:cNvPr id="14" name="Text 11"/>
          <p:cNvSpPr/>
          <p:nvPr/>
        </p:nvSpPr>
        <p:spPr>
          <a:xfrm>
            <a:off x="9198864" y="2889504"/>
            <a:ext cx="14932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E2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Medium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10728655" y="2852928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1A1E24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5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8869680" y="3474720"/>
            <a:ext cx="219456" cy="219456"/>
          </a:xfrm>
          <a:prstGeom prst="roundRect">
            <a:avLst>
              <a:gd name="adj" fmla="val 25000"/>
            </a:avLst>
          </a:prstGeom>
          <a:solidFill>
            <a:srgbClr val="CDA93C"/>
          </a:solidFill>
          <a:ln/>
        </p:spPr>
      </p:sp>
      <p:sp>
        <p:nvSpPr>
          <p:cNvPr id="17" name="Text 14"/>
          <p:cNvSpPr/>
          <p:nvPr/>
        </p:nvSpPr>
        <p:spPr>
          <a:xfrm>
            <a:off x="9198864" y="3438144"/>
            <a:ext cx="14932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E2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Low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10728655" y="3401568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1A1E24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6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869680" y="4023360"/>
            <a:ext cx="219456" cy="219456"/>
          </a:xfrm>
          <a:prstGeom prst="roundRect">
            <a:avLst>
              <a:gd name="adj" fmla="val 25000"/>
            </a:avLst>
          </a:prstGeom>
          <a:solidFill>
            <a:srgbClr val="4C8FB8"/>
          </a:solidFill>
          <a:ln/>
        </p:spPr>
      </p:sp>
      <p:sp>
        <p:nvSpPr>
          <p:cNvPr id="20" name="Text 17"/>
          <p:cNvSpPr/>
          <p:nvPr/>
        </p:nvSpPr>
        <p:spPr>
          <a:xfrm>
            <a:off x="9198864" y="3986784"/>
            <a:ext cx="14932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E2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Informational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10728655" y="3950208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1A1E24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6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8595360" y="5120640"/>
            <a:ext cx="28648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A71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Konsisten dengan laporan HTML resmi ZAP (Lampiran A).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73152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A7177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KELOMPOK 6  ·  DAST OWASP ZAP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10545775" y="636422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12064"/>
            <a:ext cx="237744" cy="237744"/>
          </a:xfrm>
          <a:prstGeom prst="rect">
            <a:avLst/>
          </a:prstGeom>
          <a:solidFill>
            <a:srgbClr val="15B3A6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" y="493776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TEMUAN — SCAN OTOMATIS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841248"/>
            <a:ext cx="107286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A1E24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Laporan Resmi OWASP ZAP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76656" y="1793993"/>
            <a:ext cx="5245456" cy="2584215"/>
          </a:xfrm>
          <a:prstGeom prst="roundRect">
            <a:avLst>
              <a:gd name="adj" fmla="val 2123"/>
            </a:avLst>
          </a:prstGeom>
          <a:solidFill>
            <a:srgbClr val="FFFFFF"/>
          </a:solidFill>
          <a:ln w="12700">
            <a:solidFill>
              <a:srgbClr val="E3E8E9"/>
            </a:solidFill>
            <a:prstDash val="solid"/>
          </a:ln>
        </p:spPr>
      </p:sp>
      <p:pic>
        <p:nvPicPr>
          <p:cNvPr id="6" name="Image 0" descr="Gam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48857"/>
            <a:ext cx="5135728" cy="24744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4433071"/>
            <a:ext cx="513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A71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GBR 6 — Ringkasan laporan HTML ZAP (High 1 · Med 5 · Low 6 · Info 6)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301355" y="1682496"/>
            <a:ext cx="5181913" cy="2807208"/>
          </a:xfrm>
          <a:prstGeom prst="roundRect">
            <a:avLst>
              <a:gd name="adj" fmla="val 1954"/>
            </a:avLst>
          </a:prstGeom>
          <a:solidFill>
            <a:srgbClr val="FFFFFF"/>
          </a:solidFill>
          <a:ln w="12700">
            <a:solidFill>
              <a:srgbClr val="E3E8E9"/>
            </a:solidFill>
            <a:prstDash val="solid"/>
          </a:ln>
        </p:spPr>
      </p:sp>
      <p:pic>
        <p:nvPicPr>
          <p:cNvPr id="9" name="Image 1" descr="Gamb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6219" y="1737360"/>
            <a:ext cx="5072185" cy="26974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544568"/>
            <a:ext cx="513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A71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GBR 7 — Detail alert High: Cross-Site Scripting (Reflected)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A71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Laporan diekspor dari OWASP ZAP (Report → Generate Report, Traditional HTML Report) dan dilampirkan sebagai file HTML pada repositori kelompok.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73152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A7177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KELOMPOK 6  ·  DAST OWASP ZAP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10545775" y="636422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12064"/>
            <a:ext cx="237744" cy="237744"/>
          </a:xfrm>
          <a:prstGeom prst="rect">
            <a:avLst/>
          </a:prstGeom>
          <a:solidFill>
            <a:srgbClr val="15B3A6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" y="493776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TEMUAN HIGH — DIKONFIRMASI ZAP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841248"/>
            <a:ext cx="107286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A1E24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Cross-Site Scripting (Reflected)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31520" y="178308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DB4A4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73936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HIGH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2377440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ENDPOINT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31520" y="259689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E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/search?q=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163824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PARAMETER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3383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E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3977640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PAYLOAD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31520" y="4206240"/>
            <a:ext cx="4572000" cy="512064"/>
          </a:xfrm>
          <a:prstGeom prst="roundRect">
            <a:avLst>
              <a:gd name="adj" fmla="val 10714"/>
            </a:avLst>
          </a:prstGeom>
          <a:solidFill>
            <a:srgbClr val="0E2A32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0" y="4334256"/>
            <a:ext cx="64008" cy="256032"/>
          </a:xfrm>
          <a:prstGeom prst="rect">
            <a:avLst/>
          </a:prstGeom>
          <a:solidFill>
            <a:srgbClr val="15B3A6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4352544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FFD9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&lt;/p&gt;&lt;script&gt;alert(1)&lt;/scRipt&gt;&lt;p&gt;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493776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E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parameter q dipantulkan tanpa encoding sehingga tag HTML/JavaScript dieksekusi di browser korban — berpotensi pencurian session, defacement, dan phishing.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705856" y="2816356"/>
            <a:ext cx="5809183" cy="1133849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12700">
            <a:solidFill>
              <a:srgbClr val="E3E8E9"/>
            </a:solidFill>
            <a:prstDash val="solid"/>
          </a:ln>
        </p:spPr>
      </p:sp>
      <p:pic>
        <p:nvPicPr>
          <p:cNvPr id="17" name="Image 0" descr="Gam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2871220"/>
            <a:ext cx="5699455" cy="1024121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5760720" y="4023356"/>
            <a:ext cx="5699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A71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GBR 8 — Input pada /search?q= ter-render sebagai HTML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3152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A7177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KELOMPOK 6  ·  DAST OWASP ZAP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0545775" y="636422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12064"/>
            <a:ext cx="237744" cy="237744"/>
          </a:xfrm>
          <a:prstGeom prst="rect">
            <a:avLst/>
          </a:prstGeom>
          <a:solidFill>
            <a:srgbClr val="15B3A6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" y="493776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TEMUAN HIGH — PENGUJIAN MANUAL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841248"/>
            <a:ext cx="107286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A1E24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SSTI &amp; IDOR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31520" y="1783080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DB4A4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73936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HIGH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783080" y="1783080"/>
            <a:ext cx="403844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E2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Server-Side Template Injection — /preview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76656" y="2339376"/>
            <a:ext cx="5199736" cy="944807"/>
          </a:xfrm>
          <a:prstGeom prst="roundRect">
            <a:avLst>
              <a:gd name="adj" fmla="val 5807"/>
            </a:avLst>
          </a:prstGeom>
          <a:solidFill>
            <a:srgbClr val="FFFFFF"/>
          </a:solidFill>
          <a:ln w="12700">
            <a:solidFill>
              <a:srgbClr val="E3E8E9"/>
            </a:solidFill>
            <a:prstDash val="solid"/>
          </a:ln>
        </p:spPr>
      </p:sp>
      <p:pic>
        <p:nvPicPr>
          <p:cNvPr id="9" name="Image 0" descr="Gam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394240"/>
            <a:ext cx="5090008" cy="83507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1520" y="3566160"/>
            <a:ext cx="509000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A71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Payload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A71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&lt;%= 7*7 %&gt;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A71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dievaluasi server menjadi 49 — berpotensi Remote Code Execution.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370168" y="1783080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DB4A4A"/>
          </a:solidFill>
          <a:ln/>
        </p:spPr>
      </p:sp>
      <p:sp>
        <p:nvSpPr>
          <p:cNvPr id="12" name="Text 9"/>
          <p:cNvSpPr/>
          <p:nvPr/>
        </p:nvSpPr>
        <p:spPr>
          <a:xfrm>
            <a:off x="6370168" y="1773936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HIGH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421728" y="1783080"/>
            <a:ext cx="403844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E2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IDOR / Broken Access Control — /note/{id}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315304" y="2304502"/>
            <a:ext cx="5199736" cy="1700355"/>
          </a:xfrm>
          <a:prstGeom prst="roundRect">
            <a:avLst>
              <a:gd name="adj" fmla="val 3227"/>
            </a:avLst>
          </a:prstGeom>
          <a:solidFill>
            <a:srgbClr val="FFFFFF"/>
          </a:solidFill>
          <a:ln w="12700">
            <a:solidFill>
              <a:srgbClr val="E3E8E9"/>
            </a:solidFill>
            <a:prstDash val="solid"/>
          </a:ln>
        </p:spPr>
      </p:sp>
      <p:pic>
        <p:nvPicPr>
          <p:cNvPr id="15" name="Image 1" descr="Gamb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0168" y="2359366"/>
            <a:ext cx="5090008" cy="159062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370168" y="4251960"/>
            <a:ext cx="509000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A71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Mengganti id membuka private note milik pengguna lain; note admin membocorkan kredensial DB &amp; AWS key.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73152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A7177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KELOMPOK 6  ·  DAST OWASP ZAP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10545775" y="636422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12064"/>
            <a:ext cx="237744" cy="237744"/>
          </a:xfrm>
          <a:prstGeom prst="rect">
            <a:avLst/>
          </a:prstGeom>
          <a:solidFill>
            <a:srgbClr val="15B3A6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" y="493776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TEMUAN HIGH — PENGUJIAN MANUAL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841248"/>
            <a:ext cx="107286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A1E24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Sensitive Data Exposure &amp; SSRF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DB4A4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28216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HIGH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783080" y="1737360"/>
            <a:ext cx="9144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E2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Sensitive Data Exposure — GET /api/users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2261464" y="2093976"/>
            <a:ext cx="7668768" cy="1527048"/>
          </a:xfrm>
          <a:prstGeom prst="roundRect">
            <a:avLst>
              <a:gd name="adj" fmla="val 3593"/>
            </a:avLst>
          </a:prstGeom>
          <a:solidFill>
            <a:srgbClr val="FFFFFF"/>
          </a:solidFill>
          <a:ln w="12700">
            <a:solidFill>
              <a:srgbClr val="E3E8E9"/>
            </a:solidFill>
            <a:prstDash val="solid"/>
          </a:ln>
        </p:spPr>
      </p:sp>
      <p:pic>
        <p:nvPicPr>
          <p:cNvPr id="9" name="Image 0" descr="Gam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6328" y="2148840"/>
            <a:ext cx="7559040" cy="1417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1520" y="365760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A71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GBR 9 — Endpoint publik membocorkan hash password &amp; api_key seluruh pengguna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31520" y="4206240"/>
            <a:ext cx="10728655" cy="1737360"/>
          </a:xfrm>
          <a:prstGeom prst="roundRect">
            <a:avLst>
              <a:gd name="adj" fmla="val 5263"/>
            </a:avLst>
          </a:prstGeom>
          <a:solidFill>
            <a:srgbClr val="EEF3F4"/>
          </a:solidFill>
          <a:ln/>
        </p:spPr>
      </p:sp>
      <p:sp>
        <p:nvSpPr>
          <p:cNvPr id="12" name="Shape 9"/>
          <p:cNvSpPr/>
          <p:nvPr/>
        </p:nvSpPr>
        <p:spPr>
          <a:xfrm>
            <a:off x="731520" y="4206240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15B3A6"/>
          </a:solidFill>
          <a:ln/>
        </p:spPr>
      </p:sp>
      <p:sp>
        <p:nvSpPr>
          <p:cNvPr id="13" name="Shape 10"/>
          <p:cNvSpPr/>
          <p:nvPr/>
        </p:nvSpPr>
        <p:spPr>
          <a:xfrm>
            <a:off x="1097280" y="4370832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DB4A4A"/>
          </a:solidFill>
          <a:ln/>
        </p:spPr>
      </p:sp>
      <p:sp>
        <p:nvSpPr>
          <p:cNvPr id="14" name="Text 11"/>
          <p:cNvSpPr/>
          <p:nvPr/>
        </p:nvSpPr>
        <p:spPr>
          <a:xfrm>
            <a:off x="1097280" y="4361688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HIGH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2148840" y="4370832"/>
            <a:ext cx="9144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E2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SSRF — Server-Side Request Forgery · GET /fetch?url=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1097280" y="4773168"/>
            <a:ext cx="999713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E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Fitur Link Preview memfetch URL arbitrer di sisi server tanpa validasi. Saat diisi alamat internal —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E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http://localhost/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E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atau metadata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E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http://169.254.169.254/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E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— server tetap memprosesnya, membuka jalan pivot ke jaringan internal.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3152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A7177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KELOMPOK 6  ·  DAST OWASP ZAP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0545775" y="636422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12064"/>
            <a:ext cx="237744" cy="237744"/>
          </a:xfrm>
          <a:prstGeom prst="rect">
            <a:avLst/>
          </a:prstGeom>
          <a:solidFill>
            <a:srgbClr val="15B3A6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" y="493776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INTEGRASI DEVSECOPS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841248"/>
            <a:ext cx="107286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A1E24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DAST Otomatis via GitHub Actions + OWASP ZAP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31520" y="1783080"/>
            <a:ext cx="2450592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3E8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020824"/>
            <a:ext cx="2450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spc="50" kern="0" dirty="0">
                <a:solidFill>
                  <a:srgbClr val="1A1E2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PUSH / SCHEDULE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2386584"/>
            <a:ext cx="2450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71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Trigger pipeline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182112" y="1965960"/>
            <a:ext cx="3087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490874" y="1783080"/>
            <a:ext cx="2450592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3E8E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90874" y="2020824"/>
            <a:ext cx="2450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spc="50" kern="0" dirty="0">
                <a:solidFill>
                  <a:srgbClr val="1A1E2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GITHUB ACTIONS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90874" y="2386584"/>
            <a:ext cx="2450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71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Runner ubuntu-latest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941466" y="1965960"/>
            <a:ext cx="3087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50229" y="1783080"/>
            <a:ext cx="2450592" cy="1097280"/>
          </a:xfrm>
          <a:prstGeom prst="roundRect">
            <a:avLst>
              <a:gd name="adj" fmla="val 8333"/>
            </a:avLst>
          </a:prstGeom>
          <a:solidFill>
            <a:srgbClr val="15B3A6"/>
          </a:solidFill>
          <a:ln w="12700">
            <a:solidFill>
              <a:srgbClr val="15B3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50229" y="2020824"/>
            <a:ext cx="2450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spc="50" kern="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OWASP ZAP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50229" y="2386584"/>
            <a:ext cx="2450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6FBF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Baseline scan ke target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700821" y="1965960"/>
            <a:ext cx="3087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009583" y="1783080"/>
            <a:ext cx="2450592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09583" y="2020824"/>
            <a:ext cx="2450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spc="50" kern="0" dirty="0">
                <a:solidFill>
                  <a:srgbClr val="1A1E2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LAPORAN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009583" y="2386584"/>
            <a:ext cx="24505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A717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Artefak HTML · MD · JSON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31520" y="324612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8F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.github/workflows/dast-zap.yml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3456432"/>
            <a:ext cx="10728655" cy="2578608"/>
          </a:xfrm>
          <a:prstGeom prst="roundRect">
            <a:avLst>
              <a:gd name="adj" fmla="val 2128"/>
            </a:avLst>
          </a:prstGeom>
          <a:solidFill>
            <a:srgbClr val="0E2A32"/>
          </a:solidFill>
          <a:ln/>
        </p:spPr>
      </p:sp>
      <p:sp>
        <p:nvSpPr>
          <p:cNvPr id="22" name="Shape 20"/>
          <p:cNvSpPr/>
          <p:nvPr/>
        </p:nvSpPr>
        <p:spPr>
          <a:xfrm>
            <a:off x="731520" y="3584448"/>
            <a:ext cx="64008" cy="2322576"/>
          </a:xfrm>
          <a:prstGeom prst="rect">
            <a:avLst/>
          </a:prstGeom>
          <a:solidFill>
            <a:srgbClr val="15B3A6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" y="3602736"/>
            <a:ext cx="10271455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8FE3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DAST - OWASP ZAP Baseline Scan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86C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on: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workflow_dispatch: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schedule: [ { cron: '0 2 * * 1' } ]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86C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jobs: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zap_baseline: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86C9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zaproxy/action-baseline@v0.12.0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FFD9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target: 'https://vulnlab.cyphera.my.id'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fail_action: false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3152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A7177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KELOMPOK 6  ·  DAST OWASP ZAP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545775" y="636422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12064"/>
            <a:ext cx="237744" cy="237744"/>
          </a:xfrm>
          <a:prstGeom prst="rect">
            <a:avLst/>
          </a:prstGeom>
          <a:solidFill>
            <a:srgbClr val="15B3A6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" y="493776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REKOMENDASI REMEDIASI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841248"/>
            <a:ext cx="107286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A1E24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Prioritas High &amp; Medium</a:t>
            </a:r>
            <a:endParaRPr lang="en-US" sz="27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83080"/>
          <a:ext cx="10728655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05840"/>
                <a:gridCol w="6522415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spc="100" kern="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KERENTANAN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E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spc="100" kern="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SEV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E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spc="100" kern="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REMEDIASI</a:t>
                      </a:r>
                      <a:endParaRPr lang="en-US" sz="10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E3B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E2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Cross-Site Scripting (XSS)</a:t>
                      </a:r>
                      <a:endParaRPr lang="en-US" sz="120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HIGH</a:t>
                      </a:r>
                      <a:endParaRPr lang="en-US" sz="9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4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E24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Output encoding kontekstual (HTML-escape) + Content-Security-Policy ketat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E2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SSTI</a:t>
                      </a:r>
                      <a:endParaRPr lang="en-US" sz="120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HIGH</a:t>
                      </a:r>
                      <a:endParaRPr lang="en-US" sz="9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4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E24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Jangan render input sebagai template; pisahkan template dari data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E2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IDOR / Broken Access Control</a:t>
                      </a:r>
                      <a:endParaRPr lang="en-US" sz="120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HIGH</a:t>
                      </a:r>
                      <a:endParaRPr lang="en-US" sz="9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4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E24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Authorization check kepemilikan objek pada setiap request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E2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Sensitive Data Exposure</a:t>
                      </a:r>
                      <a:endParaRPr lang="en-US" sz="120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HIGH</a:t>
                      </a:r>
                      <a:endParaRPr lang="en-US" sz="9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4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E24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Autentikasi endpoint; jangan kembalikan field sensitif; rotasi kredensial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E2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SSRF</a:t>
                      </a:r>
                      <a:endParaRPr lang="en-US" sz="120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HIGH</a:t>
                      </a:r>
                      <a:endParaRPr lang="en-US" sz="9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4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E24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Allow-list domain; blokir IP privat/loopback/link-local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E24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Header &amp; Cookie</a:t>
                      </a:r>
                      <a:endParaRPr lang="en-US" sz="120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Poppins SemiBold" pitchFamily="34" charset="0"/>
                          <a:ea typeface="Poppins SemiBold" pitchFamily="34" charset="-122"/>
                          <a:cs typeface="Poppins SemiBold" pitchFamily="34" charset="-120"/>
                        </a:rPr>
                        <a:t>MEDIUM</a:t>
                      </a:r>
                      <a:endParaRPr lang="en-US" sz="950" dirty="0">
                        <a:latin typeface="Poppins SemiBold" charset="0"/>
                        <a:ea typeface="Poppins SemiBold" charset="0"/>
                        <a:cs typeface="Poppins SemiBold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9A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E24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Anti-CSRF token, CSP, X-Frame-Options, nosniff, Secure/HttpOnly/SameSite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127000" marR="127000" marT="38100" marB="38100" anchor="ctr">
                    <a:lnL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3152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A7177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KELOMPOK 6  ·  DAST OWASP ZAP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545775" y="636422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2E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12064"/>
            <a:ext cx="237744" cy="237744"/>
          </a:xfrm>
          <a:prstGeom prst="rect">
            <a:avLst/>
          </a:prstGeom>
          <a:solidFill>
            <a:srgbClr val="15B3A6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" y="493776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15B3A6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KESIMPULAN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841248"/>
            <a:ext cx="107286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Intisari &amp; Pembelajaran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0332720" y="-1097280"/>
            <a:ext cx="2926080" cy="2926080"/>
          </a:xfrm>
          <a:prstGeom prst="ellipse">
            <a:avLst/>
          </a:prstGeom>
          <a:solidFill>
            <a:srgbClr val="0E8F84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28800"/>
            <a:ext cx="777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5B3A6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600200" y="184708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Scan otomatis menemukan 18 jenis alert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600200" y="22128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D4D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High (Reflected XSS), 5 Medium, 6 Low, 6 Informational.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31520" y="2724912"/>
            <a:ext cx="777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5B3A6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00200" y="2743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Pengujian manual melengkapi scanner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00200" y="3108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D4D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Empat temuan High tambahan: SSTI, IDOR, Sensitive Data Exposure, SSRF.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31520" y="3621024"/>
            <a:ext cx="777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5B3A6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600200" y="363931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Otomatis &amp; manual saling melengkapi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600200" y="400507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D4D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Active Scan untuk parameter GET; manual untuk endpoint POST &amp; logika bisnis.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31520" y="4517136"/>
            <a:ext cx="777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5B3A6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04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1600200" y="4535424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Integrasi CI/CD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00200" y="4901184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D4D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OWASP ZAP dijalankan otomatis via GitHub Actions sebagai gerbang DevSecOps.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31520" y="5623560"/>
            <a:ext cx="10607040" cy="9144"/>
          </a:xfrm>
          <a:prstGeom prst="rect">
            <a:avLst/>
          </a:prstGeom>
          <a:solidFill>
            <a:srgbClr val="2C5560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576072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FB7B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Repositori  </a:t>
            </a:r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github.com/FirmansyahDzakwanArifien/DevSecOPS · praktikum/dast-p6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8FB7B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Laporan HTML  </a:t>
            </a:r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Kelompok-6_DAST_P6/ZAP_DAST_Report_SnipVault_P6.html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3152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6A7177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KELOMPOK 6  ·  DAST OWASP ZAP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545775" y="6364224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E8F84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Laporan DAST OWASP ZAP — SnipVault</dc:title>
  <dc:subject>PptxGenJS Presentation</dc:subject>
  <dc:creator>Kelompok 6</dc:creator>
  <cp:lastModifiedBy>Kelompok 6</cp:lastModifiedBy>
  <cp:revision>1</cp:revision>
  <dcterms:created xsi:type="dcterms:W3CDTF">2026-10-21T10:17:19Z</dcterms:created>
  <dcterms:modified xsi:type="dcterms:W3CDTF">2026-10-21T10:17:19Z</dcterms:modified>
</cp:coreProperties>
</file>